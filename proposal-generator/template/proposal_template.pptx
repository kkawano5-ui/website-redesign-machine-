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6" r:id="rId16"/>
    <p:sldId id="264" r:id="rId14"/>
    <p:sldId id="267" r:id="rId17"/>
    <p:sldId id="265" r:id="rId1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B992657-CEF7-44BC-A76A-561FC5929C72}">
  <a:tblStyle styleId="{9B992657-CEF7-44BC-A76A-561FC5929C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10.xml"/><Relationship Id="rId15" Type="http://schemas.openxmlformats.org/officeDocument/2006/relationships/slide" Target="slides/slide12.xml"/><Relationship Id="rId16" Type="http://schemas.openxmlformats.org/officeDocument/2006/relationships/slide" Target="slides/slide9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1.png"/><Relationship Id="rId6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image" Target="../media/image18.png"/><Relationship Id="rId7" Type="http://schemas.openxmlformats.org/officeDocument/2006/relationships/image" Target="../media/image14.png"/><Relationship Id="rId8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9052560" y="-1645920"/>
            <a:ext cx="4754880" cy="4754880"/>
          </a:xfrm>
          <a:prstGeom prst="ellipse">
            <a:avLst/>
          </a:prstGeom>
          <a:solidFill>
            <a:srgbClr val="F4748A">
              <a:alpha val="1803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0698480" y="3840480"/>
            <a:ext cx="2743200" cy="2743200"/>
          </a:xfrm>
          <a:prstGeom prst="ellipse">
            <a:avLst/>
          </a:prstGeom>
          <a:solidFill>
            <a:srgbClr val="10987A">
              <a:alpha val="1411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48640" y="868680"/>
            <a:ext cx="182880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B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クラン株式会社 様　ご提案資料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548640" y="1920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Googleマップを、見つかるだけでなく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548640" y="2542032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7CF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「選ばれる受け皿」</a:t>
            </a:r>
            <a:r>
              <a:rPr b="1" i="0" lang="en-US" sz="40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へ。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548640" y="3520440"/>
            <a:ext cx="8778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8DBF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検索・比較されたときに「ここにお願いしたい」と思われる状態をつくる、Googleビジネスプロフィール改善・運用サービスのご提案。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54864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54864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GBP最適化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265176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265176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口コミ運用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475488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8" name="Google Shape;28;p3"/>
          <p:cNvSpPr/>
          <p:nvPr/>
        </p:nvSpPr>
        <p:spPr>
          <a:xfrm>
            <a:off x="475488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投稿代行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685800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" name="Google Shape;30;p3"/>
          <p:cNvSpPr/>
          <p:nvPr/>
        </p:nvSpPr>
        <p:spPr>
          <a:xfrm>
            <a:off x="685800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月次レポート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A9F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　|　sales@tv-hospital.com　|　2026年5月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WHAT IS MEO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MEOは、「受け皿づくり」です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Googleマップは順位を上げる場所ではなく、問い合わせの前に“判断される”場所。ユーザーは次の3点を確認しています。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4864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124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" name="Google Shape;4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26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4"/>
          <p:cNvSpPr/>
          <p:nvPr/>
        </p:nvSpPr>
        <p:spPr>
          <a:xfrm>
            <a:off x="84124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信頼できそうか？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84124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口コミ・返信・評価で「信頼できる会社か」を判断される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37388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66648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1050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/>
          <p:nvPr/>
        </p:nvSpPr>
        <p:spPr>
          <a:xfrm>
            <a:off x="466648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自分に合っていそうか？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66648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サービス内容・説明文・投稿で「自分に合うか」を見られる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06196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835456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9858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35456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今も営業している会社か？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35456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投稿日付・写真・口コミの新しさで「活動中か」を確認される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60120" y="461772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つまりMEOとは　見つかった後に「お願いしたい」と思ってもらうための受け皿づくり。広告で生まれた興味を、問い合わせに変える仕事です。</a:t>
            </a: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0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USER BEHAVIOR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ユーザーは複数社を比較してから問い合わせます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54864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149047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1" name="Google Shape;7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2214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5"/>
          <p:cNvSpPr/>
          <p:nvPr/>
        </p:nvSpPr>
        <p:spPr>
          <a:xfrm>
            <a:off x="68580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検索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68580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「鶴見 不動産売却」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「横浜 相続不動産」など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3017520" y="1554480"/>
            <a:ext cx="39624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341376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435559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7" name="Google Shape;7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8726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5"/>
          <p:cNvSpPr/>
          <p:nvPr/>
        </p:nvSpPr>
        <p:spPr>
          <a:xfrm>
            <a:off x="355092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Googleマップで比較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355092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複数社を同時に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じっくり見比べる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5882640" y="1554480"/>
            <a:ext cx="39624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627888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82" name="Google Shape;82;p5"/>
          <p:cNvSpPr/>
          <p:nvPr/>
        </p:nvSpPr>
        <p:spPr>
          <a:xfrm>
            <a:off x="722071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3" name="Google Shape;8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5238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641604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信頼を確認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641604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写真・口コミ・投稿・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サービス内容を確認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8747760" y="1554480"/>
            <a:ext cx="39624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914400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1008583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9" name="Google Shape;89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1750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5"/>
          <p:cNvSpPr/>
          <p:nvPr/>
        </p:nvSpPr>
        <p:spPr>
          <a:xfrm>
            <a:off x="928116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問い合わせ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928116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電話・ルート検索・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フォームから連絡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548640" y="352044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表示されるだけでは不十分。比較されたとき写真・口コミ・投稿・サービス内容が整っていないと、隣の競合に流れてしまいます。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548640" y="4069080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検索されるキーワード例（鶴見・横浜・川崎エリア）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548640" y="4434840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548640" y="4434840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近くの不動産会社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4236720" y="4434840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4236720" y="4434840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鶴見 不動産売却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7924800" y="4434840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99" name="Google Shape;99;p5"/>
          <p:cNvSpPr/>
          <p:nvPr/>
        </p:nvSpPr>
        <p:spPr>
          <a:xfrm>
            <a:off x="7924800" y="4434840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鶴見 マンション売却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548640" y="5001768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01" name="Google Shape;101;p5"/>
          <p:cNvSpPr/>
          <p:nvPr/>
        </p:nvSpPr>
        <p:spPr>
          <a:xfrm>
            <a:off x="548640" y="5001768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相続不動産 相談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4236720" y="5001768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4236720" y="5001768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横浜 不動産買取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7924800" y="5001768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05" name="Google Shape;105;p5"/>
          <p:cNvSpPr/>
          <p:nvPr/>
        </p:nvSpPr>
        <p:spPr>
          <a:xfrm>
            <a:off x="7924800" y="5001768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借地権 相談 横浜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DIAGNOSIS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クラン株式会社様のGoogleマップ 現状診断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基本情報・口コミは一定程度整っています。比較されたときに「選ばれる受け皿」とするための改善余地は次のとおりです。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7" name="Google Shape;117;p6"/>
          <p:cNvGraphicFramePr/>
          <p:nvPr/>
        </p:nvGraphicFramePr>
        <p:xfrm>
          <a:off x="548640" y="18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{9B992657-CEF7-44BC-A76A-561FC5929C72}</a:tableStyleId>
              </a:tblPr>
              <a:tblGrid>
                <a:gridCol w="2103125"/>
                <a:gridCol w="2011675"/>
                <a:gridCol w="1737350"/>
                <a:gridCol w="5212075"/>
              </a:tblGrid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項目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現状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評価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改善ポイント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基本情報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登録済み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整理余地あり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相談内容が伝わる形に整理。営業時間・定休日を正確に設定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サービス内容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認識できる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要強化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売却・買取・相続・リノベ・借地権・底地権を明確化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写真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掲載あり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内容を強化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相談スペース・スタッフ・接客風景・リノベ事例を追加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一定数あり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内容を強化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売却・相続・買取など相談テーマが伝わる口コミを増やす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口コミ返信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一部あり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要整備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全口コミに丁寧に返信。未来の見込み客への接客として整える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投稿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改善余地あり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要運用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月4回投稿で「活動している会社」と専門性を継続発信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競合比較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比較対象になっている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差別化余地あり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写真・口コミ・投稿・説明を整備し選ばれる状態へ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問い合わせ導線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設定済み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基本OK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電話・ルート検索への導線を確認しハードルを下げる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</a:tbl>
          </a:graphicData>
        </a:graphic>
      </p:graphicFrame>
      <p:sp>
        <p:nvSpPr>
          <p:cNvPr id="118" name="Google Shape;118;p6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7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SOLUTION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MEOで行う 6つの施策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548640" y="1463040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804672" y="1700784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0" name="Google Shape;13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4001" y="1820113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7"/>
          <p:cNvSpPr/>
          <p:nvPr/>
        </p:nvSpPr>
        <p:spPr>
          <a:xfrm>
            <a:off x="3169920" y="164592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804672" y="2304288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GBPプロフィール整備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804672" y="2633472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カテゴリ・サービス内容・説明文を最適化し、強みをGoogleに正しく伝える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4312920" y="1463040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35" name="Google Shape;135;p7"/>
          <p:cNvSpPr/>
          <p:nvPr/>
        </p:nvSpPr>
        <p:spPr>
          <a:xfrm>
            <a:off x="4568952" y="1700784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6" name="Google Shape;13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88281" y="1820113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7"/>
          <p:cNvSpPr/>
          <p:nvPr/>
        </p:nvSpPr>
        <p:spPr>
          <a:xfrm>
            <a:off x="6934200" y="164592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4568952" y="2304288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写真の追加・整理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4568952" y="2633472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外観・店内・スタッフ・事例写真で「安心できる」印象を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8077200" y="1463040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8333232" y="1700784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2" name="Google Shape;142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52561" y="1820113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698480" y="164592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8333232" y="2304288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口コミ獲得導線の設計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8333232" y="2633472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来店後・利用後にQRコード・LINEで口コミを依頼する導線を整える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48640" y="3218688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804672" y="3456432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8" name="Google Shape;148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4001" y="3575761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7"/>
          <p:cNvSpPr/>
          <p:nvPr/>
        </p:nvSpPr>
        <p:spPr>
          <a:xfrm>
            <a:off x="3169920" y="3401568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804672" y="4059936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口コミ返信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804672" y="4389120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全口コミに丁寧に返信。地域名・サービス名を含め接客として機能させる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4312920" y="3218688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4568952" y="3456432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4" name="Google Shape;154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88281" y="3575761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7"/>
          <p:cNvSpPr/>
          <p:nvPr/>
        </p:nvSpPr>
        <p:spPr>
          <a:xfrm>
            <a:off x="6934200" y="3401568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4568952" y="4059936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投稿運用（月4回）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4568952" y="4389120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サービス・季節・お客様の声などのテーマで投稿し専門性を継続発信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8077200" y="3218688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8333232" y="3456432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0" name="Google Shape;160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52561" y="3575761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/>
          <p:nvPr/>
        </p:nvSpPr>
        <p:spPr>
          <a:xfrm>
            <a:off x="10698480" y="3401568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8333232" y="4059936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情報統一・媒体チェック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8333232" y="4389120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Googleマップ・SUUMO・LIFULL・SNS等で基本情報(NAP)を統一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1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AIが日々の下ごしらえを自動で行い、公開の前に必ず人が薬機法・トーンを確認します（AIの速さ×人の目）。毎月の月次レポート＋改善提案で、受け皿の質を継続的に改善します。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8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PLANS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目的に応じて選べる 3つのプラン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548640" y="1536192"/>
            <a:ext cx="3505200" cy="3931920"/>
          </a:xfrm>
          <a:prstGeom prst="roundRect">
            <a:avLst>
              <a:gd fmla="val 365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76" name="Google Shape;176;p8"/>
          <p:cNvSpPr/>
          <p:nvPr/>
        </p:nvSpPr>
        <p:spPr>
          <a:xfrm>
            <a:off x="822960" y="1810512"/>
            <a:ext cx="1783080" cy="384048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77" name="Google Shape;177;p8"/>
          <p:cNvSpPr/>
          <p:nvPr/>
        </p:nvSpPr>
        <p:spPr>
          <a:xfrm>
            <a:off x="822960" y="1810512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情報整備プラン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822960" y="2286000"/>
            <a:ext cx="295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スタータープラン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822960" y="2706624"/>
            <a:ext cx="2956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月額 </a:t>
            </a:r>
            <a:r>
              <a:rPr b="1" i="0" lang="en-US" sz="3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10,000</a:t>
            </a: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円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822960" y="3200400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初期 30,000円　/　</a:t>
            </a:r>
            <a:r>
              <a:rPr b="1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最低1年契約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822960" y="3547872"/>
            <a:ext cx="30022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GBP初期診断・基本情報整備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カテゴリ・サービス内容の見直し（簡易）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説明文の簡易作成／写真掲載方針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口コミ依頼文・獲得導線テンプレ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月1回の簡易チェック＋簡易レポート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822960" y="5120640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Arial"/>
              <a:buNone/>
            </a:pPr>
            <a:r>
              <a:rPr b="0" i="1" lang="en-US" sz="8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投稿は文案作成まで（公開はお客様）／口コミ返信は含みません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5212080" y="1115568"/>
            <a:ext cx="1737360" cy="420624"/>
          </a:xfrm>
          <a:prstGeom prst="roundRect">
            <a:avLst>
              <a:gd fmla="val 50000" name="adj"/>
            </a:avLst>
          </a:prstGeom>
          <a:solidFill>
            <a:srgbClr val="F4748A"/>
          </a:solidFill>
          <a:ln>
            <a:noFill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5212080" y="1115568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おすすめ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4328160" y="1371600"/>
            <a:ext cx="3505200" cy="4114800"/>
          </a:xfrm>
          <a:prstGeom prst="roundRect">
            <a:avLst>
              <a:gd fmla="val 3652" name="adj"/>
            </a:avLst>
          </a:prstGeom>
          <a:solidFill>
            <a:srgbClr val="FFFFFF"/>
          </a:solidFill>
          <a:ln cap="flat" cmpd="sng" w="31750">
            <a:solidFill>
              <a:srgbClr val="F4748A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86" name="Google Shape;186;p8"/>
          <p:cNvSpPr/>
          <p:nvPr/>
        </p:nvSpPr>
        <p:spPr>
          <a:xfrm>
            <a:off x="4602480" y="1645920"/>
            <a:ext cx="1783080" cy="384048"/>
          </a:xfrm>
          <a:prstGeom prst="roundRect">
            <a:avLst>
              <a:gd fmla="val 50000" name="adj"/>
            </a:avLst>
          </a:prstGeom>
          <a:solidFill>
            <a:srgbClr val="FFE4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87" name="Google Shape;187;p8"/>
          <p:cNvSpPr/>
          <p:nvPr/>
        </p:nvSpPr>
        <p:spPr>
          <a:xfrm>
            <a:off x="4602480" y="1645920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11D48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11D48"/>
                </a:solidFill>
                <a:latin typeface="Arial"/>
                <a:ea typeface="Arial"/>
                <a:cs typeface="Arial"/>
                <a:sym typeface="Arial"/>
              </a:rPr>
              <a:t>受け皿づくりプラン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4602480" y="2121408"/>
            <a:ext cx="295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スタンダードプラン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4602480" y="2542032"/>
            <a:ext cx="2956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月額 </a:t>
            </a:r>
            <a:r>
              <a:rPr b="1" i="0" lang="en-US" sz="31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29,800</a:t>
            </a: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円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4602480" y="3035808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初期 50,000円　/　</a:t>
            </a:r>
            <a:r>
              <a:rPr b="1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最低1年契約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4602480" y="3383280"/>
            <a:ext cx="300228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スターターの全内容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月4回投稿（企画〜掲載まで代行）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口コミ返信文の作成（返信はワンタップ）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写真の選定・整理／競合の簡易チェック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月次レポート＋翌月の改善提案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8107680" y="1536192"/>
            <a:ext cx="3505200" cy="3931920"/>
          </a:xfrm>
          <a:prstGeom prst="roundRect">
            <a:avLst>
              <a:gd fmla="val 365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8382000" y="1810512"/>
            <a:ext cx="1783080" cy="384048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94" name="Google Shape;194;p8"/>
          <p:cNvSpPr/>
          <p:nvPr/>
        </p:nvSpPr>
        <p:spPr>
          <a:xfrm>
            <a:off x="8382000" y="1810512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本格伴走プラン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8382000" y="2286000"/>
            <a:ext cx="295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グロースプラン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8382000" y="2706624"/>
            <a:ext cx="2956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月額 </a:t>
            </a:r>
            <a:r>
              <a:rPr b="1" i="0" lang="en-US" sz="3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49,800</a:t>
            </a: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円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8382000" y="3200400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初期 50,000円　/　</a:t>
            </a:r>
            <a:r>
              <a:rPr b="1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最低1年契約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8382000" y="3547872"/>
            <a:ext cx="30022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スタンダードの全内容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週2回・月8回の投稿＋掲載代行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口コミ返信の代行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競合分析レポート（月1回・3社）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月次改善ミーティング・季節企画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fmla="val 16129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00" name="Google Shape;200;p8"/>
          <p:cNvSpPr/>
          <p:nvPr/>
        </p:nvSpPr>
        <p:spPr>
          <a:xfrm>
            <a:off x="960120" y="5852160"/>
            <a:ext cx="10241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全プラン最低1年契約　</a:t>
            </a:r>
            <a:r>
              <a:rPr b="0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口コミ・投稿・写真は積み上げ型のため1年で受け皿を育てます。さらに </a:t>
            </a:r>
            <a:r>
              <a:rPr b="1" i="0" lang="en-US" sz="1200" u="none" cap="none" strike="noStrike">
                <a:solidFill>
                  <a:srgbClr val="E11D48"/>
                </a:solidFill>
                <a:latin typeface="Arial"/>
                <a:ea typeface="Arial"/>
                <a:cs typeface="Arial"/>
                <a:sym typeface="Arial"/>
              </a:rPr>
              <a:t>2年契約は初期費用が無料</a:t>
            </a:r>
            <a:r>
              <a:rPr b="0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 です。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9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COMPARISON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プランによって対応範囲が変わります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1" name="Google Shape;211;p9"/>
          <p:cNvGraphicFramePr/>
          <p:nvPr/>
        </p:nvGraphicFramePr>
        <p:xfrm>
          <a:off x="548640" y="14173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{9B992657-CEF7-44BC-A76A-561FC5929C72}</a:tableStyleId>
              </a:tblPr>
              <a:tblGrid>
                <a:gridCol w="4754875"/>
                <a:gridCol w="2103125"/>
                <a:gridCol w="2103125"/>
                <a:gridCol w="2103125"/>
              </a:tblGrid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施策・対応項目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スターター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スタンダード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74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グロース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カテゴリ・サービス内容の最適化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△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説明文の作成（強み・対応領域）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△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写真追加・整理サポート（継続）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口コミ獲得導線の設計（QR・LINE）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口コミ返信文の作成・返信支援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口コミ返信代行（高度な返信文）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△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投稿（企画〜掲載まで代行）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月4回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週2・月8回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掲載媒体の情報統一（NAP）チェック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競合分析レポート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簡易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月1・3社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月次パフォーマンスレポート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簡易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月次改善MTG・季節企画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2" name="Google Shape;212;p9"/>
          <p:cNvSpPr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○ 含まれる　△ 一部対応　簡易 簡易版で対応　− 含まれない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0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0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0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RECOMMENDATION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クラン株式会社様にスタンダードをおすすめする理由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548640" y="1554480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24" name="Google Shape;224;p10"/>
          <p:cNvSpPr/>
          <p:nvPr/>
        </p:nvSpPr>
        <p:spPr>
          <a:xfrm>
            <a:off x="822960" y="1847088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0"/>
          <p:cNvSpPr/>
          <p:nvPr/>
        </p:nvSpPr>
        <p:spPr>
          <a:xfrm>
            <a:off x="822960" y="1847088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1572768" y="1865376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投稿を、丸ごとお任せできる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822960" y="2578608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「投稿する時間がない」を仕組みで解決します。企画・文案・画像選びからGoogleへの掲載まで私たちが実施。あなたは承認するだけ。忙しい月でもマップが“最近やっていない店”に見えることがありません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6217920" y="1554480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29" name="Google Shape;229;p10"/>
          <p:cNvSpPr/>
          <p:nvPr/>
        </p:nvSpPr>
        <p:spPr>
          <a:xfrm>
            <a:off x="6492240" y="1847088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0"/>
          <p:cNvSpPr/>
          <p:nvPr/>
        </p:nvSpPr>
        <p:spPr>
          <a:xfrm>
            <a:off x="6492240" y="1847088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7242048" y="1865376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強み・サービスを明確に伝える必要がある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6492240" y="2578608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売却・買取・相続・リノベ・借地権など対応領域を、月4回投稿と説明文最適化で継続的に発信します。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548640" y="3675888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822960" y="3968496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0"/>
          <p:cNvSpPr/>
          <p:nvPr/>
        </p:nvSpPr>
        <p:spPr>
          <a:xfrm>
            <a:off x="822960" y="3968496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1572768" y="3986784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投稿・口コミ・写真は継続運用が重要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822960" y="4700016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一度整備して終わりではなく、毎月積み上げることで信頼感が形成されます。だからこそ1年での運用をご提案します。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217920" y="3675888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6492240" y="3968496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0"/>
          <p:cNvSpPr/>
          <p:nvPr/>
        </p:nvSpPr>
        <p:spPr>
          <a:xfrm>
            <a:off x="6492240" y="3968496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7242048" y="3986784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数値を見ながら改善サイクルを回す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6492240" y="4700016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毎月のレポートで表示回数・電話数・口コミ数・競合との差を確認し、3ヶ月ごとに方針を振り返ります。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7" name="Google Shape;37;p4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ONBOARDING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はじめに、30〜60分の面談で「運用の方針」を一緒に決めます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運用の方針を最初に一緒に決めるので、あとはお任せいただいても、あなたの意図からズレません。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4864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124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" name="Google Shape;44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26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4"/>
          <p:cNvSpPr/>
          <p:nvPr/>
        </p:nvSpPr>
        <p:spPr>
          <a:xfrm>
            <a:off x="84124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強み・NGを共有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84124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お店の強み・NG表現・伝えたいことをヒアリング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37388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66648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050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/>
          <p:nvPr/>
        </p:nvSpPr>
        <p:spPr>
          <a:xfrm>
            <a:off x="466648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方針を一緒に確定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66648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投稿のテーマ方針、口コミへの向き合い方を確定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06196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835456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9858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35456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以後は自動で回る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35456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決めた“方針”の中で、毎月の運用が自動的に回ります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60120" y="461772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丸投げでも、あなたの意図からズレない。最初にきちんと握るから、毎月の確認は最小限で済みます。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1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1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1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EXPECTED OUTCOMES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本サービスで期待できる効果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548640" y="1463040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54" name="Google Shape;254;p11"/>
          <p:cNvSpPr/>
          <p:nvPr/>
        </p:nvSpPr>
        <p:spPr>
          <a:xfrm>
            <a:off x="804672" y="1700784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5" name="Google Shape;25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9886" y="1815998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11"/>
          <p:cNvSpPr/>
          <p:nvPr/>
        </p:nvSpPr>
        <p:spPr>
          <a:xfrm>
            <a:off x="804672" y="2304288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Googleに正しく認識される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804672" y="2670048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地域名・サービス内容・強みが正しく伝わり、関連キーワードで表示されやすい状態へ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4312920" y="1463040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4568952" y="1700784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0" name="Google Shape;26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84166" y="1815998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1"/>
          <p:cNvSpPr/>
          <p:nvPr/>
        </p:nvSpPr>
        <p:spPr>
          <a:xfrm>
            <a:off x="4568952" y="2304288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比較されたときに強みが伝わる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4568952" y="2670048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売却・買取・相続・リノベ・借地権など、専門性が比較時に一目で伝わる状態に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8077200" y="1463040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64" name="Google Shape;264;p11"/>
          <p:cNvSpPr/>
          <p:nvPr/>
        </p:nvSpPr>
        <p:spPr>
          <a:xfrm>
            <a:off x="8333232" y="1700784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5" name="Google Shape;265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48446" y="1815998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1"/>
          <p:cNvSpPr/>
          <p:nvPr/>
        </p:nvSpPr>
        <p:spPr>
          <a:xfrm>
            <a:off x="8333232" y="2304288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問い合わせ前の不安を減らす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8333232" y="2670048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写真・口コミ・返信・投稿で「安心して選べそう」と思ってもらえる状態を継続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548640" y="3447288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69" name="Google Shape;269;p11"/>
          <p:cNvSpPr/>
          <p:nvPr/>
        </p:nvSpPr>
        <p:spPr>
          <a:xfrm>
            <a:off x="804672" y="3685032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0" name="Google Shape;270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19886" y="3800246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11"/>
          <p:cNvSpPr/>
          <p:nvPr/>
        </p:nvSpPr>
        <p:spPr>
          <a:xfrm>
            <a:off x="804672" y="4288536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信頼されやすい状態をつくる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804672" y="4654296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第三者の口コミが積み重なり、新規顧客の問い合わせ前の安心材料になる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4312920" y="3447288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74" name="Google Shape;274;p11"/>
          <p:cNvSpPr/>
          <p:nvPr/>
        </p:nvSpPr>
        <p:spPr>
          <a:xfrm>
            <a:off x="4568952" y="3685032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5" name="Google Shape;275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84166" y="3800246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1"/>
          <p:cNvSpPr/>
          <p:nvPr/>
        </p:nvSpPr>
        <p:spPr>
          <a:xfrm>
            <a:off x="4568952" y="4288536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問い合わせにつながりやすく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4568952" y="4654296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電話・ルート検索・問い合わせへのアクションが起きやすい受け皿を整える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8077200" y="3447288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8333232" y="3685032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80" name="Google Shape;280;p1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48446" y="3800246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11"/>
          <p:cNvSpPr/>
          <p:nvPr/>
        </p:nvSpPr>
        <p:spPr>
          <a:xfrm>
            <a:off x="8333232" y="4288536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地域で選ばれる受け皿に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8333232" y="4654296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鶴見・横浜・川崎エリアで複数社と比較されたとき、選ばれる状態を目指す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1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※ 順位・問い合わせ数・売上等の成果を保証するものではありません。数値レポートで透明性を担保し、改善を継続します。Googleポリシー・薬機法を守る運用で、口コミ資産を守りながら育てます。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7" name="Google Shape;37;p4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OUR HONESTY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私たちが「しないこと」を、正直にお伝えします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できることだけでなく、できない・やらないことも先にお伝えします。それが、あなたの口コミ資産を守ります。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4864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124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" name="Google Shape;44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26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4"/>
          <p:cNvSpPr/>
          <p:nvPr/>
        </p:nvSpPr>
        <p:spPr>
          <a:xfrm>
            <a:off x="84124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成果は保証しません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84124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順位・問い合わせ数・売上の“保証”はしません（Googleの仕組み上、誰にもできません）。数値は毎月正直に開示します。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37388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66648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050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/>
          <p:nvPr/>
        </p:nvSpPr>
        <p:spPr>
          <a:xfrm>
            <a:off x="466648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勝手に公開しません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66648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AIが下ごしらえし、人が薬機法・表現・トーンを確認してから公開します。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06196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835456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9858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35456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サクラ・対価はしません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35456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ご希望でも、対価と引き換えの口コミは一切行いません。それが2026年のポリシー厳格化からあなたの資産を守る方法です。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60120" y="461772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「しないこと」を正直に守ることが、2026年のポリシー厳格化（違反で全口コミ削除）から、あなたの口コミ資産を守ります。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2"/>
          <p:cNvSpPr/>
          <p:nvPr/>
        </p:nvSpPr>
        <p:spPr>
          <a:xfrm>
            <a:off x="9418320" y="-1463040"/>
            <a:ext cx="4023360" cy="4023360"/>
          </a:xfrm>
          <a:prstGeom prst="ellipse">
            <a:avLst/>
          </a:prstGeom>
          <a:solidFill>
            <a:srgbClr val="F4748A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2"/>
          <p:cNvSpPr/>
          <p:nvPr/>
        </p:nvSpPr>
        <p:spPr>
          <a:xfrm>
            <a:off x="-914400" y="4754880"/>
            <a:ext cx="2743200" cy="2743200"/>
          </a:xfrm>
          <a:prstGeom prst="ellipse">
            <a:avLst/>
          </a:prstGeom>
          <a:solidFill>
            <a:srgbClr val="10987A">
              <a:alpha val="1215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2"/>
          <p:cNvSpPr/>
          <p:nvPr/>
        </p:nvSpPr>
        <p:spPr>
          <a:xfrm>
            <a:off x="548640" y="54864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2"/>
          <p:cNvSpPr/>
          <p:nvPr/>
        </p:nvSpPr>
        <p:spPr>
          <a:xfrm>
            <a:off x="841248" y="47548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7C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NEXT STEPS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2"/>
          <p:cNvSpPr/>
          <p:nvPr/>
        </p:nvSpPr>
        <p:spPr>
          <a:xfrm>
            <a:off x="548640" y="786384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次の進め方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2"/>
          <p:cNvSpPr/>
          <p:nvPr/>
        </p:nvSpPr>
        <p:spPr>
          <a:xfrm>
            <a:off x="548640" y="1389888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DBF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現状診断は完了しています。今日から動けます。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2"/>
          <p:cNvSpPr/>
          <p:nvPr/>
        </p:nvSpPr>
        <p:spPr>
          <a:xfrm>
            <a:off x="548640" y="192024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297" name="Google Shape;297;p12"/>
          <p:cNvSpPr/>
          <p:nvPr/>
        </p:nvSpPr>
        <p:spPr>
          <a:xfrm>
            <a:off x="777240" y="219456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2"/>
          <p:cNvSpPr/>
          <p:nvPr/>
        </p:nvSpPr>
        <p:spPr>
          <a:xfrm>
            <a:off x="777240" y="219456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2"/>
          <p:cNvSpPr/>
          <p:nvPr/>
        </p:nvSpPr>
        <p:spPr>
          <a:xfrm>
            <a:off x="1417320" y="192024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本提案内容の確認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2"/>
          <p:cNvSpPr/>
          <p:nvPr/>
        </p:nvSpPr>
        <p:spPr>
          <a:xfrm>
            <a:off x="4312920" y="192024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1" name="Google Shape;301;p12"/>
          <p:cNvSpPr/>
          <p:nvPr/>
        </p:nvSpPr>
        <p:spPr>
          <a:xfrm>
            <a:off x="4541520" y="219456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2"/>
          <p:cNvSpPr/>
          <p:nvPr/>
        </p:nvSpPr>
        <p:spPr>
          <a:xfrm>
            <a:off x="4541520" y="219456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2"/>
          <p:cNvSpPr/>
          <p:nvPr/>
        </p:nvSpPr>
        <p:spPr>
          <a:xfrm>
            <a:off x="5181600" y="192024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スタンダードで実施を決定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2"/>
          <p:cNvSpPr/>
          <p:nvPr/>
        </p:nvSpPr>
        <p:spPr>
          <a:xfrm>
            <a:off x="8077200" y="192024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5" name="Google Shape;305;p12"/>
          <p:cNvSpPr/>
          <p:nvPr/>
        </p:nvSpPr>
        <p:spPr>
          <a:xfrm>
            <a:off x="8305800" y="219456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2"/>
          <p:cNvSpPr/>
          <p:nvPr/>
        </p:nvSpPr>
        <p:spPr>
          <a:xfrm>
            <a:off x="8305800" y="219456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8945880" y="192024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GBPの権限共有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548640" y="315468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09" name="Google Shape;309;p12"/>
          <p:cNvSpPr/>
          <p:nvPr/>
        </p:nvSpPr>
        <p:spPr>
          <a:xfrm>
            <a:off x="777240" y="342900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2"/>
          <p:cNvSpPr/>
          <p:nvPr/>
        </p:nvSpPr>
        <p:spPr>
          <a:xfrm>
            <a:off x="777240" y="342900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1417320" y="315468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情報・写真素材の共有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4312920" y="315468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13" name="Google Shape;313;p12"/>
          <p:cNvSpPr/>
          <p:nvPr/>
        </p:nvSpPr>
        <p:spPr>
          <a:xfrm>
            <a:off x="4541520" y="342900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2"/>
          <p:cNvSpPr/>
          <p:nvPr/>
        </p:nvSpPr>
        <p:spPr>
          <a:xfrm>
            <a:off x="4541520" y="342900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5181600" y="315468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初期整備の開始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2"/>
          <p:cNvSpPr/>
          <p:nvPr/>
        </p:nvSpPr>
        <p:spPr>
          <a:xfrm>
            <a:off x="8077200" y="315468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17" name="Google Shape;317;p12"/>
          <p:cNvSpPr/>
          <p:nvPr/>
        </p:nvSpPr>
        <p:spPr>
          <a:xfrm>
            <a:off x="8305800" y="342900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2"/>
          <p:cNvSpPr/>
          <p:nvPr/>
        </p:nvSpPr>
        <p:spPr>
          <a:xfrm>
            <a:off x="8305800" y="342900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8945880" y="315468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1年間の月次運用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/>
          <p:nvPr/>
        </p:nvSpPr>
        <p:spPr>
          <a:xfrm>
            <a:off x="548640" y="544068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321" name="Google Shape;321;p12"/>
          <p:cNvSpPr/>
          <p:nvPr/>
        </p:nvSpPr>
        <p:spPr>
          <a:xfrm>
            <a:off x="960120" y="544068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まずはスタンダードプランで、Googleマップ上の見え方・信頼感・問い合わせ導線を1年かけて整えることをご提案します。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