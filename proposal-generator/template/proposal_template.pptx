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6" r:id="rId16"/>
    <p:sldId id="264" r:id="rId14"/>
    <p:sldId id="267" r:id="rId17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992657-CEF7-44BC-A76A-561FC5929C72}">
  <a:tblStyle styleId="{9B992657-CEF7-44BC-A76A-561FC5929C7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A5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052560" y="-1645920"/>
            <a:ext cx="4754880" cy="4754880"/>
          </a:xfrm>
          <a:prstGeom prst="ellipse">
            <a:avLst/>
          </a:prstGeom>
          <a:solidFill>
            <a:srgbClr val="F4748A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698480" y="3840480"/>
            <a:ext cx="2743200" cy="2743200"/>
          </a:xfrm>
          <a:prstGeom prst="ellipse">
            <a:avLst/>
          </a:prstGeom>
          <a:solidFill>
            <a:srgbClr val="10987A">
              <a:alpha val="1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868680"/>
            <a:ext cx="182880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7CBFF"/>
                </a:solidFill>
                <a:latin typeface="Arial"/>
                <a:ea typeface="Arial"/>
                <a:cs typeface="Arial"/>
                <a:sym typeface="Arial"/>
              </a:rPr>
              <a:t>クラン株式会社 様　ご提案資料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920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Googleマップを、見つかるだけでなく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542032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7C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C7CF"/>
                </a:solidFill>
                <a:latin typeface="Arial"/>
                <a:ea typeface="Arial"/>
                <a:cs typeface="Arial"/>
                <a:sym typeface="Arial"/>
              </a:rPr>
              <a:t>「選ばれる受け皿」</a:t>
            </a: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へ。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520440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B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8DBFF"/>
                </a:solidFill>
                <a:latin typeface="Arial"/>
                <a:ea typeface="Arial"/>
                <a:cs typeface="Arial"/>
                <a:sym typeface="Arial"/>
              </a:rPr>
              <a:t>検索・比較されたときに「この会社に相談したい」と思われる状態をつくる、Googleビジネスプロフィール改善・運用サービスのご提案。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4434840"/>
            <a:ext cx="1920240" cy="47548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443484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GBP最適化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651760" y="4434840"/>
            <a:ext cx="1920240" cy="47548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651760" y="443484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口コミ運用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754880" y="4434840"/>
            <a:ext cx="1920240" cy="47548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754880" y="443484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投稿代行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858000" y="4434840"/>
            <a:ext cx="1920240" cy="475488"/>
          </a:xfrm>
          <a:prstGeom prst="roundRect">
            <a:avLst>
              <a:gd fmla="val 50000" name="adj"/>
            </a:avLst>
          </a:prstGeom>
          <a:solidFill>
            <a:srgbClr val="FFFFFF">
              <a:alpha val="1215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858000" y="443484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月次レポート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9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7A9F0"/>
                </a:solidFill>
                <a:latin typeface="Arial"/>
                <a:ea typeface="Arial"/>
                <a:cs typeface="Arial"/>
                <a:sym typeface="Arial"/>
              </a:rPr>
              <a:t>株式会社みらい編集　|　sales@tv-hospital.com　|　2026年5月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WHAT IS MEO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MEOは、「受け皿づくり」です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Googleマップは順位を上げる場所ではなく、問い合わせの前に“判断される”場所。ユーザーは次の3点を確認しています。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124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26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84124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信頼できそうか？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4124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口コミ・返信・評価で「信頼できる会社か」を判断される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37388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6648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50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466648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相談に対応してくれそうか？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66648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サービス内容・説明文・投稿で「自分の相談に合うか」を見られる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06196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35456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858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35456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今も営業している会社か？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35456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投稿日付・写真・口コミの新しさで「活動中か」を確認される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60120" y="461772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つまりMEOとは　</a:t>
            </a: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見つかった後に「相談したい」と思ってもらうための受け皿づくり</a:t>
            </a:r>
            <a:r>
              <a:rPr b="0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。広告で生まれた興味を、問い合わせに変える仕事です。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USER BEHAVIOR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ユーザーは複数社を比較してから問い合わせます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8640" y="1554480"/>
            <a:ext cx="24688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490472" y="1755648"/>
            <a:ext cx="585216" cy="585216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146" y="1887322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685800" y="239572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検索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85800" y="2743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「鶴見 不動産売却」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「横浜 相続不動産」など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017520" y="1554480"/>
            <a:ext cx="39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413760" y="1554480"/>
            <a:ext cx="24688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355592" y="1755648"/>
            <a:ext cx="585216" cy="585216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7266" y="1887322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3550920" y="239572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Googleマップで比較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550920" y="2743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複数社を同時に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じっくり見比べる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882640" y="1554480"/>
            <a:ext cx="39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278880" y="1554480"/>
            <a:ext cx="24688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220712" y="1755648"/>
            <a:ext cx="585216" cy="585216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2386" y="1887322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6416040" y="239572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信頼を確認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16040" y="2743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写真・口コミ・投稿・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サービス内容を確認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747760" y="1554480"/>
            <a:ext cx="3962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9144000" y="1554480"/>
            <a:ext cx="24688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0085832" y="1755648"/>
            <a:ext cx="585216" cy="585216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7506" y="1887322"/>
            <a:ext cx="321869" cy="32186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9281160" y="2395728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問い合わせ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281160" y="2743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電話・ルート検索・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フォームから連絡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表示されるだけでは不十分。比較されたとき写真・口コミ・投稿・サービス内容が整っていないと、隣の競合に流れてしまいます。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検索されるキーワード例（鶴見・横浜・川崎エリア）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4434840"/>
            <a:ext cx="3459480" cy="457200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48640" y="4434840"/>
            <a:ext cx="3459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近くの不動産会社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236720" y="4434840"/>
            <a:ext cx="3459480" cy="457200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236720" y="4434840"/>
            <a:ext cx="3459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鶴見 不動産売却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924800" y="4434840"/>
            <a:ext cx="3459480" cy="457200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7924800" y="4434840"/>
            <a:ext cx="3459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鶴見 マンション売却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8640" y="5001768"/>
            <a:ext cx="3459480" cy="457200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48640" y="5001768"/>
            <a:ext cx="3459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相続不動産 相談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236720" y="5001768"/>
            <a:ext cx="3459480" cy="457200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236720" y="5001768"/>
            <a:ext cx="3459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横浜 不動産買取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924800" y="5001768"/>
            <a:ext cx="3459480" cy="457200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924800" y="5001768"/>
            <a:ext cx="3459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借地権 相談 横浜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クラン株式会社様のGoogleマップ 現状診断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基本情報・口コミは一定程度整っています。比較されたときに「選ばれる受け皿」とするための改善余地は次のとおりです。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6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{9B992657-CEF7-44BC-A76A-561FC5929C72}</a:tableStyleId>
              </a:tblPr>
              <a:tblGrid>
                <a:gridCol w="2103125"/>
                <a:gridCol w="2011675"/>
                <a:gridCol w="1737350"/>
                <a:gridCol w="52120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現状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評価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改善ポイント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基本情報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登録済み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整理余地あり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相談内容が伝わる形に整理。営業時間・定休日を正確に設定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サービス内容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認識できる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要強化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売却・買取・相続・リノベ・借地権・底地権を明確化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写真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掲載あり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内容を強化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相談スペース・スタッフ・接客風景・リノベ事例を追加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口コミ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一定数あり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内容を強化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売却・相続・買取など相談テーマが伝わる口コミを増やす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口コミ返信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一部あり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要整備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全口コミに丁寧に返信。未来の見込み客への接客として整える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投稿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改善余地あり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要運用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月4回投稿で「活動している会社」と専門性を継続発信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競合比較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比較対象になっている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差別化余地あり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写真・口コミ・投稿・説明を整備し選ばれる状態へ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問い合わせ導線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設定済み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基本OK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電話・ルート検索への導線を確認しハードルを下げる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6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MEOで行う 6つの施策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48640" y="1463040"/>
            <a:ext cx="353568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804672" y="1700784"/>
            <a:ext cx="530352" cy="530352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001" y="1820113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3169920" y="16459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D9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D9F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804672" y="2304288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GBPプロフィール整備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04672" y="2633472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カテゴリ・サービス内容・説明文を最適化し、強みをGoogleに正しく伝える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312920" y="1463040"/>
            <a:ext cx="353568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68952" y="1700784"/>
            <a:ext cx="530352" cy="530352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281" y="1820113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6934200" y="16459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D9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D9F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68952" y="2304288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写真の追加・整理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68952" y="2633472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外観・相談スペース・スタッフ・リノベ事例で「相談して大丈夫」な印象を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077200" y="1463040"/>
            <a:ext cx="353568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333232" y="1700784"/>
            <a:ext cx="530352" cy="530352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2561" y="1820113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10698480" y="16459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D9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D9F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333232" y="2304288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口コミ獲得導線の設計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333232" y="2633472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相談後・契約後にQRコード・LINEで口コミを依頼する導線を整える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3218688"/>
            <a:ext cx="353568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04672" y="3456432"/>
            <a:ext cx="530352" cy="530352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001" y="357576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3169920" y="3401568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D9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D9F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04672" y="4059936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口コミ返信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04672" y="4389120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全口コミに丁寧に返信。地域名・サービス名を含め接客として機能させる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312920" y="3218688"/>
            <a:ext cx="353568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568952" y="3456432"/>
            <a:ext cx="530352" cy="530352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8281" y="357576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6934200" y="3401568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D9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D9F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68952" y="4059936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投稿運用（月4回）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68952" y="4389120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売却・買取・相続・借地権などのテーマで投稿し専門性を継続発信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077200" y="3218688"/>
            <a:ext cx="3535680" cy="155448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333232" y="3456432"/>
            <a:ext cx="530352" cy="530352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2561" y="3575761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10698480" y="3401568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7D9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D9F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333232" y="4059936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情報統一・媒体チェック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333232" y="4389120"/>
            <a:ext cx="307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Googleマップ・SUUMO・LIFULL・SNS等で基本情報(NAP)を統一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AIが日々の下ごしらえを自動で行い、公開の前に必ず人が薬機法・トーンを確認します（AIの速さ×人の目）。毎月の月次レポート＋改善提案で、受け皿の質を継続的に改善します。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PLANS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目的に応じて選べる 3つのプラン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48640" y="1536192"/>
            <a:ext cx="3505200" cy="3931920"/>
          </a:xfrm>
          <a:prstGeom prst="roundRect">
            <a:avLst>
              <a:gd fmla="val 365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22960" y="1810512"/>
            <a:ext cx="1783080" cy="384048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822960" y="181051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情報整備プラン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22960" y="2286000"/>
            <a:ext cx="295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スタータープラン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22960" y="2706624"/>
            <a:ext cx="2956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月額 </a:t>
            </a:r>
            <a:r>
              <a:rPr b="1" i="0" lang="en-US" sz="31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10,000</a:t>
            </a: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22960" y="3200400"/>
            <a:ext cx="295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初期 30,000円　/　</a:t>
            </a:r>
            <a:r>
              <a:rPr b="1" i="0" lang="en-US" sz="10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最低1年契約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22960" y="3547872"/>
            <a:ext cx="3002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GBP初期診断・基本情報整備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カテゴリ・サービス内容の見直し（簡易）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説明文の簡易作成／写真掲載方針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口コミ依頼文・獲得導線テンプレ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月1回の簡易チェック＋簡易レポート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22960" y="5120640"/>
            <a:ext cx="295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投稿は文案作成まで（公開はお客様）／口コミ返信は含みません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212080" y="1115568"/>
            <a:ext cx="1737360" cy="420624"/>
          </a:xfrm>
          <a:prstGeom prst="roundRect">
            <a:avLst>
              <a:gd fmla="val 50000" name="adj"/>
            </a:avLst>
          </a:prstGeom>
          <a:solidFill>
            <a:srgbClr val="F4748A"/>
          </a:solidFill>
          <a:ln>
            <a:noFill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212080" y="111556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おすすめ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328160" y="1371600"/>
            <a:ext cx="3505200" cy="4114800"/>
          </a:xfrm>
          <a:prstGeom prst="roundRect">
            <a:avLst>
              <a:gd fmla="val 3652" name="adj"/>
            </a:avLst>
          </a:prstGeom>
          <a:solidFill>
            <a:srgbClr val="FFFFFF"/>
          </a:solidFill>
          <a:ln cap="flat" cmpd="sng" w="31750">
            <a:solidFill>
              <a:srgbClr val="F4748A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602480" y="1645920"/>
            <a:ext cx="1783080" cy="384048"/>
          </a:xfrm>
          <a:prstGeom prst="roundRect">
            <a:avLst>
              <a:gd fmla="val 50000" name="adj"/>
            </a:avLst>
          </a:prstGeom>
          <a:solidFill>
            <a:srgbClr val="FFE4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602480" y="164592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受け皿づくりプラン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02480" y="2121408"/>
            <a:ext cx="295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スタンダードプラン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02480" y="2542032"/>
            <a:ext cx="2956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月額 </a:t>
            </a:r>
            <a:r>
              <a:rPr b="1" i="0" lang="en-US" sz="31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29,800</a:t>
            </a: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602480" y="3035808"/>
            <a:ext cx="295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初期 50,000円　/　</a:t>
            </a:r>
            <a:r>
              <a:rPr b="1" i="0" lang="en-US" sz="10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最低1年契約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602480" y="3383280"/>
            <a:ext cx="30022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スターターの全内容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月4回投稿（企画〜掲載まで代行）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口コミ返信文の作成（返信はワンタップ）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写真の選定・整理／競合の簡易チェック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月次レポート＋翌月の改善提案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107680" y="1536192"/>
            <a:ext cx="3505200" cy="3931920"/>
          </a:xfrm>
          <a:prstGeom prst="roundRect">
            <a:avLst>
              <a:gd fmla="val 3652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382000" y="1810512"/>
            <a:ext cx="1783080" cy="384048"/>
          </a:xfrm>
          <a:prstGeom prst="roundRect">
            <a:avLst>
              <a:gd fmla="val 5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382000" y="1810512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本格伴走プラン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382000" y="2286000"/>
            <a:ext cx="2956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グロースプラン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382000" y="2706624"/>
            <a:ext cx="2956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月額 </a:t>
            </a:r>
            <a:r>
              <a:rPr b="1" i="0" lang="en-US" sz="31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49,800</a:t>
            </a: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382000" y="3200400"/>
            <a:ext cx="295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初期 50,000円　/　</a:t>
            </a:r>
            <a:r>
              <a:rPr b="1" i="0" lang="en-US" sz="10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最低1年契約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8382000" y="3547872"/>
            <a:ext cx="3002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スタンダードの全内容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週2回・月8回の投稿＋掲載代行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口コミ返信の代行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競合分析レポート（月1回・3社）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098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987A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-US" sz="10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月次改善ミーティング・季節企画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fmla="val 16129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960120" y="585216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全プラン最低1年契約　</a:t>
            </a:r>
            <a:r>
              <a:rPr b="0" i="0" lang="en-US" sz="12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口コミ・投稿・写真は積み上げ型のため1年で受け皿を育てます。さらに </a:t>
            </a:r>
            <a:r>
              <a:rPr b="1" i="0" lang="en-US" sz="120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2年契約は初期費用が無料</a:t>
            </a:r>
            <a:r>
              <a:rPr b="0" i="0" lang="en-US" sz="12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 です。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プランによって対応範囲が変わります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9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{9B992657-CEF7-44BC-A76A-561FC5929C72}</a:tableStyleId>
              </a:tblPr>
              <a:tblGrid>
                <a:gridCol w="4754875"/>
                <a:gridCol w="2103125"/>
                <a:gridCol w="2103125"/>
                <a:gridCol w="2103125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施策・対応項目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スターター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スタンダード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74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グロース</a:t>
                      </a:r>
                      <a:endParaRPr sz="11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E4BA0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カテゴリ・サービス内容の最適化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説明文の作成（強み・対応領域）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写真追加・整理サポート（継続）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口コミ獲得導線の設計（QR・LINE）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口コミ返信文の作成・返信支援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口コミ返信代行（高度な返信文）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△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投稿（企画〜掲載まで代行）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月4回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週2・月8回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掲載媒体の情報統一（NAP）チェック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競合分析レポート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簡易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月1・3社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月次パフォーマンスレポート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4BA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E4BA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簡易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8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022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2022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月次改善MTG・季節企画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C6E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2C6E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D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987A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0987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9"/>
          <p:cNvSpPr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○ 含まれる　△ 一部対応　簡易 簡易版で対応　− 含まれない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クラン株式会社様にスタンダードをおすすめする理由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48640" y="1554480"/>
            <a:ext cx="5394960" cy="1901952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22960" y="1847088"/>
            <a:ext cx="603504" cy="603504"/>
          </a:xfrm>
          <a:prstGeom prst="roundRect">
            <a:avLst>
              <a:gd fmla="val 27273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822960" y="184708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572768" y="1865376"/>
            <a:ext cx="409651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投稿を、丸ごとお任せできる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22960" y="2578608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「投稿する時間がない」を仕組みで解決します。企画・文案・画像選びからGoogleへの掲載まで私たちが実施。あなたは承認するだけ。忙しい月でもマップが“最近やっていない店”に見えることがありません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217920" y="1554480"/>
            <a:ext cx="5394960" cy="1901952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492240" y="1847088"/>
            <a:ext cx="603504" cy="603504"/>
          </a:xfrm>
          <a:prstGeom prst="roundRect">
            <a:avLst>
              <a:gd fmla="val 27273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492240" y="184708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242048" y="1865376"/>
            <a:ext cx="409651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相談テーマを明確に伝える必要がある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492240" y="2578608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売却・買取・相続・リノベ・借地権など対応領域を、月4回投稿と説明文最適化で継続的に発信します。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48640" y="3675888"/>
            <a:ext cx="5394960" cy="1901952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822960" y="3968496"/>
            <a:ext cx="603504" cy="603504"/>
          </a:xfrm>
          <a:prstGeom prst="roundRect">
            <a:avLst>
              <a:gd fmla="val 27273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822960" y="396849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572768" y="3986784"/>
            <a:ext cx="409651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投稿・口コミ・写真は継続運用が重要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822960" y="4700016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一度整備して終わりではなく、毎月積み上げることで信頼感が形成されます。だからこそ1年での運用をご提案します。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17920" y="3675888"/>
            <a:ext cx="5394960" cy="1901952"/>
          </a:xfrm>
          <a:prstGeom prst="roundRect">
            <a:avLst>
              <a:gd fmla="val 5769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492240" y="3968496"/>
            <a:ext cx="603504" cy="603504"/>
          </a:xfrm>
          <a:prstGeom prst="roundRect">
            <a:avLst>
              <a:gd fmla="val 27273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492240" y="3968496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7242048" y="3986784"/>
            <a:ext cx="409651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数値を見ながら改善サイクルを回す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492240" y="4700016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毎月のレポートで表示回数・電話数・口コミ数・競合との差を確認し、3ヶ月ごとに方針を振り返ります。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本サービスで期待できる効果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48640" y="1463040"/>
            <a:ext cx="35356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804672" y="1700784"/>
            <a:ext cx="512064" cy="512064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886" y="18159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804672" y="2304288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Googleに正しく認識される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04672" y="2670048"/>
            <a:ext cx="307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地域名・相談内容・サービス内容が正しく伝わり、関連キーワードで表示されやすい状態へ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312920" y="1463040"/>
            <a:ext cx="35356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568952" y="1700784"/>
            <a:ext cx="512064" cy="512064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4166" y="18159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4568952" y="2304288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比較されたときに強みが伝わる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568952" y="2670048"/>
            <a:ext cx="307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売却・買取・相続・リノベ・借地権など、専門性が比較時に一目で伝わる状態に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8077200" y="1463040"/>
            <a:ext cx="35356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8333232" y="1700784"/>
            <a:ext cx="512064" cy="512064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8446" y="1815998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8333232" y="2304288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問い合わせ前の不安を減らす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8333232" y="2670048"/>
            <a:ext cx="307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写真・口コミ・返信・投稿で「相談して大丈夫そう」と思ってもらえる状態を継続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48640" y="3447288"/>
            <a:ext cx="35356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804672" y="3685032"/>
            <a:ext cx="512064" cy="512064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9886" y="380024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804672" y="4288536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信頼されやすい状態をつくる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804672" y="4654296"/>
            <a:ext cx="307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第三者の口コミが積み重なり、新規顧客の問い合わせ前の安心材料になる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312920" y="3447288"/>
            <a:ext cx="35356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568952" y="3685032"/>
            <a:ext cx="512064" cy="512064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4166" y="380024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/>
          <p:nvPr/>
        </p:nvSpPr>
        <p:spPr>
          <a:xfrm>
            <a:off x="4568952" y="4288536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問い合わせにつながりやすく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68952" y="4654296"/>
            <a:ext cx="307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電話・ルート検索・問い合わせへのアクションが起きやすい受け皿を整える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8077200" y="3447288"/>
            <a:ext cx="3535680" cy="178308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8333232" y="3685032"/>
            <a:ext cx="512064" cy="512064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8446" y="3800246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8333232" y="4288536"/>
            <a:ext cx="307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地域で選ばれる受け皿に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8333232" y="4654296"/>
            <a:ext cx="307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鶴見・横浜・川崎エリアで複数社と比較されたとき、選ばれる状態を目指す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※ 順位・問い合わせ数・売上等の成果を保証するものではありません。数値レポートで透明性を担保し、改善を継続します。Googleポリシー・薬機法を守る運用で、口コミ資産を守りながら育てます。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A55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/>
          <p:nvPr/>
        </p:nvSpPr>
        <p:spPr>
          <a:xfrm>
            <a:off x="9418320" y="-1463040"/>
            <a:ext cx="4023360" cy="4023360"/>
          </a:xfrm>
          <a:prstGeom prst="ellipse">
            <a:avLst/>
          </a:prstGeom>
          <a:solidFill>
            <a:srgbClr val="F4748A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10987A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548640" y="54864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841248" y="47548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7C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C7C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548640" y="786384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次の進め方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48640" y="1389888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B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8DBFF"/>
                </a:solidFill>
                <a:latin typeface="Arial"/>
                <a:ea typeface="Arial"/>
                <a:cs typeface="Arial"/>
                <a:sym typeface="Arial"/>
              </a:rPr>
              <a:t>現状診断は完了しています。今日から動けます。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48640" y="1920240"/>
            <a:ext cx="3535680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777240" y="2194560"/>
            <a:ext cx="512064" cy="512064"/>
          </a:xfrm>
          <a:prstGeom prst="roundRect">
            <a:avLst>
              <a:gd fmla="val 26786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777240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417320" y="1920240"/>
            <a:ext cx="2529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本提案内容の確認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312920" y="1920240"/>
            <a:ext cx="3535680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4541520" y="2194560"/>
            <a:ext cx="512064" cy="512064"/>
          </a:xfrm>
          <a:prstGeom prst="roundRect">
            <a:avLst>
              <a:gd fmla="val 26786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4541520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181600" y="1920240"/>
            <a:ext cx="2529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スタンダードで実施を決定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8077200" y="1920240"/>
            <a:ext cx="3535680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8305800" y="2194560"/>
            <a:ext cx="512064" cy="512064"/>
          </a:xfrm>
          <a:prstGeom prst="roundRect">
            <a:avLst>
              <a:gd fmla="val 26786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8305800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945880" y="1920240"/>
            <a:ext cx="2529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GBPの権限共有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48640" y="3154680"/>
            <a:ext cx="3535680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777240" y="3429000"/>
            <a:ext cx="512064" cy="512064"/>
          </a:xfrm>
          <a:prstGeom prst="roundRect">
            <a:avLst>
              <a:gd fmla="val 26786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777240" y="3429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417320" y="3154680"/>
            <a:ext cx="2529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情報・写真素材の共有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312920" y="3154680"/>
            <a:ext cx="3535680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4541520" y="3429000"/>
            <a:ext cx="512064" cy="512064"/>
          </a:xfrm>
          <a:prstGeom prst="roundRect">
            <a:avLst>
              <a:gd fmla="val 26786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4541520" y="3429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181600" y="3154680"/>
            <a:ext cx="2529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初期整備の開始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077200" y="3154680"/>
            <a:ext cx="3535680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8E8B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8305800" y="3429000"/>
            <a:ext cx="512064" cy="512064"/>
          </a:xfrm>
          <a:prstGeom prst="roundRect">
            <a:avLst>
              <a:gd fmla="val 26786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8305800" y="3429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8945880" y="3154680"/>
            <a:ext cx="25298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1年間の月次運用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960120" y="544068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まずはスタンダードプランで、Googleマップ上の見え方・信頼感・問い合わせ導線を1年かけて整えることをご提案します。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/>
      <p:sp>
        <p:nvSpPr>
          <p:cNvPr id="37" name="Google Shape;37;p4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ONBOARDING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はじめに、30〜60分の面談で「運用の方針」を一緒に決めます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運用の方針を最初に一緒に決めるので、あとはお任せいただいても、あなたの意図からズレません。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124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26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84124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強み・NGを共有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4124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お店の強み・NG表現・伝えたいことをヒアリング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37388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6648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50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466648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方針を一緒に確定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66648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投稿のテーマ方針、口コミへの向き合い方を確定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06196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35456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858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35456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以後は自動で回る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35456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決めた“方針”の中で、毎月の運用が自動的に回ります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60120" y="461772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丸投げでも、あなたの意図からズレない。最初にきちんと握るから、毎月の確認は最小限で済みます。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/>
      <p:sp>
        <p:nvSpPr>
          <p:cNvPr id="37" name="Google Shape;37;p4"/>
          <p:cNvSpPr/>
          <p:nvPr/>
        </p:nvSpPr>
        <p:spPr>
          <a:xfrm>
            <a:off x="10149840" y="-1188720"/>
            <a:ext cx="2926080" cy="2926080"/>
          </a:xfrm>
          <a:prstGeom prst="ellipse">
            <a:avLst/>
          </a:prstGeom>
          <a:solidFill>
            <a:srgbClr val="3E4BA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411480"/>
            <a:ext cx="182880" cy="182880"/>
          </a:xfrm>
          <a:prstGeom prst="roundRect">
            <a:avLst>
              <a:gd fmla="val 25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41248" y="329184"/>
            <a:ext cx="107716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48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4748A"/>
                </a:solidFill>
                <a:latin typeface="Arial"/>
                <a:ea typeface="Arial"/>
                <a:cs typeface="Arial"/>
                <a:sym typeface="Arial"/>
              </a:rPr>
              <a:t>OUR HONESTY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603504"/>
            <a:ext cx="110642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私たちが「しないこと」を、正直にお伝えします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できることだけでなく、できない・やらないことも先にお伝えします。それが、あなたの口コミ資産を守ります。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124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3E4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26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84124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成果は保証しません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4124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順位・問い合わせ数・売上の“保証”はしません（Googleの仕組み上、誰にもできません）。数値は毎月正直に開示します。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37388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6648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F474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50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466648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勝手に公開しません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66648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AIが下ごしらえし、人が薬機法・表現・トーンを確認してから公開します。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061960" y="2011680"/>
            <a:ext cx="3505200" cy="22402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 cap="flat" cmpd="sng" w="12700">
            <a:solidFill>
              <a:srgbClr val="E2E4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232A55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354568" y="2304288"/>
            <a:ext cx="640080" cy="640080"/>
          </a:xfrm>
          <a:prstGeom prst="roundRect">
            <a:avLst>
              <a:gd fmla="val 28000" name="adj"/>
            </a:avLst>
          </a:prstGeom>
          <a:solidFill>
            <a:srgbClr val="1098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8586" y="2448306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354568" y="3090672"/>
            <a:ext cx="295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23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223F"/>
                </a:solidFill>
                <a:latin typeface="Arial"/>
                <a:ea typeface="Arial"/>
                <a:cs typeface="Arial"/>
                <a:sym typeface="Arial"/>
              </a:rPr>
              <a:t>サクラ・対価はしません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354568" y="3584448"/>
            <a:ext cx="2956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ご希望でも、対価と引き換えの口コミは一切行いません。それが2026年のポリシー厳格化からあなたの資産を守る方法です。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EC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60120" y="461772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「しないこと」を正直に守ることが、2026年のポリシー厳格化（違反で全口コミ削除）から、あなたの口コミ資産を守ります。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4BA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E4BA0"/>
                </a:solidFill>
                <a:latin typeface="Arial"/>
                <a:ea typeface="Arial"/>
                <a:cs typeface="Arial"/>
                <a:sym typeface="Arial"/>
              </a:rPr>
              <a:t>株式会社みらい編集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|  MEO運用支援サービス ご提案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