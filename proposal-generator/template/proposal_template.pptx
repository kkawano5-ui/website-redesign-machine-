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6" r:id="rId16"/>
    <p:sldId id="264" r:id="rId14"/>
    <p:sldId id="267" r:id="rId17"/>
    <p:sldId id="265" r:id="rId1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B992657-CEF7-44BC-A76A-561FC5929C72}">
  <a:tblStyle styleId="{9B992657-CEF7-44BC-A76A-561FC5929C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9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14.png"/><Relationship Id="rId8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052560" y="-1645920"/>
            <a:ext cx="4754880" cy="4754880"/>
          </a:xfrm>
          <a:prstGeom prst="ellipse">
            <a:avLst/>
          </a:prstGeom>
          <a:solidFill>
            <a:srgbClr val="F4748A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0698480" y="3840480"/>
            <a:ext cx="2743200" cy="2743200"/>
          </a:xfrm>
          <a:prstGeom prst="ellipse">
            <a:avLst/>
          </a:prstGeom>
          <a:solidFill>
            <a:srgbClr val="10987A">
              <a:alpha val="1411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48640" y="868680"/>
            <a:ext cx="182880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B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クラン株式会社 様　ご提案資料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8640" y="1920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Googleマップを、見つかるだけでなく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2542032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「選ばれる受け皿」</a:t>
            </a:r>
            <a:r>
              <a:rPr b="1" i="0" lang="en-US" sz="40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へ。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48640" y="3520440"/>
            <a:ext cx="8778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検索・比較されたときに「ここにお願いしたい」と思われる状態をつくる、Googleビジネスプロフィール改善・運用サービスのご提案。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4864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54864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GBP最適化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265176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265176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口コミ運用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475488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475488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投稿代行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685800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685800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月次レポート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A9F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　|　sales@tv-hospital.com　|　2026年5月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WHAT IS MEO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MEOは、「受け皿づくり」です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Googleマップは順位を上げる場所ではなく、問い合わせの前に“判断される”場所。ユーザーは次の3点を確認しています。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信頼できそうか？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口コミ・返信・評価で「信頼できる会社か」を判断される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自分に合っていそうか？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サービス内容・説明文・投稿で「自分に合うか」を見られる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今も営業している会社か？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投稿日付・写真・口コミの新しさで「活動中か」を確認される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つまりMEOとは　見つかった後に「お願いしたい」と思ってもらうための受け皿づくり。広告で生まれた興味を、問い合わせに変える仕事です。</a:t>
            </a: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USER BEHAVIOR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ユーザーは複数社を比較してから問い合わせます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54864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149047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214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/>
          <p:nvPr/>
        </p:nvSpPr>
        <p:spPr>
          <a:xfrm>
            <a:off x="68580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検索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8580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「鶴見 不動産売却」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「横浜 相続不動産」など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301752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341376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435559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7" name="Google Shape;7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726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5"/>
          <p:cNvSpPr/>
          <p:nvPr/>
        </p:nvSpPr>
        <p:spPr>
          <a:xfrm>
            <a:off x="355092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Googleマップで比較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355092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複数社を同時に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じっくり見比べる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88264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27888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722071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3" name="Google Shape;8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238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641604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信頼を確認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41604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写真・口コミ・投稿・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サービス内容を確認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74776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14400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1008583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1750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928116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928116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フォームから連絡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表示されるだけでは不十分。比較されたとき写真・口コミ・投稿・サービス内容が整っていないと、隣の競合に流れてしまいます。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548640" y="4069080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検索されるキーワード例（鶴見・横浜・川崎エリア）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4864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54864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近くの不動産会社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23672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423672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不動産売却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792480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792480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マンション売却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54864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54864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相続不動産 相談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423672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423672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横浜 不動産買取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92480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792480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借地権 相談 横浜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DIAGNOSIS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クラン株式会社様のGoogleマップ 現状診断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基本情報・口コミは一定程度整っています。比較されたときに「選ばれる受け皿」とするための改善余地は次のとおりです。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7" name="Google Shape;117;p6"/>
          <p:cNvGraphicFramePr/>
          <p:nvPr/>
        </p:nvGraphicFramePr>
        <p:xfrm>
          <a:off x="54864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2103125"/>
                <a:gridCol w="2011675"/>
                <a:gridCol w="1737350"/>
                <a:gridCol w="5212075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項目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現状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評価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改善ポイント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基本情報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登録済み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整理余地あり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相談内容が伝わる形に整理。営業時間・定休日を正確に設定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サービス内容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認識できる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売却・買取・相続・リノベ・借地権・底地権を明確化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相談スペース・スタッフ・接客風景・リノベ事例を追加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一定数あり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売却・相続・買取など相談テーマが伝わる口コミを増やす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一部あり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要整備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全口コミに丁寧に返信。未来の見込み客への接客として整える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要運用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月4回投稿で「活動している会社」と専門性を継続発信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競合比較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比較対象になっている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差別化余地あり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写真・口コミ・投稿・説明を整備し選ばれる状態へ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問い合わせ導線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設定済み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基本OK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電話・ルート検索への導線を確認しハードルを下げる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</a:tbl>
          </a:graphicData>
        </a:graphic>
      </p:graphicFrame>
      <p:sp>
        <p:nvSpPr>
          <p:cNvPr id="118" name="Google Shape;118;p6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SOLUTION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MEOで行う 6つの施策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54864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80467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0" name="Google Shape;1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400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7"/>
          <p:cNvSpPr/>
          <p:nvPr/>
        </p:nvSpPr>
        <p:spPr>
          <a:xfrm>
            <a:off x="316992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80467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GBPプロフィール整備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80467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カテゴリ・サービス内容・説明文を最適化し、強みをGoogleに正しく伝える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31292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456895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6" name="Google Shape;13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828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7"/>
          <p:cNvSpPr/>
          <p:nvPr/>
        </p:nvSpPr>
        <p:spPr>
          <a:xfrm>
            <a:off x="693420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456895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写真の追加・整理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456895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外観・店内・スタッフ・事例写真で「安心できる」印象を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807720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833323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256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69848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33323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口コミ獲得導線の設計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833323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来店後・利用後にQRコード・LINEで口コミを依頼する導線を整える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4864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80467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8" name="Google Shape;148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400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/>
          <p:nvPr/>
        </p:nvSpPr>
        <p:spPr>
          <a:xfrm>
            <a:off x="316992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80467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80467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全口コミに丁寧に返信。地域名・サービス名を含め接客として機能させる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31292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456895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4" name="Google Shape;15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828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7"/>
          <p:cNvSpPr/>
          <p:nvPr/>
        </p:nvSpPr>
        <p:spPr>
          <a:xfrm>
            <a:off x="693420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6895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投稿運用（月4回）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56895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サービス・季節・お客様の声などのテーマで投稿し専門性を継続発信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07720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833323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0" name="Google Shape;160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5256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/>
          <p:nvPr/>
        </p:nvSpPr>
        <p:spPr>
          <a:xfrm>
            <a:off x="1069848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833323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情報統一・媒体チェック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33323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Googleマップ・SUUMO・LIFULL・SNS等で基本情報(NAP)を統一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AIが日々の下ごしらえを自動で行い、公開の前に必ず人が薬機法・トーンを確認します（AIの速さ×人の目）。毎月の月次レポート＋改善提案で、受け皿の質を継続的に改善します。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PLANS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目的に応じて選べる 3つのプラン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4864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82296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82296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情報整備プラン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82296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スタータープラン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82296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10,000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82296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30,000円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82296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GBP初期診断・基本情報整備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カテゴリ・サービス内容の見直し（簡易）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説明文の簡易作成／写真掲載方針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口コミ依頼文・獲得導線テンプレ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月1回の簡易チェック＋簡易レポート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822960" y="512064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Arial"/>
              <a:buNone/>
            </a:pPr>
            <a:r>
              <a:rPr b="0" i="1" lang="en-US" sz="8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投稿は文案作成まで（公開はお客様）／口コミ返信は含みません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5212080" y="1115568"/>
            <a:ext cx="1737360" cy="420624"/>
          </a:xfrm>
          <a:prstGeom prst="roundRect">
            <a:avLst>
              <a:gd fmla="val 50000" name="adj"/>
            </a:avLst>
          </a:prstGeom>
          <a:solidFill>
            <a:srgbClr val="F4748A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5212080" y="1115568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おすすめ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328160" y="1371600"/>
            <a:ext cx="3505200" cy="411480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31750">
            <a:solidFill>
              <a:srgbClr val="F4748A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4602480" y="1645920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FFE4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4602480" y="1645920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11D48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受け皿づくりプラン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602480" y="2121408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4602480" y="2542032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29,800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4602480" y="3035808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602480" y="3383280"/>
            <a:ext cx="300228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スターターの全内容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月4回投稿（企画〜掲載まで代行）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口コミ返信文の作成（返信はワンタップ）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写真の選定・整理／競合の簡易チェック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月次レポート＋翌月の改善提案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10768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8200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8200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本格伴走プラン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38200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グロースプラン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8200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49,800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838200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838200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週2回・月8回の投稿＋掲載代行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口コミ返信の代行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競合分析レポート（月1回・3社）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月次改善ミーティング・季節企画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fmla="val 16129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960120" y="5852160"/>
            <a:ext cx="10241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全プラン最低1年契約　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口コミ・投稿・写真は積み上げ型のため1年で受け皿を育てます。さらに </a:t>
            </a:r>
            <a:r>
              <a:rPr b="1" i="0" lang="en-US" sz="12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2年契約は初期費用が無料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 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プランによって対応範囲が変わります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1" name="Google Shape;211;p9"/>
          <p:cNvGraphicFramePr/>
          <p:nvPr/>
        </p:nvGraphicFramePr>
        <p:xfrm>
          <a:off x="548640" y="14173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4754875"/>
                <a:gridCol w="2103125"/>
                <a:gridCol w="2103125"/>
                <a:gridCol w="2103125"/>
              </a:tblGrid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施策・対応項目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スターター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スタンダード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74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グロース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カテゴリ・サービス内容の最適化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説明文の作成（強み・対応領域）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写真追加・整理サポート（継続）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口コミ獲得導線の設計（QR・LINE）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口コミ返信文の作成・返信支援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口コミ返信代行（高度な返信文）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投稿（企画〜掲載まで代行）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週2・月8回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掲載媒体の情報統一（NAP）チェック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競合分析レポート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月1・3社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月次パフォーマンスレポート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月次改善MTG・季節企画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Google Shape;212;p9"/>
          <p:cNvSpPr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○ 含まれる　△ 一部対応　簡易 簡易版で対応　− 含まれない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0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RECOMMENDATION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クラン株式会社様にスタンダードをおすすめする理由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54864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82296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0"/>
          <p:cNvSpPr/>
          <p:nvPr/>
        </p:nvSpPr>
        <p:spPr>
          <a:xfrm>
            <a:off x="82296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157276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投稿を、丸ごとお任せできる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296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投稿する時間がない」を仕組みで解決します。企画・文案・画像選びからGoogleへの掲載まで私たちが実施。あなたは承認するだけ。忙しい月でもマップが“最近やっていない店”に見えることがありません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21792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29" name="Google Shape;229;p10"/>
          <p:cNvSpPr/>
          <p:nvPr/>
        </p:nvSpPr>
        <p:spPr>
          <a:xfrm>
            <a:off x="649224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649224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724204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強み・サービスを明確に伝える必要がある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649224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売却・買取・相続・リノベ・借地権など対応領域を、月4回投稿と説明文最適化で継続的に発信します。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54864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82296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"/>
          <p:cNvSpPr/>
          <p:nvPr/>
        </p:nvSpPr>
        <p:spPr>
          <a:xfrm>
            <a:off x="82296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157276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投稿・口コミ・写真は継続運用が重要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2296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一度整備して終わりではなく、毎月積み上げることで信頼感が形成されます。だからこそ1年での運用をご提案します。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1792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49224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"/>
          <p:cNvSpPr/>
          <p:nvPr/>
        </p:nvSpPr>
        <p:spPr>
          <a:xfrm>
            <a:off x="649224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724204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数値を見ながら改善サイクルを回す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49224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毎月のレポートで表示回数・電話数・口コミ数・競合との差を確認し、3ヶ月ごとに方針を振り返ります。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ONBOARDING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はじめに、30〜60分の面談で「運用の方針」を一緒に決めます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運用の方針を最初に一緒に決めるので、あとはお任せいただいても、あなたの意図からズレません。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強み・NGを共有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お店の強み・NG表現・伝えたいことをヒアリング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方針を一緒に確定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投稿のテーマ方針、口コミへの向き合い方を確定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以後は自動で回る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決めた“方針”の中で、毎月の運用が自動的に回ります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丸投げでも、あなたの意図からズレない。最初にきちんと握るから、毎月の確認は最小限で済みます。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1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EXPECTED OUTCOMES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本サービスで期待できる効果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80467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5" name="Google Shape;25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988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1"/>
          <p:cNvSpPr/>
          <p:nvPr/>
        </p:nvSpPr>
        <p:spPr>
          <a:xfrm>
            <a:off x="80467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Googleに正しく認識される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0467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地域名・サービス内容・強みが正しく伝わり、関連キーワードで表示されやすい状態へ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431292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456895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0" name="Google Shape;26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416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1"/>
          <p:cNvSpPr/>
          <p:nvPr/>
        </p:nvSpPr>
        <p:spPr>
          <a:xfrm>
            <a:off x="456895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比較されたときに強みが伝わる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456895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売却・買取・相続・リノベ・借地権など、専門性が比較時に一目で伝わる状態に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807720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4" name="Google Shape;264;p11"/>
          <p:cNvSpPr/>
          <p:nvPr/>
        </p:nvSpPr>
        <p:spPr>
          <a:xfrm>
            <a:off x="833323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5" name="Google Shape;26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4844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1"/>
          <p:cNvSpPr/>
          <p:nvPr/>
        </p:nvSpPr>
        <p:spPr>
          <a:xfrm>
            <a:off x="833323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問い合わせ前の不安を減らす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833323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写真・口コミ・返信・投稿で「安心して選べそう」と思ってもらえる状態を継続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54864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80467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0" name="Google Shape;270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988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80467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信頼されやすい状態をつくる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80467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第三者の口コミが積み重なり、新規顧客の問い合わせ前の安心材料になる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431292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456895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5" name="Google Shape;275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416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1"/>
          <p:cNvSpPr/>
          <p:nvPr/>
        </p:nvSpPr>
        <p:spPr>
          <a:xfrm>
            <a:off x="456895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問い合わせにつながりやすく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456895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電話・ルート検索・問い合わせへのアクションが起きやすい受け皿を整える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807720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833323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0" name="Google Shape;280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4844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1"/>
          <p:cNvSpPr/>
          <p:nvPr/>
        </p:nvSpPr>
        <p:spPr>
          <a:xfrm>
            <a:off x="833323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地域で選ばれる受け皿に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833323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鶴見・横浜・川崎エリアで複数社と比較されたとき、選ばれる状態を目指す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※ 順位・問い合わせ数・売上等の成果を保証するものではありません。数値レポートで透明性を担保し、改善を継続します。Googleポリシー・薬機法を守る運用で、口コミ資産を守りながら育てます。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OUR HONESTY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私たちが「しないこと」を、正直にお伝えします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できることだけでなく、できない・やらないことも先にお伝えします。それが、あなたの口コミ資産を守ります。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成果は保証しません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順位・問い合わせ数・売上の“保証”はしません（Googleの仕組み上、誰にもできません）。数値は毎月正直に開示します。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勝手に公開しません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AIが下ごしらえし、人が薬機法・表現・トーンを確認してから公開します。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サクラ・対価はしません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ご希望でも、対価と引き換えの口コミは一切行いません。それが2026年のポリシー厳格化からあなたの資産を守る方法です。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「しないこと」を正直に守ることが、2026年のポリシー厳格化（違反で全口コミ削除）から、あなたの口コミ資産を守ります。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2"/>
          <p:cNvSpPr/>
          <p:nvPr/>
        </p:nvSpPr>
        <p:spPr>
          <a:xfrm>
            <a:off x="9418320" y="-1463040"/>
            <a:ext cx="4023360" cy="4023360"/>
          </a:xfrm>
          <a:prstGeom prst="ellipse">
            <a:avLst/>
          </a:prstGeom>
          <a:solidFill>
            <a:srgbClr val="F4748A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2"/>
          <p:cNvSpPr/>
          <p:nvPr/>
        </p:nvSpPr>
        <p:spPr>
          <a:xfrm>
            <a:off x="-914400" y="4754880"/>
            <a:ext cx="2743200" cy="2743200"/>
          </a:xfrm>
          <a:prstGeom prst="ellipse">
            <a:avLst/>
          </a:prstGeom>
          <a:solidFill>
            <a:srgbClr val="10987A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548640" y="54864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2"/>
          <p:cNvSpPr/>
          <p:nvPr/>
        </p:nvSpPr>
        <p:spPr>
          <a:xfrm>
            <a:off x="841248" y="47548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548640" y="786384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次の進め方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548640" y="1389888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現状診断は完了しています。今日から動けます。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54864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97" name="Google Shape;297;p12"/>
          <p:cNvSpPr/>
          <p:nvPr/>
        </p:nvSpPr>
        <p:spPr>
          <a:xfrm>
            <a:off x="77724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77724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141732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本提案内容の確認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431292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1" name="Google Shape;301;p12"/>
          <p:cNvSpPr/>
          <p:nvPr/>
        </p:nvSpPr>
        <p:spPr>
          <a:xfrm>
            <a:off x="454152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2"/>
          <p:cNvSpPr/>
          <p:nvPr/>
        </p:nvSpPr>
        <p:spPr>
          <a:xfrm>
            <a:off x="454152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518160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スタンダードで実施を決定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807720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5" name="Google Shape;305;p12"/>
          <p:cNvSpPr/>
          <p:nvPr/>
        </p:nvSpPr>
        <p:spPr>
          <a:xfrm>
            <a:off x="830580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2"/>
          <p:cNvSpPr/>
          <p:nvPr/>
        </p:nvSpPr>
        <p:spPr>
          <a:xfrm>
            <a:off x="830580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94588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GBPの権限共有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54864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77724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2"/>
          <p:cNvSpPr/>
          <p:nvPr/>
        </p:nvSpPr>
        <p:spPr>
          <a:xfrm>
            <a:off x="77724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141732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情報・写真素材の共有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431292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3" name="Google Shape;313;p12"/>
          <p:cNvSpPr/>
          <p:nvPr/>
        </p:nvSpPr>
        <p:spPr>
          <a:xfrm>
            <a:off x="454152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"/>
          <p:cNvSpPr/>
          <p:nvPr/>
        </p:nvSpPr>
        <p:spPr>
          <a:xfrm>
            <a:off x="454152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518160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初期整備の開始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807720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7" name="Google Shape;317;p12"/>
          <p:cNvSpPr/>
          <p:nvPr/>
        </p:nvSpPr>
        <p:spPr>
          <a:xfrm>
            <a:off x="830580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2"/>
          <p:cNvSpPr/>
          <p:nvPr/>
        </p:nvSpPr>
        <p:spPr>
          <a:xfrm>
            <a:off x="830580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894588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1年間の月次運用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548640" y="544068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960120" y="544068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まずはスタンダードプランで、Googleマップ上の見え方・信頼感・問い合わせ導線を1年かけて整えることをご提案します。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