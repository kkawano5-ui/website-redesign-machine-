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60" r:id="rId3"/>
    <p:sldId id="257" r:id="rId4"/>
    <p:sldId id="259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9" r:id="rId15"/>
    <p:sldId id="280" r:id="rId16"/>
    <p:sldId id="274" r:id="rId17"/>
    <p:sldId id="275" r:id="rId18"/>
    <p:sldId id="277" r:id="rId19"/>
    <p:sldId id="276" r:id="rId20"/>
    <p:sldId id="278" r:id="rId21"/>
    <p:sldId id="261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24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3847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6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9.png"/><Relationship Id="rId5" Type="http://schemas.openxmlformats.org/officeDocument/2006/relationships/image" Target="../media/image24.png"/><Relationship Id="rId6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Relationship Id="rId6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Relationship Id="rId6" Type="http://schemas.openxmlformats.org/officeDocument/2006/relationships/image" Target="../media/image28.png"/><Relationship Id="rId7" Type="http://schemas.openxmlformats.org/officeDocument/2006/relationships/image" Target="../media/image1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6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868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MIRAI HENSHU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中小企業を、元気に。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見つけて、選ばれて、続いていく。地域の会社の、伴走パートナー。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425196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21456B"/>
          </a:solidFill>
          <a:ln w="19050">
            <a:solidFill>
              <a:srgbClr val="EF8A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HP（無料）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423160" y="425196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21456B"/>
          </a:solidFill>
          <a:ln w="19050">
            <a:solidFill>
              <a:srgbClr val="2E6FD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42519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MEO集客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97680" y="425196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21456B"/>
          </a:solidFill>
          <a:ln w="19050">
            <a:solidFill>
              <a:srgbClr val="159A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97680" y="42519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SNS発信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425196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21456B"/>
          </a:solidFill>
          <a:ln w="19050">
            <a:solidFill>
              <a:srgbClr val="1E9E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72200" y="42519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求人・採用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46720" y="425196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21456B"/>
          </a:solidFill>
          <a:ln w="19050">
            <a:solidFill>
              <a:srgbClr val="7A4B9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046720" y="42519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AI研修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921240" y="4251960"/>
            <a:ext cx="1783080" cy="566928"/>
          </a:xfrm>
          <a:prstGeom prst="roundRect">
            <a:avLst>
              <a:gd name="adj" fmla="val 12903"/>
            </a:avLst>
          </a:prstGeom>
          <a:solidFill>
            <a:srgbClr val="21456B"/>
          </a:solidFill>
          <a:ln w="19050">
            <a:solidFill>
              <a:srgbClr val="B85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921240" y="4251960"/>
            <a:ext cx="1783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ポスティング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サービスのご案内 ／ 株式会社みらい編集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" y="2331720"/>
            <a:ext cx="1371600" cy="13716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7020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061605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本日の、無料プレゼント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7168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御社のホームページを、無料でつくります。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514600" y="36576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オンライン相談＋Googleマップの無料診断つき。まずは御社の“入口”を、リスクなく一緒に整えます。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514600" y="45720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14600" y="4572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FREE GIFT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地域の会社が、いま感じていること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こんな“もったいない”、ありませんか。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3520440" cy="118872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760220" y="2240280"/>
            <a:ext cx="1097280" cy="109728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6486" y="2536546"/>
            <a:ext cx="504749" cy="50474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22960" y="3566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見つけてもらえない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868680" y="4206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「地域名＋業種」で探されても、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上位に出てこない。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315968" y="173736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4315968" y="1737360"/>
            <a:ext cx="3520440" cy="118872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527548" y="2240280"/>
            <a:ext cx="1097280" cy="109728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3814" y="2536546"/>
            <a:ext cx="504749" cy="504749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44568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02</a:t>
            </a:r>
            <a:endParaRPr lang="en-US" sz="2600" dirty="0"/>
          </a:p>
        </p:txBody>
      </p:sp>
      <p:sp>
        <p:nvSpPr>
          <p:cNvPr id="17" name="Text 13"/>
          <p:cNvSpPr/>
          <p:nvPr/>
        </p:nvSpPr>
        <p:spPr>
          <a:xfrm>
            <a:off x="4590288" y="3566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選ばれない</a:t>
            </a:r>
            <a:endParaRPr lang="en-US" sz="2100" dirty="0"/>
          </a:p>
        </p:txBody>
      </p:sp>
      <p:sp>
        <p:nvSpPr>
          <p:cNvPr id="18" name="Text 14"/>
          <p:cNvSpPr/>
          <p:nvPr/>
        </p:nvSpPr>
        <p:spPr>
          <a:xfrm>
            <a:off x="4636008" y="4206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見つかっても“ちゃんとした会社か”が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伝わらず、比較で負けてしまう。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8083296" y="1737360"/>
            <a:ext cx="352044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6"/>
          <p:cNvSpPr/>
          <p:nvPr/>
        </p:nvSpPr>
        <p:spPr>
          <a:xfrm>
            <a:off x="8083296" y="1737360"/>
            <a:ext cx="3520440" cy="118872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9294876" y="2240280"/>
            <a:ext cx="1097280" cy="109728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1142" y="2536546"/>
            <a:ext cx="504749" cy="504749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311896" y="2011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en-US" sz="2600" dirty="0"/>
          </a:p>
        </p:txBody>
      </p:sp>
      <p:sp>
        <p:nvSpPr>
          <p:cNvPr id="24" name="Text 19"/>
          <p:cNvSpPr/>
          <p:nvPr/>
        </p:nvSpPr>
        <p:spPr>
          <a:xfrm>
            <a:off x="8357616" y="3566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人が集まらない</a:t>
            </a:r>
            <a:endParaRPr lang="en-US" sz="2100" dirty="0"/>
          </a:p>
        </p:txBody>
      </p:sp>
      <p:sp>
        <p:nvSpPr>
          <p:cNvPr id="25" name="Text 20"/>
          <p:cNvSpPr/>
          <p:nvPr/>
        </p:nvSpPr>
        <p:spPr>
          <a:xfrm>
            <a:off x="8403336" y="420624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募集しても応募が来ず、</a:t>
            </a:r>
            <a:endParaRPr lang="en-US" sz="14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4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現場の負担だけが増えていく。</a:t>
            </a:r>
            <a:endParaRPr lang="en-US" sz="1450" dirty="0"/>
          </a:p>
        </p:txBody>
      </p:sp>
      <p:sp>
        <p:nvSpPr>
          <p:cNvPr id="26" name="Text 21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どれも、“入口”と“見せ方”を整えれば変わります。そこを、一緒に。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提供サービス全体像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見つかる → 選ばれる → 人が集まる。ひとつずつ、一緒に。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無料ではじめる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899855" y="1600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2E6F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売上向上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1091672" cy="0"/>
          </a:xfrm>
          <a:prstGeom prst="line">
            <a:avLst/>
          </a:prstGeom>
          <a:noFill/>
          <a:ln w="1905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75564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1755648" cy="502920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入口・無料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014984" y="2953512"/>
            <a:ext cx="822960" cy="82296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183" y="3175711"/>
            <a:ext cx="378562" cy="37856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" y="3886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HP制作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40080" y="432511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御社の“顔”を無料で。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オンライン相談でプレゼント。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414016" y="2240280"/>
            <a:ext cx="175564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2414016" y="2240280"/>
            <a:ext cx="1755648" cy="50292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414016" y="22402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集客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2880360" y="2953512"/>
            <a:ext cx="822960" cy="82296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2559" y="3175711"/>
            <a:ext cx="378562" cy="37856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459736" y="3886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MEO</a:t>
            </a:r>
            <a:endParaRPr lang="en-US" sz="1250" dirty="0"/>
          </a:p>
        </p:txBody>
      </p:sp>
      <p:sp>
        <p:nvSpPr>
          <p:cNvPr id="21" name="Text 17"/>
          <p:cNvSpPr/>
          <p:nvPr/>
        </p:nvSpPr>
        <p:spPr>
          <a:xfrm>
            <a:off x="2505456" y="432511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地図で上位表示。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来店・問合せを増やす。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279392" y="2240280"/>
            <a:ext cx="175564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9"/>
          <p:cNvSpPr/>
          <p:nvPr/>
        </p:nvSpPr>
        <p:spPr>
          <a:xfrm>
            <a:off x="4279392" y="2240280"/>
            <a:ext cx="1755648" cy="502920"/>
          </a:xfrm>
          <a:prstGeom prst="rect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/>
          <p:cNvSpPr/>
          <p:nvPr/>
        </p:nvSpPr>
        <p:spPr>
          <a:xfrm>
            <a:off x="4279392" y="22402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信用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4745736" y="2953512"/>
            <a:ext cx="822960" cy="82296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7935" y="3175711"/>
            <a:ext cx="378562" cy="37856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325112" y="3886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SNS発信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4370832" y="432511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顔が見える動画で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「信頼される会社」に。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144768" y="2240280"/>
            <a:ext cx="175564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5"/>
          <p:cNvSpPr/>
          <p:nvPr/>
        </p:nvSpPr>
        <p:spPr>
          <a:xfrm>
            <a:off x="6144768" y="2240280"/>
            <a:ext cx="1755648" cy="502920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6"/>
          <p:cNvSpPr/>
          <p:nvPr/>
        </p:nvSpPr>
        <p:spPr>
          <a:xfrm>
            <a:off x="6144768" y="22402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採用</a:t>
            </a:r>
            <a:endParaRPr lang="en-US" sz="1150" dirty="0"/>
          </a:p>
        </p:txBody>
      </p:sp>
      <p:sp>
        <p:nvSpPr>
          <p:cNvPr id="32" name="Shape 27"/>
          <p:cNvSpPr/>
          <p:nvPr/>
        </p:nvSpPr>
        <p:spPr>
          <a:xfrm>
            <a:off x="6611112" y="2953512"/>
            <a:ext cx="822960" cy="82296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3311" y="3175711"/>
            <a:ext cx="378562" cy="378562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6190488" y="3886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FREE JOB</a:t>
            </a:r>
            <a:endParaRPr lang="en-US" sz="1250" dirty="0"/>
          </a:p>
        </p:txBody>
      </p:sp>
      <p:sp>
        <p:nvSpPr>
          <p:cNvPr id="35" name="Text 29"/>
          <p:cNvSpPr/>
          <p:nvPr/>
        </p:nvSpPr>
        <p:spPr>
          <a:xfrm>
            <a:off x="6236208" y="432511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最大20媒体へ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一括掲載・受付代行。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8010144" y="2240280"/>
            <a:ext cx="175564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1"/>
          <p:cNvSpPr/>
          <p:nvPr/>
        </p:nvSpPr>
        <p:spPr>
          <a:xfrm>
            <a:off x="8010144" y="2240280"/>
            <a:ext cx="1755648" cy="502920"/>
          </a:xfrm>
          <a:prstGeom prst="rect">
            <a:avLst/>
          </a:prstGeom>
          <a:solidFill>
            <a:srgbClr val="7A4B9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2"/>
          <p:cNvSpPr/>
          <p:nvPr/>
        </p:nvSpPr>
        <p:spPr>
          <a:xfrm>
            <a:off x="8010144" y="22402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育成</a:t>
            </a:r>
            <a:endParaRPr lang="en-US" sz="1150" dirty="0"/>
          </a:p>
        </p:txBody>
      </p:sp>
      <p:sp>
        <p:nvSpPr>
          <p:cNvPr id="39" name="Shape 33"/>
          <p:cNvSpPr/>
          <p:nvPr/>
        </p:nvSpPr>
        <p:spPr>
          <a:xfrm>
            <a:off x="8476488" y="2953512"/>
            <a:ext cx="822960" cy="822960"/>
          </a:xfrm>
          <a:prstGeom prst="ellipse">
            <a:avLst/>
          </a:prstGeom>
          <a:solidFill>
            <a:srgbClr val="7A4B9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8687" y="3175711"/>
            <a:ext cx="378562" cy="378562"/>
          </a:xfrm>
          <a:prstGeom prst="rect">
            <a:avLst/>
          </a:prstGeom>
        </p:spPr>
      </p:pic>
      <p:sp>
        <p:nvSpPr>
          <p:cNvPr id="41" name="Text 34"/>
          <p:cNvSpPr/>
          <p:nvPr/>
        </p:nvSpPr>
        <p:spPr>
          <a:xfrm>
            <a:off x="8055864" y="3886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AI研修</a:t>
            </a:r>
            <a:endParaRPr lang="en-US" sz="1250" dirty="0"/>
          </a:p>
        </p:txBody>
      </p:sp>
      <p:sp>
        <p:nvSpPr>
          <p:cNvPr id="42" name="Text 35"/>
          <p:cNvSpPr/>
          <p:nvPr/>
        </p:nvSpPr>
        <p:spPr>
          <a:xfrm>
            <a:off x="8101584" y="432511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“使える社員”を育て、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業務効率を底上げ。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9875520" y="2240280"/>
            <a:ext cx="1755648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37"/>
          <p:cNvSpPr/>
          <p:nvPr/>
        </p:nvSpPr>
        <p:spPr>
          <a:xfrm>
            <a:off x="9875520" y="2240280"/>
            <a:ext cx="1755648" cy="502920"/>
          </a:xfrm>
          <a:prstGeom prst="rect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38"/>
          <p:cNvSpPr/>
          <p:nvPr/>
        </p:nvSpPr>
        <p:spPr>
          <a:xfrm>
            <a:off x="9875520" y="2240280"/>
            <a:ext cx="17556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紙配布</a:t>
            </a:r>
            <a:endParaRPr lang="en-US" sz="1150" dirty="0"/>
          </a:p>
        </p:txBody>
      </p:sp>
      <p:sp>
        <p:nvSpPr>
          <p:cNvPr id="46" name="Shape 39"/>
          <p:cNvSpPr/>
          <p:nvPr/>
        </p:nvSpPr>
        <p:spPr>
          <a:xfrm>
            <a:off x="10341864" y="2953512"/>
            <a:ext cx="822960" cy="822960"/>
          </a:xfrm>
          <a:prstGeom prst="ellipse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4063" y="3175711"/>
            <a:ext cx="378562" cy="378562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9921240" y="3886200"/>
            <a:ext cx="16642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ポスティング</a:t>
            </a:r>
            <a:endParaRPr lang="en-US" sz="1250" dirty="0"/>
          </a:p>
        </p:txBody>
      </p:sp>
      <p:sp>
        <p:nvSpPr>
          <p:cNvPr id="49" name="Text 41"/>
          <p:cNvSpPr/>
          <p:nvPr/>
        </p:nvSpPr>
        <p:spPr>
          <a:xfrm>
            <a:off x="9966960" y="4325112"/>
            <a:ext cx="1572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チラシを戸別ポストへ。</a:t>
            </a:r>
            <a:endParaRPr lang="en-US" sz="1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エリアを絞って配布。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入口は、無料のHPプレゼント＋マップ診断。必要なものから、順番に育てていきます。</a:t>
            </a:r>
            <a:endParaRPr lang="en-US" sz="1350" dirty="0"/>
          </a:p>
        </p:txBody>
      </p:sp>
      <p:sp>
        <p:nvSpPr>
          <p:cNvPr id="51" name="Text 4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52" name="Text 4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8680" y="2331720"/>
            <a:ext cx="1371600" cy="13716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012" y="2702052"/>
            <a:ext cx="630936" cy="6309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514600" y="2240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E6F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THE JOURNEY ／ 進め方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2487168" y="260604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見つかる、選ばれる、続いていく。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514600" y="36576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御社のペースで、必要なものから。5つの打ち手を、順番にご案内します。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2514600" y="4572000"/>
            <a:ext cx="2926080" cy="502920"/>
          </a:xfrm>
          <a:prstGeom prst="roundRect">
            <a:avLst>
              <a:gd name="adj" fmla="val 18182"/>
            </a:avLst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2514600" y="45720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STORY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 見つけてもらう ｜ MEO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「近くで探している人」に、見つけてもらう。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こんな機会損失、ありませんか？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365760" cy="36576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2704795"/>
            <a:ext cx="168250" cy="16825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2542032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「地域名＋業種」で検索されても上位に出ない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68680" y="3319272"/>
            <a:ext cx="365760" cy="36576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3418027"/>
            <a:ext cx="168250" cy="1682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3255264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Googleマップの情報が古い・写真が少ない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868680" y="4032504"/>
            <a:ext cx="365760" cy="36576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131259"/>
            <a:ext cx="168250" cy="16825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968496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口コミに返信できておらず、印象を損ねている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68680" y="4745736"/>
            <a:ext cx="365760" cy="36576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435" y="4844491"/>
            <a:ext cx="168250" cy="16825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68172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ホームページはあるが、来店や予約に繋がらない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6355080" y="1783080"/>
            <a:ext cx="5285232" cy="3977640"/>
          </a:xfrm>
          <a:prstGeom prst="rect">
            <a:avLst/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4"/>
          <p:cNvSpPr/>
          <p:nvPr/>
        </p:nvSpPr>
        <p:spPr>
          <a:xfrm>
            <a:off x="66751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みらい編集のMEOで打つ手</a:t>
            </a:r>
            <a:endParaRPr lang="en-US" sz="1700" dirty="0"/>
          </a:p>
        </p:txBody>
      </p:sp>
      <p:sp>
        <p:nvSpPr>
          <p:cNvPr id="21" name="Shape 15"/>
          <p:cNvSpPr/>
          <p:nvPr/>
        </p:nvSpPr>
        <p:spPr>
          <a:xfrm>
            <a:off x="6675120" y="2606040"/>
            <a:ext cx="457200" cy="4572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8564" y="2729484"/>
            <a:ext cx="210312" cy="21031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69480" y="2578608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地域検索で上位表示を狙う運用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6675120" y="3319272"/>
            <a:ext cx="457200" cy="4572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8564" y="3442716"/>
            <a:ext cx="210312" cy="21031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7269480" y="32918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口コミの集め方・返信文づくりを支援</a:t>
            </a:r>
            <a:endParaRPr lang="en-US" sz="1350" dirty="0"/>
          </a:p>
        </p:txBody>
      </p:sp>
      <p:sp>
        <p:nvSpPr>
          <p:cNvPr id="27" name="Shape 19"/>
          <p:cNvSpPr/>
          <p:nvPr/>
        </p:nvSpPr>
        <p:spPr>
          <a:xfrm>
            <a:off x="6675120" y="4032504"/>
            <a:ext cx="457200" cy="4572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8564" y="4155948"/>
            <a:ext cx="210312" cy="21031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269480" y="400507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写真・基本情報を整え、来店動機を作る</a:t>
            </a:r>
            <a:endParaRPr lang="en-US" sz="1350" dirty="0"/>
          </a:p>
        </p:txBody>
      </p:sp>
      <p:sp>
        <p:nvSpPr>
          <p:cNvPr id="30" name="Shape 21"/>
          <p:cNvSpPr/>
          <p:nvPr/>
        </p:nvSpPr>
        <p:spPr>
          <a:xfrm>
            <a:off x="6675120" y="4745736"/>
            <a:ext cx="457200" cy="4572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98564" y="4869180"/>
            <a:ext cx="210312" cy="21031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269480" y="471830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順位や反響を毎月レポートで可視化</a:t>
            </a:r>
            <a:endParaRPr lang="en-US" sz="1350" dirty="0"/>
          </a:p>
        </p:txBody>
      </p:sp>
      <p:sp>
        <p:nvSpPr>
          <p:cNvPr id="33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34" name="Text 24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MEO｜提供内容と効果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やることは任せて、結果は数字で受け取る。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Googleビジネスプロフィール最適化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01168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店舗情報・カテゴリ・営業時間を正しく整備し、検索表示の土台を作ります。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47104" y="2194560"/>
            <a:ext cx="914400" cy="9144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4414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4384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口コミ獲得・返信サポート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644384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★評価と件数は集客に直結。集める仕組みづくりと返信文の作成を支援。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4187952"/>
            <a:ext cx="914400" cy="9144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43484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写真・投稿の運用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2011680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魅力が伝わる写真と定期投稿で、見た人が「行ってみたい」と思う状態に。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47104" y="4187952"/>
            <a:ext cx="914400" cy="914400"/>
          </a:xfrm>
          <a:prstGeom prst="ellipse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43484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4384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月次レポートと改善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644384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表示回数・問い合わせ・経路検索などを可視化し、毎月改善を回します。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ご提案時に、御社のGoogleマップの「今の見え方」を無料で診断してお見せします。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E6F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MEO｜料金プラン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情報整備から本格伴走まで、3つのプラン。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3566160" cy="841248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スタータープラン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139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情報整備プラン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¥10,000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/月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初期 30,000円（税抜）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22960" y="3429000"/>
            <a:ext cx="301752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646144"/>
            <a:ext cx="164592" cy="16459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78992" y="352958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GBP初期診断・基本情報整備</a:t>
            </a:r>
            <a:endParaRPr lang="en-US" sz="10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06676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078992" y="39502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カテゴリ・サービス内容の見直し</a:t>
            </a:r>
            <a:endParaRPr lang="en-US" sz="10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487392"/>
            <a:ext cx="164592" cy="16459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78992" y="43708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説明文の簡易作成／写真掲載方針</a:t>
            </a:r>
            <a:endParaRPr lang="en-US" sz="10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4908016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47914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口コミ依頼文・獲得導線テンプレ</a:t>
            </a:r>
            <a:endParaRPr lang="en-US" sz="10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5328640"/>
            <a:ext cx="164592" cy="16459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078992" y="5212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月1回の簡易チェック＋レポート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822960" y="552066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※投稿は文案作成まで（公開はお客様）／口コミ返信は含みません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306824" y="1645920"/>
            <a:ext cx="356616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6FD6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7"/>
          <p:cNvSpPr/>
          <p:nvPr/>
        </p:nvSpPr>
        <p:spPr>
          <a:xfrm>
            <a:off x="4306824" y="1645920"/>
            <a:ext cx="3566160" cy="841248"/>
          </a:xfrm>
          <a:prstGeom prst="rect">
            <a:avLst/>
          </a:prstGeom>
          <a:solidFill>
            <a:srgbClr val="2E6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18"/>
          <p:cNvSpPr/>
          <p:nvPr/>
        </p:nvSpPr>
        <p:spPr>
          <a:xfrm>
            <a:off x="6638544" y="1755648"/>
            <a:ext cx="105156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6FD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おすすめ</a:t>
            </a:r>
            <a:endParaRPr lang="en-US" sz="1000" dirty="0"/>
          </a:p>
        </p:txBody>
      </p:sp>
      <p:sp>
        <p:nvSpPr>
          <p:cNvPr id="26" name="Text 19"/>
          <p:cNvSpPr/>
          <p:nvPr/>
        </p:nvSpPr>
        <p:spPr>
          <a:xfrm>
            <a:off x="4581144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スタンダードプラン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4581144" y="2139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9D6E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受け皿づくりプラン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81144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¥29,800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/月</a:t>
            </a:r>
            <a:endParaRPr lang="en-US" sz="2600" dirty="0"/>
          </a:p>
        </p:txBody>
      </p:sp>
      <p:sp>
        <p:nvSpPr>
          <p:cNvPr id="29" name="Text 22"/>
          <p:cNvSpPr/>
          <p:nvPr/>
        </p:nvSpPr>
        <p:spPr>
          <a:xfrm>
            <a:off x="4581144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初期 50,000円（税抜）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81144" y="3429000"/>
            <a:ext cx="301752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3646144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837176" y="352958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スターターの全内容</a:t>
            </a:r>
            <a:endParaRPr lang="en-US" sz="1000" dirty="0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4066768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4837176" y="39502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月4回投稿（企画〜掲載まで代行）</a:t>
            </a:r>
            <a:endParaRPr lang="en-US" sz="1000" dirty="0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4487392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4837176" y="43708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口コミ返信文の作成（返信はワンタップ）</a:t>
            </a:r>
            <a:endParaRPr lang="en-US" sz="1000" dirty="0"/>
          </a:p>
        </p:txBody>
      </p:sp>
      <p:pic>
        <p:nvPicPr>
          <p:cNvPr id="37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4908016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837176" y="47914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写真追加・整理／競合簡易チェック</a:t>
            </a:r>
            <a:endParaRPr lang="en-US" sz="1000" dirty="0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5328640"/>
            <a:ext cx="164592" cy="16459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4837176" y="5212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月次レポート＋改善提案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8065008" y="1645920"/>
            <a:ext cx="35661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Shape 30"/>
          <p:cNvSpPr/>
          <p:nvPr/>
        </p:nvSpPr>
        <p:spPr>
          <a:xfrm>
            <a:off x="8065008" y="1645920"/>
            <a:ext cx="3566160" cy="841248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31"/>
          <p:cNvSpPr/>
          <p:nvPr/>
        </p:nvSpPr>
        <p:spPr>
          <a:xfrm>
            <a:off x="8339328" y="177393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グロースプラン</a:t>
            </a:r>
            <a:endParaRPr lang="en-US" sz="1600" dirty="0"/>
          </a:p>
        </p:txBody>
      </p:sp>
      <p:sp>
        <p:nvSpPr>
          <p:cNvPr id="44" name="Text 32"/>
          <p:cNvSpPr/>
          <p:nvPr/>
        </p:nvSpPr>
        <p:spPr>
          <a:xfrm>
            <a:off x="8339328" y="21396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本格伴走プラン</a:t>
            </a:r>
            <a:endParaRPr lang="en-US" sz="1100" dirty="0"/>
          </a:p>
        </p:txBody>
      </p:sp>
      <p:sp>
        <p:nvSpPr>
          <p:cNvPr id="45" name="Text 33"/>
          <p:cNvSpPr/>
          <p:nvPr/>
        </p:nvSpPr>
        <p:spPr>
          <a:xfrm>
            <a:off x="8339328" y="2560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¥49,800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/月</a:t>
            </a:r>
            <a:endParaRPr lang="en-US" sz="2600" dirty="0"/>
          </a:p>
        </p:txBody>
      </p:sp>
      <p:sp>
        <p:nvSpPr>
          <p:cNvPr id="46" name="Text 34"/>
          <p:cNvSpPr/>
          <p:nvPr/>
        </p:nvSpPr>
        <p:spPr>
          <a:xfrm>
            <a:off x="8339328" y="3063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初期 50,000円（税抜）</a:t>
            </a:r>
            <a:endParaRPr lang="en-US" sz="1100" dirty="0"/>
          </a:p>
        </p:txBody>
      </p:sp>
      <p:sp>
        <p:nvSpPr>
          <p:cNvPr id="47" name="Shape 35"/>
          <p:cNvSpPr/>
          <p:nvPr/>
        </p:nvSpPr>
        <p:spPr>
          <a:xfrm>
            <a:off x="8339328" y="3429000"/>
            <a:ext cx="3017520" cy="0"/>
          </a:xfrm>
          <a:prstGeom prst="line">
            <a:avLst/>
          </a:prstGeom>
          <a:noFill/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3646144"/>
            <a:ext cx="164592" cy="164592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8595360" y="3529584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スタンダードの全内容</a:t>
            </a:r>
            <a:endParaRPr lang="en-US" sz="1000" dirty="0"/>
          </a:p>
        </p:txBody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066768"/>
            <a:ext cx="164592" cy="16459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8595360" y="3950208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週2回・月8回の投稿＋掲載代行</a:t>
            </a:r>
            <a:endParaRPr lang="en-US" sz="1000" dirty="0"/>
          </a:p>
        </p:txBody>
      </p:sp>
      <p:pic>
        <p:nvPicPr>
          <p:cNvPr id="52" name="Image 1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487392"/>
            <a:ext cx="164592" cy="164592"/>
          </a:xfrm>
          <a:prstGeom prst="rect">
            <a:avLst/>
          </a:prstGeom>
        </p:spPr>
      </p:pic>
      <p:sp>
        <p:nvSpPr>
          <p:cNvPr id="53" name="Text 38"/>
          <p:cNvSpPr/>
          <p:nvPr/>
        </p:nvSpPr>
        <p:spPr>
          <a:xfrm>
            <a:off x="8595360" y="4370832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口コミ返信の代行</a:t>
            </a:r>
            <a:endParaRPr lang="en-US" sz="1000" dirty="0"/>
          </a:p>
        </p:txBody>
      </p:sp>
      <p:pic>
        <p:nvPicPr>
          <p:cNvPr id="54" name="Image 1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4908016"/>
            <a:ext cx="164592" cy="164592"/>
          </a:xfrm>
          <a:prstGeom prst="rect">
            <a:avLst/>
          </a:prstGeom>
        </p:spPr>
      </p:pic>
      <p:sp>
        <p:nvSpPr>
          <p:cNvPr id="55" name="Text 39"/>
          <p:cNvSpPr/>
          <p:nvPr/>
        </p:nvSpPr>
        <p:spPr>
          <a:xfrm>
            <a:off x="8595360" y="4791456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競合分析レポート（月1回・3社）</a:t>
            </a:r>
            <a:endParaRPr lang="en-US" sz="1000" dirty="0"/>
          </a:p>
        </p:txBody>
      </p:sp>
      <p:pic>
        <p:nvPicPr>
          <p:cNvPr id="56" name="Image 1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5328640"/>
            <a:ext cx="164592" cy="164592"/>
          </a:xfrm>
          <a:prstGeom prst="rect">
            <a:avLst/>
          </a:prstGeom>
        </p:spPr>
      </p:pic>
      <p:sp>
        <p:nvSpPr>
          <p:cNvPr id="57" name="Text 40"/>
          <p:cNvSpPr/>
          <p:nvPr/>
        </p:nvSpPr>
        <p:spPr>
          <a:xfrm>
            <a:off x="8595360" y="521208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月次改善ミーティング・季節企画</a:t>
            </a:r>
            <a:endParaRPr lang="en-US" sz="1000" dirty="0"/>
          </a:p>
        </p:txBody>
      </p:sp>
      <p:sp>
        <p:nvSpPr>
          <p:cNvPr id="58" name="Text 41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最低1年契約／2年契約なら初期費用が無料に。 まずは御社のGoogleマップを無料診断します。</a:t>
            </a:r>
            <a:endParaRPr lang="en-US" sz="1150" dirty="0"/>
          </a:p>
        </p:txBody>
      </p:sp>
      <p:sp>
        <p:nvSpPr>
          <p:cNvPr id="59" name="Text 42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60" name="Text 43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AA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 選ばれる ｜ HP＋SNSブランディング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無料のホームページと、顔が見える動画で「信頼される会社」に。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8640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お客様は、この順番で御社を見ています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68680" y="2606040"/>
            <a:ext cx="640080" cy="64008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502" y="2778862"/>
            <a:ext cx="294437" cy="29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91640" y="26243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まず調べる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691640" y="29535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「どんな会社だろう」と、今どきはSNSを見に来る。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05840" y="3264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7A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868680" y="3630168"/>
            <a:ext cx="640080" cy="64008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2" y="3802990"/>
            <a:ext cx="294437" cy="29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364845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“人”が見える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91640" y="39776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社長や社員が出ていれば、それだけで信用できそうと感じる。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1005840" y="4288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A97A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↓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868680" y="4654296"/>
            <a:ext cx="640080" cy="64008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1502" y="4827118"/>
            <a:ext cx="294437" cy="29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91640" y="4672584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商談で会う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91640" y="5001768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「動画で見たあの方だ」と、初対面でも信頼が深まる。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355080" y="1783080"/>
            <a:ext cx="5285232" cy="3977640"/>
          </a:xfrm>
          <a:prstGeom prst="rect">
            <a:avLst/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6675120" y="2011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5FD3D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私たちがやること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6675120" y="2606040"/>
            <a:ext cx="502920" cy="50292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0908" y="2741828"/>
            <a:ext cx="231343" cy="23134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296912" y="25603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登場する動画の企画・台本</a:t>
            </a:r>
            <a:endParaRPr lang="en-US" sz="1350" dirty="0"/>
          </a:p>
        </p:txBody>
      </p:sp>
      <p:sp>
        <p:nvSpPr>
          <p:cNvPr id="26" name="Text 20"/>
          <p:cNvSpPr/>
          <p:nvPr/>
        </p:nvSpPr>
        <p:spPr>
          <a:xfrm>
            <a:off x="7296912" y="2880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「何を話すか」まで設計。出るだけで伝わる構成に。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675120" y="3383280"/>
            <a:ext cx="502920" cy="50292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0908" y="3519068"/>
            <a:ext cx="231343" cy="231343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7296912" y="33375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各SNSに合わせた編集・投稿</a:t>
            </a:r>
            <a:endParaRPr lang="en-US" sz="1350" dirty="0"/>
          </a:p>
        </p:txBody>
      </p:sp>
      <p:sp>
        <p:nvSpPr>
          <p:cNvPr id="30" name="Text 23"/>
          <p:cNvSpPr/>
          <p:nvPr/>
        </p:nvSpPr>
        <p:spPr>
          <a:xfrm>
            <a:off x="7296912" y="36576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Instagram・TikTok・YouTube、見られ方に最適化。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675120" y="4160520"/>
            <a:ext cx="502920" cy="50292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0908" y="4296308"/>
            <a:ext cx="231343" cy="231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96912" y="41148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続けられる運用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7296912" y="4434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撮影は短時間、編集はすべてお任せ。無理なく継続。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675120" y="4937760"/>
            <a:ext cx="502920" cy="502920"/>
          </a:xfrm>
          <a:prstGeom prst="ellipse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0908" y="5073548"/>
            <a:ext cx="231343" cy="231343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296912" y="48920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月次のご報告とご相談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7296912" y="52120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見られ方の変化を共有し、次の発信を一緒に考える。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59AA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SNSブランディング｜実績と料金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広告費ゼロで、ここまで見られてきた。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11091672" cy="100584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D3D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18.6万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総フォロワー（3SNS合計）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42816" y="1965960"/>
            <a:ext cx="0" cy="594360"/>
          </a:xfrm>
          <a:prstGeom prst="line">
            <a:avLst/>
          </a:prstGeom>
          <a:noFill/>
          <a:ln w="12700">
            <a:solidFill>
              <a:srgbClr val="21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17136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D3D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50本超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517136" y="2359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100万再生超の動画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936992" y="1965960"/>
            <a:ext cx="0" cy="594360"/>
          </a:xfrm>
          <a:prstGeom prst="line">
            <a:avLst/>
          </a:prstGeom>
          <a:noFill/>
          <a:ln w="12700">
            <a:solidFill>
              <a:srgbClr val="21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FD3D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広告費ゼロ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211312" y="2359152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“人が見える発信”だけで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06324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ライト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22960" y="3675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9AA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¥62,500</a:t>
            </a: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/月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22960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動画 月1本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90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まずは無理なく始める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306824" y="3063240"/>
            <a:ext cx="3566160" cy="2331720"/>
          </a:xfrm>
          <a:prstGeom prst="rect">
            <a:avLst/>
          </a:prstGeom>
          <a:solidFill>
            <a:srgbClr val="EEF2F7"/>
          </a:solidFill>
          <a:ln w="25400">
            <a:solidFill>
              <a:srgbClr val="159AA6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306824" y="3063240"/>
            <a:ext cx="3566160" cy="365760"/>
          </a:xfrm>
          <a:prstGeom prst="rect">
            <a:avLst/>
          </a:prstGeom>
          <a:solidFill>
            <a:srgbClr val="159A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306824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おすすめ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81144" y="3520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スタンダード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81144" y="39044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FD3DD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¥87,500</a:t>
            </a: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/月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4581144" y="4480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動画 月2本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81144" y="48188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各SNSで着実に積み上げる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65008" y="3063240"/>
            <a:ext cx="35661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339328" y="3291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プレミアム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8339328" y="3675888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59AA6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¥125,000</a:t>
            </a: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/月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8339328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動画 月4本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339328" y="459028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発信量をしっかり確保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48640" y="5418000"/>
            <a:ext cx="11091672" cy="9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全プラン共通の制作内容：企画立案／台本作成／撮影指示書作成／編集　＋　投稿キャプション・ハッシュタグ設計／月次レポート作成／面談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※面談はプラン別：ライト＝初回(1h)＋満了前(30分)／</a:t>
            </a:r>
            <a:r>
              <a:rPr lang="en-US" sz="1050" dirty="0" err="1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スタンダード・プレミアム＝初回</a:t>
            </a: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(1h)＋3ヶ月後(30分)＋満了前(30分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 人を集める ｜ FREE JOB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1回の入稿で、最大20媒体へ一括掲載。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大手求人媒体へ一括掲載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01168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最大20メディアに同時掲載。1社ずつ出稿する手間なく、応募の間口を一気に広げます。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47104" y="2194560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4414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4384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応募の一次受付を代行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644384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電話の一次受付窓口を用意。忙しい時間帯も、応募の取りこぼしを防ぎます。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4187952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43484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AIが求人ページを自動作成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2011680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簡単な質問に答えるだけ。業種に合う写真もAIが選定し、企業HPとしても使えます。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47104" y="4187952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43484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4384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採用コンシェルジュが伴走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644384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掲載後の反響をチェックし改善を提案。採用フィルターで人材評価も支援します。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採用代行ではありません。応募が集まる仕組みと、受付・運用のサポートを提供します。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FREE JOB｜導入実績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あらゆる業界で、13,000社以上の実績。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1672" cy="1051560"/>
          </a:xfrm>
          <a:prstGeom prst="rect">
            <a:avLst/>
          </a:prstGeom>
          <a:solidFill>
            <a:srgbClr val="EEF2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13,000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22960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社以上が導入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42816" y="2011680"/>
            <a:ext cx="0" cy="640080"/>
          </a:xfrm>
          <a:prstGeom prst="line">
            <a:avLst/>
          </a:prstGeom>
          <a:noFill/>
          <a:ln w="12700">
            <a:solidFill>
              <a:srgbClr val="21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17136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最大20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517136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媒体へ一括掲載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936992" y="2011680"/>
            <a:ext cx="0" cy="640080"/>
          </a:xfrm>
          <a:prstGeom prst="line">
            <a:avLst/>
          </a:prstGeom>
          <a:noFill/>
          <a:ln w="12700">
            <a:solidFill>
              <a:srgbClr val="2145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211312" y="18745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0円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211312" y="23957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採用報酬・成果報酬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掲載事例（応募実績の一例）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35204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3566160" cy="91440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飲食業 ／ 焼肉店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822960" y="4178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東京都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495</a:t>
            </a:r>
            <a:r>
              <a:rPr lang="en-US" sz="16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件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822960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13ヶ月で（月平均 約38件）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306824" y="35204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06824" y="3520440"/>
            <a:ext cx="3566160" cy="91440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81144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飲食業 ／ 飲食店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81144" y="4178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熊本県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81144" y="4480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124</a:t>
            </a:r>
            <a:r>
              <a:rPr lang="en-US" sz="16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件</a:t>
            </a:r>
            <a:endParaRPr lang="en-US" sz="4000" dirty="0"/>
          </a:p>
        </p:txBody>
      </p:sp>
      <p:sp>
        <p:nvSpPr>
          <p:cNvPr id="26" name="Text 24"/>
          <p:cNvSpPr/>
          <p:nvPr/>
        </p:nvSpPr>
        <p:spPr>
          <a:xfrm>
            <a:off x="4581144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わずか1ヶ月で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065008" y="3520440"/>
            <a:ext cx="356616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8065008" y="3520440"/>
            <a:ext cx="3566160" cy="91440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339328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運輸業 ／ 配送ドライバー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8339328" y="41788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京都府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339328" y="44805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1,275</a:t>
            </a:r>
            <a:r>
              <a:rPr lang="en-US" sz="1600" b="1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件</a:t>
            </a:r>
            <a:endParaRPr lang="en-US" sz="4000" dirty="0"/>
          </a:p>
        </p:txBody>
      </p:sp>
      <p:sp>
        <p:nvSpPr>
          <p:cNvPr id="32" name="Text 30"/>
          <p:cNvSpPr/>
          <p:nvPr/>
        </p:nvSpPr>
        <p:spPr>
          <a:xfrm>
            <a:off x="8339328" y="5212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継続掲載で（月平均 約28件）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FREE JOB｜料金プラン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わかりやすい月額制。追加・成果報酬は0円。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4023360"/>
          </a:xfrm>
          <a:prstGeom prst="rect">
            <a:avLst/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アドバンスプラン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月額利用料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54,780</a:t>
            </a:r>
            <a:r>
              <a:rPr lang="en-US" sz="18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 円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（税込）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初期費用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0円（キャンペーン中）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636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採用・成果報酬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4636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0円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2029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契約期間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52029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12ヶ月（自動更新）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料金に含まれるもの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2389693"/>
            <a:ext cx="176662" cy="1766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352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最大20の求人メディアへ自動掲載 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応募の間口を最大化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800600" y="288036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2984053"/>
            <a:ext cx="176662" cy="1766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専用リクルーティングサイト作成 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企業HPとしても運用可能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800600" y="347472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3578413"/>
            <a:ext cx="176662" cy="1766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03520" y="3429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掲載写真8枚（AIが自動選定） 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写真をご用意いただく手間なし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4800600" y="406908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4172773"/>
            <a:ext cx="176662" cy="1766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3求人まで同時掲載 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複数職種の募集に対応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4800600" y="466344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4767133"/>
            <a:ext cx="176662" cy="1766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4617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応募受付コールセンター（一次受付） 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取りこぼしを防止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4800600" y="525780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4293" y="5361493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5212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採用コンシェルジュ・採用フィルター 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反響改善と人材評価を支援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契約解除料は月額6ヶ月分。募集再開時には最大6ヶ月無料。掲載媒体数は内容により変動します。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 社内を強くする ｜ AI研修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「触れる社員」と「触れない社員」で、生産性は3倍変わる。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28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AIを使える人材が、現場を変える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201168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同じ業務でもAI活用の有無で効率は大きく変化。“現場が実際に変わる体験”を届けます。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81344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47104" y="2194560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3992" y="24414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4384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基礎〜実務の双方向型研修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7644384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座学で終わらせず、自社業務に沿った演習で、その場から使える状態へ。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4187952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1288" y="443484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助成金で実質負担を圧縮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2011680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人材開発支援助成金（リスキリング支援）を活用し、1人あたりの負担を抑えて導入できます。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81344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47104" y="4187952"/>
            <a:ext cx="914400" cy="914400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3992" y="443484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4384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募集は2027年3月末まで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7644384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助成金の対象期間に限りがあるため、早く始めるほど有利です。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548640" y="59436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助成金の支給には所定の要件審査があります。研修は最低5名から実施します。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E9E6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法人AI研修｜料金と助成金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助成金活用で、実質負担を大きく抑えられます。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931920" cy="4023360"/>
          </a:xfrm>
          <a:prstGeom prst="rect">
            <a:avLst/>
          </a:prstGeom>
          <a:solidFill>
            <a:srgbClr val="EEF2F7"/>
          </a:solidFill>
          <a:ln/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法人AI研修プラン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514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研修費（1名あたり）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8346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300,300 円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777240" y="3584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（税込・最低5名〜）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0690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実質負担（助成金後）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40690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約 98,675 円/人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4636008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経費助成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468880" y="46360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225,225 円/人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777240" y="5202936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募集期限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468880" y="520293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2027年3月末まで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00600" y="1783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プランに含まれるもの／助成金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800600" y="228600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93" y="2389693"/>
            <a:ext cx="176662" cy="176662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303520" y="22402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賃金助成 12,000円/人   受講中の賃金を一部助成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4800600" y="288036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93" y="2984053"/>
            <a:ext cx="176662" cy="17666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03520" y="28346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基礎〜実務の双方向型カリキュラム   その場で使える内容に設計</a:t>
            </a:r>
            <a:endParaRPr lang="en-US" sz="1350" dirty="0"/>
          </a:p>
        </p:txBody>
      </p:sp>
      <p:sp>
        <p:nvSpPr>
          <p:cNvPr id="23" name="Shape 19"/>
          <p:cNvSpPr/>
          <p:nvPr/>
        </p:nvSpPr>
        <p:spPr>
          <a:xfrm>
            <a:off x="4800600" y="347472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93" y="3578413"/>
            <a:ext cx="176662" cy="17666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5303520" y="3429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自社業務に合わせた演習   現場の業務がそのまま変わる</a:t>
            </a:r>
            <a:endParaRPr lang="en-US" sz="1350" dirty="0"/>
          </a:p>
        </p:txBody>
      </p:sp>
      <p:sp>
        <p:nvSpPr>
          <p:cNvPr id="26" name="Shape 21"/>
          <p:cNvSpPr/>
          <p:nvPr/>
        </p:nvSpPr>
        <p:spPr>
          <a:xfrm>
            <a:off x="4800600" y="406908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93" y="4172773"/>
            <a:ext cx="176662" cy="17666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303520" y="40233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研修後の定着サポート   学んで終わりにしない</a:t>
            </a:r>
            <a:endParaRPr lang="en-US" sz="1350" dirty="0"/>
          </a:p>
        </p:txBody>
      </p:sp>
      <p:sp>
        <p:nvSpPr>
          <p:cNvPr id="29" name="Shape 23"/>
          <p:cNvSpPr/>
          <p:nvPr/>
        </p:nvSpPr>
        <p:spPr>
          <a:xfrm>
            <a:off x="4800600" y="466344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93" y="4767133"/>
            <a:ext cx="176662" cy="17666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303520" y="461772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最低5名から実施   部署単位での受講に対応</a:t>
            </a:r>
            <a:endParaRPr lang="en-US" sz="1350" dirty="0"/>
          </a:p>
        </p:txBody>
      </p:sp>
      <p:sp>
        <p:nvSpPr>
          <p:cNvPr id="32" name="Shape 25"/>
          <p:cNvSpPr/>
          <p:nvPr/>
        </p:nvSpPr>
        <p:spPr>
          <a:xfrm>
            <a:off x="4800600" y="5257800"/>
            <a:ext cx="384048" cy="384048"/>
          </a:xfrm>
          <a:prstGeom prst="ellipse">
            <a:avLst/>
          </a:prstGeom>
          <a:solidFill>
            <a:srgbClr val="1E9E63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4293" y="5361493"/>
            <a:ext cx="176662" cy="17666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5303520" y="52120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助成金申請のサポート   煩雑な手続きを支援</a:t>
            </a:r>
            <a:endParaRPr lang="en-US" sz="1350" dirty="0"/>
          </a:p>
        </p:txBody>
      </p:sp>
      <p:sp>
        <p:nvSpPr>
          <p:cNvPr id="35" name="Text 27"/>
          <p:cNvSpPr/>
          <p:nvPr/>
        </p:nvSpPr>
        <p:spPr>
          <a:xfrm>
            <a:off x="548640" y="598932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※ 人材開発支援助成金「事業展開等リスキリング支援コース」。支給には所定の要件審査があり、金額は中小企業の例です。</a:t>
            </a:r>
            <a:endParaRPr lang="en-US" sz="1050" dirty="0"/>
          </a:p>
        </p:txBody>
      </p:sp>
      <p:sp>
        <p:nvSpPr>
          <p:cNvPr id="36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⑤ さらに広げる ｜ ポスティング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1枚6円〜。エリアを絞って、確実に届ける。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サイズ別 配布単価（1枚あたり・税抜）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4663440" cy="384048"/>
          </a:xfrm>
          <a:prstGeom prst="rect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2468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0" y="246888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配布単価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28529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A4 サイズ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291840" y="28529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6.0〜9.0円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22960" y="3310128"/>
            <a:ext cx="4663440" cy="457200"/>
          </a:xfrm>
          <a:prstGeom prst="rect">
            <a:avLst/>
          </a:prstGeom>
          <a:solidFill>
            <a:srgbClr val="F7F0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60120" y="33101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B4 サイズ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291840" y="33101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6.5〜9.5円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6012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A3 サイズ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291840" y="37673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7.5〜12.0円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822960" y="4224528"/>
            <a:ext cx="4663440" cy="457200"/>
          </a:xfrm>
          <a:prstGeom prst="rect">
            <a:avLst/>
          </a:prstGeom>
          <a:solidFill>
            <a:srgbClr val="F7F0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60120" y="4224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B3 サイズ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291840" y="42245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5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8.0〜12.5円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822960" y="49377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全国対応（47都道府県）／最低ロットはお見積りにて対応。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8932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配布方法（上記に加算）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989320" y="2240280"/>
            <a:ext cx="56509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72200" y="2359152"/>
            <a:ext cx="310896" cy="310896"/>
          </a:xfrm>
          <a:prstGeom prst="ellipse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6142" y="2443094"/>
            <a:ext cx="143012" cy="143012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629400" y="2240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戸建配布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601200" y="22402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＋3.0円〜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989320" y="2880360"/>
            <a:ext cx="56509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6172200" y="2999232"/>
            <a:ext cx="310896" cy="310896"/>
          </a:xfrm>
          <a:prstGeom prst="ellipse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6142" y="3083174"/>
            <a:ext cx="143012" cy="143012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6629400" y="28803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集合ポスト配布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9601200" y="28803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＋2.0円〜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5989320" y="3520440"/>
            <a:ext cx="56509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9"/>
          <p:cNvSpPr/>
          <p:nvPr/>
        </p:nvSpPr>
        <p:spPr>
          <a:xfrm>
            <a:off x="6172200" y="3639312"/>
            <a:ext cx="310896" cy="310896"/>
          </a:xfrm>
          <a:prstGeom prst="ellipse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56142" y="3723254"/>
            <a:ext cx="143012" cy="143012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629400" y="3520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事業所配布</a:t>
            </a:r>
            <a:endParaRPr lang="en-US" sz="1250" dirty="0"/>
          </a:p>
        </p:txBody>
      </p:sp>
      <p:sp>
        <p:nvSpPr>
          <p:cNvPr id="36" name="Text 31"/>
          <p:cNvSpPr/>
          <p:nvPr/>
        </p:nvSpPr>
        <p:spPr>
          <a:xfrm>
            <a:off x="9601200" y="35204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要相談</a:t>
            </a:r>
            <a:endParaRPr lang="en-US" sz="1300" dirty="0"/>
          </a:p>
        </p:txBody>
      </p:sp>
      <p:sp>
        <p:nvSpPr>
          <p:cNvPr id="37" name="Shape 32"/>
          <p:cNvSpPr/>
          <p:nvPr/>
        </p:nvSpPr>
        <p:spPr>
          <a:xfrm>
            <a:off x="5989320" y="4160520"/>
            <a:ext cx="5650992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3"/>
          <p:cNvSpPr/>
          <p:nvPr/>
        </p:nvSpPr>
        <p:spPr>
          <a:xfrm>
            <a:off x="6172200" y="4279392"/>
            <a:ext cx="310896" cy="310896"/>
          </a:xfrm>
          <a:prstGeom prst="ellipse">
            <a:avLst/>
          </a:prstGeom>
          <a:solidFill>
            <a:srgbClr val="B85C6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56142" y="4363334"/>
            <a:ext cx="143012" cy="143012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662940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折加工（B4以上）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9601200" y="41605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＋1.0円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5989320" y="4983480"/>
            <a:ext cx="5650992" cy="822960"/>
          </a:xfrm>
          <a:prstGeom prst="roundRect">
            <a:avLst>
              <a:gd name="adj" fmla="val 8889"/>
            </a:avLst>
          </a:prstGeom>
          <a:solidFill>
            <a:srgbClr val="F7F0F2"/>
          </a:solidFill>
          <a:ln w="12700">
            <a:solidFill>
              <a:srgbClr val="B85C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37"/>
          <p:cNvSpPr/>
          <p:nvPr/>
        </p:nvSpPr>
        <p:spPr>
          <a:xfrm>
            <a:off x="6263640" y="4983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B85C6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お見積りについて：</a:t>
            </a:r>
            <a:r>
              <a:rPr lang="en-US" sz="1150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サイズ・部数・エリア・配布方法で変動します。ターゲットに合わせた詳細なお見積りを別途ご用意します。</a:t>
            </a:r>
            <a:endParaRPr lang="en-US" sz="1150" dirty="0"/>
          </a:p>
        </p:txBody>
      </p:sp>
      <p:sp>
        <p:nvSpPr>
          <p:cNvPr id="44" name="Text 3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サービス一覧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6つのサービスと、費用の考え方</a:t>
            </a:r>
            <a:endParaRPr lang="en-US" sz="27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1672" cy="3822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44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サービス</a:t>
                      </a:r>
                      <a:endParaRPr lang="en-US" sz="13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役割</a:t>
                      </a:r>
                      <a:endParaRPr lang="en-US" sz="13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費用の目安</a:t>
                      </a:r>
                      <a:endParaRPr lang="en-US" sz="13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ポイント</a:t>
                      </a:r>
                      <a:endParaRPr lang="en-US" sz="13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1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EF8A17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HP制作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入口・無料プレゼント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無料（オンライン相談特典）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まずは御社の“顔”を無料で用意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2E6FD6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MEO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集客（Googleマップ）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月額 10,000〜49,800円（税抜）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地域検索で上位表示・口コミ改善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59AA6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SNSブランディング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信用づくり（SNS発信）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月額 62,500円〜（税抜）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社長・社員が見える動画／RAHA KENYA提供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9E63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FREE JOB（求人）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採用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月額 54,780円（税込）／報酬0円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最大20媒体へ一括掲載・一次受付代行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7A4B93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AI研修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育成（リスキリング）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研修費 300,300円/人〜（助成金活用可）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助成金で実質負担を圧縮／2027年3月末まで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B85C6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ポスティング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認知・集客（紙配布）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1枚 6.0円〜（税抜）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A38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チラシを戸別ポストへ・全国対応／詳細は別途見積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無料のHPプレゼント＋マップ診断を入口に、必要なものから一緒に。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私たちが、大切にしていること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売って終わりではなく、利益が出るまで一緒に。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ワンストップ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01168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コスト削減・集客・SNS・採用・認知を、窓口ひとつでまとめて相談できます。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81344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47104" y="2194560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4414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4384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地域密着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7644384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地域の中小企業の事情を理解した上で、身の丈に合った打ち手を提案します。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4187952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43484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成果ベースの伴走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2011680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提案して終わりにせず、数字を見ながら改善を続ける営業パートナーです。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81344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47104" y="4187952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43484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4384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リスクの低い入口</a:t>
            </a:r>
            <a:endParaRPr lang="en-US" sz="1700" dirty="0"/>
          </a:p>
        </p:txBody>
      </p:sp>
      <p:sp>
        <p:nvSpPr>
          <p:cNvPr id="24" name="Text 18"/>
          <p:cNvSpPr/>
          <p:nvPr/>
        </p:nvSpPr>
        <p:spPr>
          <a:xfrm>
            <a:off x="7644384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まずは無料のHPプレゼント＋マップ診断から。費用負担なく、試して広げられます。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18872" cy="566928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ご導入までの流れ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まずは無料診断から。売り込みはしません。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1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179576" y="2715768"/>
            <a:ext cx="822960" cy="82296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775" y="2937967"/>
            <a:ext cx="378562" cy="37856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6576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お問い合わせ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13232" y="4160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電話・メールでご連絡。現状の課題を伺います。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798064" y="2148840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798064" y="2350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2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429000" y="2715768"/>
            <a:ext cx="822960" cy="82296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1199" y="2937967"/>
            <a:ext cx="378562" cy="37856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889504" y="36576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無料診断・ヒアリング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62656" y="4160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Googleマップ・Web・採用の状況を、無料で診断。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047488" y="2148840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5047488" y="2350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3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5678424" y="2715768"/>
            <a:ext cx="822960" cy="82296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0623" y="2937967"/>
            <a:ext cx="378562" cy="37856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138928" y="36576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ご提案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5212080" y="4160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必要なサービスだけを、優先順位をつけてご提案。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7296912" y="2148840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7296912" y="2350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4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7927848" y="2715768"/>
            <a:ext cx="822960" cy="82296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0047" y="2937967"/>
            <a:ext cx="378562" cy="37856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88352" y="36576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ご契約・開始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7461504" y="4160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ご納得いただいた内容のみスタート。</a:t>
            </a:r>
            <a:endParaRPr lang="en-US" sz="1050" dirty="0"/>
          </a:p>
        </p:txBody>
      </p:sp>
      <p:sp>
        <p:nvSpPr>
          <p:cNvPr id="29" name="Shape 23"/>
          <p:cNvSpPr/>
          <p:nvPr/>
        </p:nvSpPr>
        <p:spPr>
          <a:xfrm>
            <a:off x="9546336" y="2148840"/>
            <a:ext cx="2084832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/>
          <p:nvPr/>
        </p:nvSpPr>
        <p:spPr>
          <a:xfrm>
            <a:off x="9546336" y="2350008"/>
            <a:ext cx="2084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STEP 5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10177272" y="2715768"/>
            <a:ext cx="822960" cy="82296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99471" y="2937967"/>
            <a:ext cx="378562" cy="37856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9637776" y="365760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伴走サポート</a:t>
            </a:r>
            <a:endParaRPr lang="en-US" sz="1350" dirty="0"/>
          </a:p>
        </p:txBody>
      </p:sp>
      <p:sp>
        <p:nvSpPr>
          <p:cNvPr id="34" name="Text 27"/>
          <p:cNvSpPr/>
          <p:nvPr/>
        </p:nvSpPr>
        <p:spPr>
          <a:xfrm>
            <a:off x="9710928" y="4160520"/>
            <a:ext cx="175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05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導入後も定期的に状況を確認し、改善を続けます。</a:t>
            </a:r>
            <a:endParaRPr lang="en-US" sz="1050" dirty="0"/>
          </a:p>
        </p:txBody>
      </p:sp>
      <p:sp>
        <p:nvSpPr>
          <p:cNvPr id="35" name="Text 2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1325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まずは、無料のHPプレゼントから。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2377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オンラインで少しお話を。御社のホームページを無料でおつくりし、そこから必要な打ち手を一緒に考えます。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10543032" cy="233172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22960" y="3291840"/>
            <a:ext cx="137160" cy="2331720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34440" y="352044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52728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地域の会社の、伴走パートナー。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252728" y="4572000"/>
            <a:ext cx="274320" cy="27432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6794" y="4646066"/>
            <a:ext cx="126187" cy="12618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645920" y="453542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14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TEL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070-8311-7053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252728" y="4919472"/>
            <a:ext cx="274320" cy="27432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6794" y="4993538"/>
            <a:ext cx="126187" cy="12618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45920" y="4882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14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MAIL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kawano@mirai-edit.com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252728" y="5266944"/>
            <a:ext cx="274320" cy="274320"/>
          </a:xfrm>
          <a:prstGeom prst="ellipse">
            <a:avLst/>
          </a:prstGeom>
          <a:solidFill>
            <a:srgbClr val="16314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6794" y="5341010"/>
            <a:ext cx="126187" cy="12618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523036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314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WEB  </a:t>
            </a: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https://tv-hospital.com/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7955280" y="3657600"/>
            <a:ext cx="3200400" cy="1600200"/>
          </a:xfrm>
          <a:prstGeom prst="rect">
            <a:avLst/>
          </a:prstGeom>
          <a:solidFill>
            <a:srgbClr val="F4F7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/>
          <p:nvPr/>
        </p:nvSpPr>
        <p:spPr>
          <a:xfrm>
            <a:off x="813816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担当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38160" y="4114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河野 邦彦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8138160" y="4617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070-8311-7053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中小企業を、元気に。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735093"/>
            <a:ext cx="118872" cy="566928"/>
          </a:xfrm>
          <a:prstGeom prst="rect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42935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F8A17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（ご参考）コストも気になる方へ ｜ エネパル電気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58952" y="768096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固定費も見直したい場合は、電気代の最適化も。品質・停電リスクはそのままです。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194560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288" y="2441448"/>
            <a:ext cx="420624" cy="4206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011680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品質も停電リスクも変わらない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2011680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送配電網は今までと同じ。電気の品質・安定供給はそのまま、料金プランだけを最適化します。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181344" y="1783080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547104" y="2194560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93992" y="2441448"/>
            <a:ext cx="420624" cy="4206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644384" y="20574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工事不要・切り替えはカンタン</a:t>
            </a:r>
            <a:endParaRPr lang="en-US" sz="1650" dirty="0"/>
          </a:p>
        </p:txBody>
      </p:sp>
      <p:sp>
        <p:nvSpPr>
          <p:cNvPr id="14" name="Text 10"/>
          <p:cNvSpPr/>
          <p:nvPr/>
        </p:nvSpPr>
        <p:spPr>
          <a:xfrm>
            <a:off x="7644384" y="256032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基本的に工事は不要。現在の検針票をご用意いただくだけで、お切り替えの手続きが進みます。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914400" y="4187952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1288" y="4434840"/>
            <a:ext cx="420624" cy="4206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011680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初期費用なし・無料で試算</a:t>
            </a:r>
            <a:endParaRPr lang="en-US" sz="1650" dirty="0"/>
          </a:p>
        </p:txBody>
      </p:sp>
      <p:sp>
        <p:nvSpPr>
          <p:cNvPr id="19" name="Text 14"/>
          <p:cNvSpPr/>
          <p:nvPr/>
        </p:nvSpPr>
        <p:spPr>
          <a:xfrm>
            <a:off x="2011680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導入の初期費用はなし。まずは無料診断で、どれだけ下げられるかの試算からスタートできます。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181344" y="3776472"/>
            <a:ext cx="54406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blurRad="114300" dist="38100" dir="5400000" algn="bl" rotWithShape="0">
              <a:srgbClr val="8696A8">
                <a:alpha val="2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547104" y="4187952"/>
            <a:ext cx="914400" cy="914400"/>
          </a:xfrm>
          <a:prstGeom prst="ellipse">
            <a:avLst/>
          </a:prstGeom>
          <a:solidFill>
            <a:srgbClr val="EF8A1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4434840"/>
            <a:ext cx="420624" cy="4206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644384" y="405079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A38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補助金・設備のサポートも</a:t>
            </a:r>
            <a:endParaRPr lang="en-US" sz="1650" dirty="0"/>
          </a:p>
        </p:txBody>
      </p:sp>
      <p:sp>
        <p:nvSpPr>
          <p:cNvPr id="24" name="Text 18"/>
          <p:cNvSpPr/>
          <p:nvPr/>
        </p:nvSpPr>
        <p:spPr>
          <a:xfrm>
            <a:off x="7644384" y="4553712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電気だけでなく、補助金活用やオフィス・店舗のメンテナンスまで、コスト面を幅広く支援します。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株式会社みらい編集  ｜  中小企業を元気にする経営パートナー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18585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78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1608</Words>
  <Application>Microsoft Macintosh PowerPoint</Application>
  <PresentationFormat>Widescreen</PresentationFormat>
  <Paragraphs>403</Paragraphs>
  <Slides>21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Hiragino Kaku Gothic ProN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みらい編集 サービスのご案内</dc:title>
  <dc:subject>PptxGenJS Presentation</dc:subject>
  <dc:creator>株式会社みらい編集</dc:creator>
  <cp:lastModifiedBy>kawano kunihiko</cp:lastModifiedBy>
  <cp:revision>5</cp:revision>
  <dcterms:created xsi:type="dcterms:W3CDTF">2026-06-19T02:12:42Z</dcterms:created>
  <dcterms:modified xsi:type="dcterms:W3CDTF">2026-07-01T15:51:18Z</dcterms:modified>
</cp:coreProperties>
</file>