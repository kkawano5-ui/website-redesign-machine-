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592328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5415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28800"/>
            <a:ext cx="502920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研修で終わらせない。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“現場が変わる”</a:t>
            </a: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77639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中小企業の経営者さまへ。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助成金を活用し、受講後に“あの業務が実際に変わっている”状態まで設計してお渡しする、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実践型の法人向け生成AI研修のご提案です。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◯◯◯◯株式会社 御中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592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2026年6月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01 / 24   表紙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いま、中小企業で起きていること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先進的な大企業ではなく、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御社と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同じ規模・業種の“普通の会社”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が、もう毎日。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「AIはまだ一部の進んだ会社の話」——その前提は、すでに変わりました。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建設・運送・製造・介護・士業・ホテル…あらゆる業種の中小企業が、日常業務で使い始めています。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290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導入企業の業種の広がり ── 御社に近い会社が、必ずこの中にいます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79476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9476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建設・不動産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2264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2264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運輸・物流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1548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1548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製造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45636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5636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福祉・介護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商社・小売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4204" y="379476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4204" y="379476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ホテル・サービス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8684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8684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医療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2772" y="3794760"/>
            <a:ext cx="126644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2772" y="3794760"/>
            <a:ext cx="126644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士業・コンサル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IT・通信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2976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9768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北海道〜九州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754880"/>
            <a:ext cx="10509504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8" y="4901184"/>
            <a:ext cx="977798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実際には、</a:t>
            </a:r>
            <a:r>
              <a:rPr sz="14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数名〜数十名規模の会社</a:t>
            </a: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から始めるケースも多く、特別な準備がなくても始められます。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02 / 24   現状認識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1440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“教える”だけでなく“成果を出す”研修を、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数多くの企業・経営者に。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200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社超</a:t>
            </a:r>
          </a:p>
        </p:txBody>
      </p:sp>
      <p:sp>
        <p:nvSpPr>
          <p:cNvPr id="8" name="Rectangle 7"/>
          <p:cNvSpPr/>
          <p:nvPr/>
        </p:nvSpPr>
        <p:spPr>
          <a:xfrm>
            <a:off x="1639824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7040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7040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150,000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5616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7040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のべセミナー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参加者数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832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2832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15,000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1408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2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AI学習コミュニティ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会員数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4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3,000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8624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経営者が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研修・セミナー受講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24416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4416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700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本超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22992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4416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自社制作の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AI動画教材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80060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中小企業から上場企業まで、全国・全業種で導入。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御社と同じ規模の会社が、すでに数多く動いています。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03 / 24   実績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最初によくいただくお声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最初は、皆さま同じご不安からスタートします。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同じような会社も、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無理なく始めています。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648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「うちはまだ早い」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数名〜数十名規模の会社から始める例も多くあります。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880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4280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800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「もう乗り遅れた」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まだ“触り始め”の会社が多く、今からでも十分に間に合います。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648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「うちの業界は特殊」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同じ業界の会社でも、共通して使える場面は数多くあります。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880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4280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「高齢の社員が多くて無理」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幅広い年代の方に、ご好評をいただいています。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04 / 24   現状認識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投資判断をためらう、最大の理由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研修しても、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結局、</a:t>
            </a:r>
            <a:r>
              <a:rPr sz="36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誰も使わない。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8752" y="21488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AI導入をためらう最大の理由は、費用でも難しさでもなく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「お金をかけても、現場が元に戻る」という不安です。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/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私たちが最初に解くのも、この“定着しない”問題。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だから、研修の設計思想そのものが違います。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05 / 24   本当の課題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多くの会社がぶつかる壁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本当の課題は「ツールを入れること」ではなく、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現場で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“使われ続けるか”＝定着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各自バラバラに触っているだけ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個人で使えても、業務に落とし込めず、社内で活用が揃わない。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0176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0176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導入しても、一部の人しか使わない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ツールを配ることと、現場で使われ続けることは別問題。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4784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4784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研修しても、元の業務に戻る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「なるほど」で終わり、翌週には以前のやり方に戻ってしまう。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06 / 24   課題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御社の現場で起きていること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毎月、こうした業務に“静かに”時間が溶けています。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導入企業で実際に圧縮できた定型業務の例です（中小企業の現場での実測）。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安全書類・取引先ごとの書類作成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5800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25時間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0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顧客への月次レポート作成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9152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24時間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24600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提案・プレゼン資料の作成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800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15時間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0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会議の議事録作成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9152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24600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シフト・配置表の作成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800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24600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日報・現場報告の清書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9152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24600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41248" y="489204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こうした「なくならないけれど価値を生まない時間」を、AIに任せられる形にしていきます。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07 / 24   課題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私たちが売っているもの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売るのは“研修”ではなく、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“業務が変わった状態”。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0192" y="2194560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「使い方を教える研修」なら世の中に数多くあります。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私たちが大切にするのは、研修後に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“あの業務が実際に変わっている”状態まで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持っていくこと。題材も御社の実業務そのものを使います。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08 / 24   提供価値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一般的なAI研修との違い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「知っている」で終わらせず、</a:t>
            </a:r>
            <a:r>
              <a:rPr sz="29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「使えている」まで。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9202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一般的なAI研修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9128" y="1920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弊社の実践型研修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230428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10528" y="2377440"/>
            <a:ext cx="4800600" cy="3145536"/>
          </a:xfrm>
          <a:prstGeom prst="roundRect">
            <a:avLst>
              <a:gd name="adj" fmla="val 4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52374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505456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座学・講義型のインプット／e-Learning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250545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実務課題をその場で解く実践ワークショップ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3101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教材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329184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汎用サンプル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918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御社の実業務（マスキング）を題材化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409651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成果物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078224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ノート・受講証明書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07822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参加者の数だけ“業務改善AI”が完成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473659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4882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研修後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4864608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時間が経つと元の業務に戻る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486460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3ヶ月伴走し、社内でPDCAを自走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09 / 24   一般研修との違い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弊社が選ばれる3つの理由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「定着」を、設計に組み込んでいます。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33856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定着まで設計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座学で終わらせず、受講者の実業務をその場で題材に。研修後の運用まで伴走し、“使われ続ける状態”を作ります。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5856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8464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8464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8464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事業を作ってきた人間が設計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8464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研修専業ではなく、実際に事業を立ち上げてきたメンバーが、現場業務とROIの視点で設計します。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64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3072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3072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3072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効果の見える化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3072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受講前後で「この業務が何分→何分」を測定。経営に報告できる形で成果を残します。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 / 24   選ばれる理由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信頼の裏づけ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研修屋ではなく、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AIの専門性と事業の両方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を持つチーム。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4754880" cy="27432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1031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542032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「AIで、人を、社会を、未来を変える。」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1089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31089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47472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設立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7128" y="34747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2024年12月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8404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3840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東京都渋谷区神南1-11-4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2062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事業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4206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AI活用支援／教育／コミュニティ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1920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研修プログラム監修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221284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鈴木 章央</a:t>
            </a: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  Suzuki Akihiro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8346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国立大学大学院でAIを研究し、修士・博士号を取得。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2017年にAI企業を創業し、開発・技術顧問・教育を展開。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企業のAI導入支援を多数手がけ、AI講座の講師歴は5年。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1888" y="40690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4069080"/>
            <a:ext cx="169164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AI研究 修士・博士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99832" y="4069080"/>
            <a:ext cx="183337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9832" y="4069080"/>
            <a:ext cx="183337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AI受託開発・技術顧問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79508" y="406908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79508" y="406908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講師歴5年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11 / 24   信頼の裏づけ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「また使われないのでは」への答え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自分でAIを作って回し始める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「どうせ定着しない」は、皆さん最初に必ず言われます。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私たちが最も力を入れているのが、この“その後”です。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87274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8346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受講者が自らGPTs等を作成し、研修後も“自走”する状態まで設計。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42138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33832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配って終わりにせず、部署横断で日常的に使われる状態へ。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97002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39319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「この業務が何分→何分」を測り、成果を組織に残す。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7392" y="182880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3152" y="2240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配って終わり、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ではありません。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3152" y="3429000"/>
            <a:ext cx="33375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農機販売や建設の会社でも、受講者が自分でAIを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作り、研修後も現場で使い続けています。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12 / 24   定着の証明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導入企業の成果（実測）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“浮いた時間”が、受講料を回収します。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建設業・51名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安全書類の作成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25h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10h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月15時間削減・60%減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元請けごとに異なる書類をAIが8割作成。議事録も10h→3hに。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5856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0176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会計事務所・7名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0176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顧客への月次レポート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0176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12h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10176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0176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月12時間削減・50%減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0176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データ統合〜文面作成を定型化。海外向け提案資料も15h→5h。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0464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784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ホテル・50名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784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シフト作成業務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784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5h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4784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4784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月5時間削減・50%減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4784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属人化していた作成を仕組み化。メニュー案作成も10h→6h。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983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※ いずれも受講後アンケート・実測値。御社に近い業種・規模の実例をご用意できます。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13 / 24   導入事例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研修カリキュラム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全12時間（2時間×6回）。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すべて実務に直結。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002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講義時間の多くを演習・ワークに充てるハンズオン構成。各回で“その場で動くもの”を作ります。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148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テーマ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主なワーク（実技）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" y="244144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1248" y="262432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62432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生成AIの基礎とプロンプト設計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6243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出力比較／業務プロンプト作成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309981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19125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19125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表計算 × AIによる業務効率化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1912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コードによる自動化／データ整形・転記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66674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75818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758184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データ分析 &amp; レポート・資料作成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75818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レポート作成／スライド生成AI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3367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251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画像生成・音声入力 × AI活用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43251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業務用ラフ案生成／短尺PR動画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00600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892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GPTs構築・ナレッジ活用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48920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社内資料のQ&amp;A化／RAG型質問応答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3675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4589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4589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全体振り返りと PoC プランニング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5458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自社業務への適用設計／PoC決定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93445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14 / 24   研修の中身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お渡しして終わりにしない、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約半年の伴走。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07008" y="2697480"/>
            <a:ext cx="9686544" cy="0"/>
          </a:xfrm>
          <a:prstGeom prst="bentConnector3">
            <a:avLst/>
          </a:prstGeom>
          <a:ln w="1778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41248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事前ヒアリング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業務・課題を把握し、効く領域を見立てる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8624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8624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8624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専用カリキュラム作成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8624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御社の実業務を題材に内容を設計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0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研修の実施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全12時間。オンライン中心、対面も可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3376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3376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3ヶ月の定着フォロー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運用に伴走し、効果を測定・見える化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6344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最低5名から（雇用保険加入者）。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経営者・役員1名は無料でご招待します（5名以上のお申込み時）。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15 / 24   進め方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助成金の活用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国の助成金で、研修費の負担を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大きく抑えられます。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459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人材開発支援助成金「事業展開等リスキリング支援コース」。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雇用保険の適用事業所が対象で、要件を満たした訓練が助成対象になります。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75</a:t>
            </a:r>
            <a:r>
              <a:rPr sz="2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880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（参考）大企業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60</a:t>
            </a:r>
            <a:r>
              <a:rPr sz="22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832" y="1645920"/>
            <a:ext cx="3931920" cy="2697480"/>
          </a:xfrm>
          <a:prstGeom prst="roundRect">
            <a:avLst>
              <a:gd name="adj" fmla="val 5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11440" y="1958340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7472" y="19202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訓練経費に加え、訓練中の賃金も助成対象（時間に応じ加算）。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1440" y="2671572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7472" y="263347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申請は実績豊富な提携社労士法人が代行。御社の手間は最小限に。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1440" y="3384804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67472" y="334670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弊社は社労士の紹介料を一切いただきません。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助成額・助成率は企業区分・年度・申請内容により異なり、労働局の審査・支給決定が必要です。受給を保証するものではありません。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16 / 24   助成金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受講料と、助成金活用時の負担イメージ。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031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B2230"/>
                </a:solidFill>
                <a:latin typeface="Arial"/>
                <a:ea typeface="游ゴシック"/>
                <a:cs typeface="游ゴシック"/>
              </a:rPr>
              <a:t>¥300,300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/ 人（税込）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429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全12時間（2h×6回）＋ 研修後3ヶ月のフォローアップ込み。最低5名から。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16168" y="2103120"/>
            <a:ext cx="4983480" cy="182880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2377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助成金を活用した場合の自己負担イメージ（中小企業）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761488"/>
            <a:ext cx="438912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約 ¥98,675</a:t>
            </a:r>
            <a:r>
              <a:rPr sz="14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 /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34747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社労士費用込みの目安（要件を満たし支給決定を受けた場合）。経営者1名は無料招待。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160520"/>
            <a:ext cx="10509504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浮いた時間で回収できる投資です。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月15時間かかっていた業務が半分になれば、年間で約90時間を本来の業務に戻せます。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8006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上記は一例の目安です。受給可否・金額は要件充足と労働局の審査・支給決定によります。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17 / 24   費用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なぜ“今”か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差がつくのは、ツールの新しさではなく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土台を作った時期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”です。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5568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取引先・元請けの先行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取引先が先にAI化すると、対応の差がそのまま受注の差に。「追いつくのは“いつか”でなく今」です。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0176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0176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複利で開く差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AIは走りながら育てるもの。早く始めた会社ほど、社内にノウハウが蓄積していきます。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4784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4784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助成金の活用に期限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活用の好機には期限があり、準備にも時間を要します。検討は早いほど有利です。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18 / 24   今、始める理由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完璧を待たず、まず始める。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最高のスタートを、今。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1529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4114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研修して終わりにせず、“現場が変わる”まで設計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6101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" y="45720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受講前後で効果を測り、経営に見える形で残す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0673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144" y="5029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助成金の活用で、投資負担を抑えて始められる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19 / 24   まとめ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ご導入までの流れ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21031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無料相談・デモ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057400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御社の業務に合わせた活用イメージをご覧いただきます。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09928" y="2761488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" y="2898648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98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9443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活用設計・効果試算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898648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どの業務から始めると効くか、ROIを一緒に試算します。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09928" y="3602736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3739896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7398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37856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お申込み・助成金申請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3739896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提携社労士が申請を代行。計画申請から伴走します。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09928" y="4443984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1248" y="4581144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58114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9928" y="462686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研修開始・定着支援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581144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専用カリキュラムで研修を実施し、3ヶ月伴走します。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20 / 24   次のステップ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848360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79756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お気軽にご相談ください。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ご質問・無料デモのご希望など、御社に合わせた進め方をご提案します。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会社名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37490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062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42062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6634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6634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東京都渋谷区神南1-11-4 FPGリンクス神南 5階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1206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事業内容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51206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AI活用サポート事業／教育事業／コミュニティ事業／SNS事業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21 / 24   お問い合わせ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651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1752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付録：詳細資料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404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料金の内訳・よくあるご質問。商談に合わせて必要なページのみご参照ください。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22 / 24   付録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料金の内訳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助成金活用時の自己負担イメージ（中小企業・1人あたり・目安）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1920240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21762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21396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¥300,300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267004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281635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訓練経費の助成（最大75%）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77977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−¥225,225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3101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45643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賃金助成（訓練時間に応じ）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341985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−¥12,000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4096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社労士費用（助成額の約15%）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405993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＋¥35,600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459028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8" y="4544568"/>
            <a:ext cx="10692384" cy="640080"/>
          </a:xfrm>
          <a:prstGeom prst="roundRect">
            <a:avLst>
              <a:gd name="adj" fmla="val 1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7365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自己負担イメージ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47000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約 ¥98,675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394960"/>
            <a:ext cx="10509504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経費助成は訓練時間10〜100時間で上限30万円/人。動画教材を用いた研修は賃金助成の対象外。金額・助成率は企業区分・年度・申請内容により変動し、労働局の審査・支給決定が必要です（受給を保証するものではありません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23 / 24   付録｜料金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オンラインですか、対面ですか？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最低5名以上で基本オンライン。10名以上なら対面も可能です（交通費別途）。アーカイブ視聴も可。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320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研修期間はどのくらい？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320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全12時間（2h×6回が中心）。1ヶ月集中も2〜3ヶ月も、御社の状況に合わせて調整します。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社員のITリテラシーが不安です。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20〜60代の全世代で好評をいただいています。実業務を題材にするため「自分の仕事でどう使うか」がつかめます。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個人情報は使って大丈夫？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実データはマスキングしたサンプルを使用。実業務に近い形で安全に演習できます。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すでに他社研修を受けています。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内容が異なれば助成金は複数回の活用が可能な場合があります。一度内容をご確認ください。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申請が難しそうです。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提携社労士が代行。対象判定から書類準備まで支援します（弊社の紹介料なし）。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 / 24   付録｜FAQ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