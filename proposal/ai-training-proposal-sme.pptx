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42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iamond 2"/>
          <p:cNvSpPr/>
          <p:nvPr/>
        </p:nvSpPr>
        <p:spPr>
          <a:xfrm>
            <a:off x="841248" y="592328"/>
            <a:ext cx="182880" cy="182880"/>
          </a:xfrm>
          <a:prstGeom prst="diamond">
            <a:avLst/>
          </a:prstGeom>
          <a:solidFill>
            <a:srgbClr val="D8E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33856" y="541528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Yu Gothic"/>
                <a:ea typeface="游ゴシック"/>
                <a:cs typeface="游ゴシック"/>
              </a:rPr>
              <a:t>AIスキル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828800"/>
            <a:ext cx="502920" cy="38100"/>
          </a:xfrm>
          <a:prstGeom prst="rect">
            <a:avLst/>
          </a:prstGeom>
          <a:solidFill>
            <a:srgbClr val="B48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2103120"/>
            <a:ext cx="10058400" cy="18288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FFFFFF"/>
                </a:solidFill>
                <a:latin typeface="Yu Gothic"/>
                <a:ea typeface="游ゴシック"/>
                <a:cs typeface="游ゴシック"/>
              </a:rPr>
              <a:t>研修で終わらせない。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D8E2F2"/>
                </a:solidFill>
                <a:latin typeface="Yu Gothic"/>
                <a:ea typeface="游ゴシック"/>
                <a:cs typeface="游ゴシック"/>
              </a:rPr>
              <a:t>“現場が変わる”</a:t>
            </a:r>
            <a:r>
              <a:rPr sz="4400" b="1" i="0">
                <a:solidFill>
                  <a:srgbClr val="FFFFFF"/>
                </a:solidFill>
                <a:latin typeface="Yu Gothic"/>
                <a:ea typeface="游ゴシック"/>
                <a:cs typeface="游ゴシック"/>
              </a:rPr>
              <a:t>まで。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3977639"/>
            <a:ext cx="9692640" cy="12801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D8E2F2"/>
                </a:solidFill>
                <a:latin typeface="Yu Gothic"/>
                <a:ea typeface="游ゴシック"/>
                <a:cs typeface="游ゴシック"/>
              </a:rPr>
              <a:t>中小企業の経営者さまへ。</a:t>
            </a:r>
          </a:p>
          <a:p>
            <a:pPr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D8E2F2"/>
                </a:solidFill>
                <a:latin typeface="Yu Gothic"/>
                <a:ea typeface="游ゴシック"/>
                <a:cs typeface="游ゴシック"/>
              </a:rPr>
              <a:t>助成金を活用し、受講後に“あの業務が実際に変わっている”状態まで設計してお渡しする、</a:t>
            </a:r>
          </a:p>
          <a:p>
            <a:pPr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D8E2F2"/>
                </a:solidFill>
                <a:latin typeface="Yu Gothic"/>
                <a:ea typeface="游ゴシック"/>
                <a:cs typeface="游ゴシック"/>
              </a:rPr>
              <a:t>実践型の法人向け生成AI研修のご提案です。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544068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FA3C6"/>
                </a:solidFill>
                <a:latin typeface="Yu Gothic"/>
                <a:ea typeface="游ゴシック"/>
                <a:cs typeface="游ゴシック"/>
              </a:rPr>
              <a:t>ご提案先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5696712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Yu Gothic"/>
                <a:ea typeface="游ゴシック"/>
                <a:cs typeface="游ゴシック"/>
              </a:rPr>
              <a:t>◯◯◯◯株式会社 御中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95928" y="544068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FA3C6"/>
                </a:solidFill>
                <a:latin typeface="Yu Gothic"/>
                <a:ea typeface="游ゴシック"/>
                <a:cs typeface="游ゴシック"/>
              </a:rPr>
              <a:t>ご提案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95928" y="5696712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Yu Gothic"/>
                <a:ea typeface="游ゴシック"/>
                <a:cs typeface="游ゴシック"/>
              </a:rPr>
              <a:t>株式会社AIスキル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50608" y="544068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FA3C6"/>
                </a:solidFill>
                <a:latin typeface="Yu Gothic"/>
                <a:ea typeface="游ゴシック"/>
                <a:cs typeface="游ゴシック"/>
              </a:rPr>
              <a:t>ご提案日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50608" y="5696712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Yu Gothic"/>
                <a:ea typeface="游ゴシック"/>
                <a:cs typeface="游ゴシック"/>
              </a:rPr>
              <a:t>2026年6月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1248" y="6488176"/>
            <a:ext cx="100584" cy="100584"/>
          </a:xfrm>
          <a:prstGeom prst="rect">
            <a:avLst/>
          </a:prstGeom>
          <a:solidFill>
            <a:srgbClr val="D8E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4128" y="6437376"/>
            <a:ext cx="3657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Yu Gothic"/>
                <a:ea typeface="游ゴシック"/>
                <a:cs typeface="游ゴシック"/>
              </a:rPr>
              <a:t>株式会社AIスキル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93152" y="6437376"/>
            <a:ext cx="3657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AFBCD4"/>
                </a:solidFill>
                <a:latin typeface="Arial"/>
                <a:ea typeface="游ゴシック"/>
                <a:cs typeface="游ゴシック"/>
              </a:rPr>
              <a:t>01 / 25   表紙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1248" y="643128"/>
            <a:ext cx="274320" cy="27940"/>
          </a:xfrm>
          <a:prstGeom prst="rect">
            <a:avLst/>
          </a:prstGeom>
          <a:solidFill>
            <a:srgbClr val="2A5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25296" y="566928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2A5ACC"/>
                </a:solidFill>
                <a:latin typeface="Yu Gothic"/>
                <a:ea typeface="游ゴシック"/>
                <a:cs typeface="游ゴシック"/>
              </a:rPr>
              <a:t>ごあいさつ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932688"/>
            <a:ext cx="10509504" cy="1463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はじめに、私たちについて少しだけ。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1783080"/>
            <a:ext cx="6766560" cy="1463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8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株式会社AIスキルは、最先端のAIスキルを体系的・実践的に学べる</a:t>
            </a:r>
          </a:p>
          <a:p>
            <a:pPr algn="l">
              <a:lnSpc>
                <a:spcPct val="18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教育環境を提供する会社です。AIの「導入」から「運用・定着」までを</a:t>
            </a:r>
          </a:p>
          <a:p>
            <a:pPr algn="l">
              <a:lnSpc>
                <a:spcPct val="18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一貫して支援し、“使いこなせる人材”を育てることを大切にしています。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361188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 spc="80">
                <a:solidFill>
                  <a:srgbClr val="767C87"/>
                </a:solidFill>
                <a:latin typeface="Yu Gothic"/>
                <a:ea typeface="游ゴシック"/>
                <a:cs typeface="游ゴシック"/>
              </a:rPr>
              <a:t>提供サービス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1248" y="3950208"/>
            <a:ext cx="1691640" cy="384048"/>
          </a:xfrm>
          <a:prstGeom prst="roundRect">
            <a:avLst>
              <a:gd name="adj" fmla="val 50000"/>
            </a:avLst>
          </a:prstGeom>
          <a:solidFill>
            <a:srgbClr val="ECF1FA"/>
          </a:solidFill>
          <a:ln w="12700">
            <a:solidFill>
              <a:srgbClr val="DDE6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3950208"/>
            <a:ext cx="1691640" cy="38404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D3B6E"/>
                </a:solidFill>
                <a:latin typeface="Yu Gothic"/>
                <a:ea typeface="游ゴシック"/>
                <a:cs typeface="游ゴシック"/>
              </a:rPr>
              <a:t>AI活用サポート事業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79192" y="3950208"/>
            <a:ext cx="841247" cy="384048"/>
          </a:xfrm>
          <a:prstGeom prst="roundRect">
            <a:avLst>
              <a:gd name="adj" fmla="val 50000"/>
            </a:avLst>
          </a:prstGeom>
          <a:solidFill>
            <a:srgbClr val="ECF1FA"/>
          </a:solidFill>
          <a:ln w="12700">
            <a:solidFill>
              <a:srgbClr val="DDE6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79192" y="3950208"/>
            <a:ext cx="841247" cy="38404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D3B6E"/>
                </a:solidFill>
                <a:latin typeface="Yu Gothic"/>
                <a:ea typeface="游ゴシック"/>
                <a:cs typeface="游ゴシック"/>
              </a:rPr>
              <a:t>教育事業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66743" y="3950208"/>
            <a:ext cx="1408176" cy="384048"/>
          </a:xfrm>
          <a:prstGeom prst="roundRect">
            <a:avLst>
              <a:gd name="adj" fmla="val 50000"/>
            </a:avLst>
          </a:prstGeom>
          <a:solidFill>
            <a:srgbClr val="ECF1FA"/>
          </a:solidFill>
          <a:ln w="12700">
            <a:solidFill>
              <a:srgbClr val="DDE6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66743" y="3950208"/>
            <a:ext cx="1408176" cy="38404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D3B6E"/>
                </a:solidFill>
                <a:latin typeface="Yu Gothic"/>
                <a:ea typeface="游ゴシック"/>
                <a:cs typeface="游ゴシック"/>
              </a:rPr>
              <a:t>コミュニティ事業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221223" y="3950208"/>
            <a:ext cx="982980" cy="384048"/>
          </a:xfrm>
          <a:prstGeom prst="roundRect">
            <a:avLst>
              <a:gd name="adj" fmla="val 50000"/>
            </a:avLst>
          </a:prstGeom>
          <a:solidFill>
            <a:srgbClr val="ECF1FA"/>
          </a:solidFill>
          <a:ln w="12700">
            <a:solidFill>
              <a:srgbClr val="DDE6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21223" y="3950208"/>
            <a:ext cx="982980" cy="38404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D3B6E"/>
                </a:solidFill>
                <a:latin typeface="Yu Gothic"/>
                <a:ea typeface="游ゴシック"/>
                <a:cs typeface="游ゴシック"/>
              </a:rPr>
              <a:t>SNS事業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67472" y="1783080"/>
            <a:ext cx="3383280" cy="246888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60080" y="1993392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D3B6E"/>
                </a:solidFill>
                <a:latin typeface="Yu Gothic"/>
                <a:ea typeface="游ゴシック"/>
                <a:cs typeface="游ゴシック"/>
              </a:rPr>
              <a:t>「AIで、人を、社会を、未来を変える。」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60080" y="2542032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67C87"/>
                </a:solidFill>
                <a:latin typeface="Yu Gothic"/>
                <a:ea typeface="游ゴシック"/>
                <a:cs typeface="游ゴシック"/>
              </a:rPr>
              <a:t>会社名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10472" y="2542032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株式会社AIスキル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60080" y="2971800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67C87"/>
                </a:solidFill>
                <a:latin typeface="Yu Gothic"/>
                <a:ea typeface="游ゴシック"/>
                <a:cs typeface="游ゴシック"/>
              </a:rPr>
              <a:t>代表者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10472" y="2971800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立石 亮介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60080" y="3401568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67C87"/>
                </a:solidFill>
                <a:latin typeface="Yu Gothic"/>
                <a:ea typeface="游ゴシック"/>
                <a:cs typeface="游ゴシック"/>
              </a:rPr>
              <a:t>設立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10472" y="3401568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2024年12月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60080" y="3831336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67C87"/>
                </a:solidFill>
                <a:latin typeface="Yu Gothic"/>
                <a:ea typeface="游ゴシック"/>
                <a:cs typeface="游ゴシック"/>
              </a:rPr>
              <a:t>所在地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10472" y="3831336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東京都渋谷区神南1-11-4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41248" y="6488176"/>
            <a:ext cx="100584" cy="100584"/>
          </a:xfrm>
          <a:prstGeom prst="rect">
            <a:avLst/>
          </a:prstGeom>
          <a:solidFill>
            <a:srgbClr val="2A5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24128" y="6437376"/>
            <a:ext cx="3657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株式会社AIスキル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93152" y="6437376"/>
            <a:ext cx="3657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67C87"/>
                </a:solidFill>
                <a:latin typeface="Arial"/>
                <a:ea typeface="游ゴシック"/>
                <a:cs typeface="游ゴシック"/>
              </a:rPr>
              <a:t>02 / 25   ごあいさつ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1248" y="643128"/>
            <a:ext cx="274320" cy="27940"/>
          </a:xfrm>
          <a:prstGeom prst="rect">
            <a:avLst/>
          </a:prstGeom>
          <a:solidFill>
            <a:srgbClr val="2A5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25296" y="566928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2A5ACC"/>
                </a:solidFill>
                <a:latin typeface="Yu Gothic"/>
                <a:ea typeface="游ゴシック"/>
                <a:cs typeface="游ゴシック"/>
              </a:rPr>
              <a:t>いま、中小企業で起きていること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932688"/>
            <a:ext cx="10509504" cy="1463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先進的な大企業ではなく、</a:t>
            </a:r>
          </a:p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御社と</a:t>
            </a:r>
            <a:r>
              <a:rPr sz="2800" b="1" i="0">
                <a:solidFill>
                  <a:srgbClr val="2A5ACC"/>
                </a:solidFill>
                <a:latin typeface="Yu Gothic"/>
                <a:ea typeface="游ゴシック"/>
                <a:cs typeface="游ゴシック"/>
              </a:rPr>
              <a:t>同じ規模・業種の“普通の会社”</a:t>
            </a:r>
            <a:r>
              <a:rPr sz="280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が、もう毎日。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240280"/>
            <a:ext cx="9692640" cy="822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7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「AIはまだ一部の進んだ会社の話」——その前提は、すでに変わりました。</a:t>
            </a:r>
          </a:p>
          <a:p>
            <a:pPr algn="l">
              <a:lnSpc>
                <a:spcPct val="17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建設・運送・製造・介護・士業・ホテル…あらゆる業種の中小企業が、日常業務で使い始めています。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342900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67C87"/>
                </a:solidFill>
                <a:latin typeface="Yu Gothic"/>
                <a:ea typeface="游ゴシック"/>
                <a:cs typeface="游ゴシック"/>
              </a:rPr>
              <a:t>導入企業の業種の広がり ── 御社に近い会社が、必ずこの中にいます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1248" y="3794760"/>
            <a:ext cx="1124712" cy="384048"/>
          </a:xfrm>
          <a:prstGeom prst="roundRect">
            <a:avLst>
              <a:gd name="adj" fmla="val 50000"/>
            </a:avLst>
          </a:prstGeom>
          <a:solidFill>
            <a:srgbClr val="ECF1FA"/>
          </a:solidFill>
          <a:ln w="12700">
            <a:solidFill>
              <a:srgbClr val="DDE6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3794760"/>
            <a:ext cx="1124712" cy="38404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D3B6E"/>
                </a:solidFill>
                <a:latin typeface="Yu Gothic"/>
                <a:ea typeface="游ゴシック"/>
                <a:cs typeface="游ゴシック"/>
              </a:rPr>
              <a:t>建設・不動産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12264" y="3794760"/>
            <a:ext cx="982980" cy="384048"/>
          </a:xfrm>
          <a:prstGeom prst="roundRect">
            <a:avLst>
              <a:gd name="adj" fmla="val 50000"/>
            </a:avLst>
          </a:prstGeom>
          <a:solidFill>
            <a:srgbClr val="ECF1FA"/>
          </a:solidFill>
          <a:ln w="12700">
            <a:solidFill>
              <a:srgbClr val="DDE6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12264" y="3794760"/>
            <a:ext cx="982980" cy="38404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D3B6E"/>
                </a:solidFill>
                <a:latin typeface="Yu Gothic"/>
                <a:ea typeface="游ゴシック"/>
                <a:cs typeface="游ゴシック"/>
              </a:rPr>
              <a:t>運輸・物流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41548" y="3794760"/>
            <a:ext cx="557784" cy="384048"/>
          </a:xfrm>
          <a:prstGeom prst="roundRect">
            <a:avLst>
              <a:gd name="adj" fmla="val 50000"/>
            </a:avLst>
          </a:prstGeom>
          <a:solidFill>
            <a:srgbClr val="ECF1FA"/>
          </a:solidFill>
          <a:ln w="12700">
            <a:solidFill>
              <a:srgbClr val="DDE6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41548" y="3794760"/>
            <a:ext cx="557784" cy="38404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D3B6E"/>
                </a:solidFill>
                <a:latin typeface="Yu Gothic"/>
                <a:ea typeface="游ゴシック"/>
                <a:cs typeface="游ゴシック"/>
              </a:rPr>
              <a:t>製造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945636" y="3794760"/>
            <a:ext cx="982980" cy="384048"/>
          </a:xfrm>
          <a:prstGeom prst="roundRect">
            <a:avLst>
              <a:gd name="adj" fmla="val 50000"/>
            </a:avLst>
          </a:prstGeom>
          <a:solidFill>
            <a:srgbClr val="ECF1FA"/>
          </a:solidFill>
          <a:ln w="12700">
            <a:solidFill>
              <a:srgbClr val="DDE6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45636" y="3794760"/>
            <a:ext cx="982980" cy="38404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D3B6E"/>
                </a:solidFill>
                <a:latin typeface="Yu Gothic"/>
                <a:ea typeface="游ゴシック"/>
                <a:cs typeface="游ゴシック"/>
              </a:rPr>
              <a:t>福祉・介護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74920" y="3794760"/>
            <a:ext cx="982980" cy="384048"/>
          </a:xfrm>
          <a:prstGeom prst="roundRect">
            <a:avLst>
              <a:gd name="adj" fmla="val 50000"/>
            </a:avLst>
          </a:prstGeom>
          <a:solidFill>
            <a:srgbClr val="ECF1FA"/>
          </a:solidFill>
          <a:ln w="12700">
            <a:solidFill>
              <a:srgbClr val="DDE6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74920" y="3794760"/>
            <a:ext cx="982980" cy="38404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D3B6E"/>
                </a:solidFill>
                <a:latin typeface="Yu Gothic"/>
                <a:ea typeface="游ゴシック"/>
                <a:cs typeface="游ゴシック"/>
              </a:rPr>
              <a:t>商社・小売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04204" y="3794760"/>
            <a:ext cx="1408176" cy="384048"/>
          </a:xfrm>
          <a:prstGeom prst="roundRect">
            <a:avLst>
              <a:gd name="adj" fmla="val 50000"/>
            </a:avLst>
          </a:prstGeom>
          <a:solidFill>
            <a:srgbClr val="ECF1FA"/>
          </a:solidFill>
          <a:ln w="12700">
            <a:solidFill>
              <a:srgbClr val="DDE6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04204" y="3794760"/>
            <a:ext cx="1408176" cy="38404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D3B6E"/>
                </a:solidFill>
                <a:latin typeface="Yu Gothic"/>
                <a:ea typeface="游ゴシック"/>
                <a:cs typeface="游ゴシック"/>
              </a:rPr>
              <a:t>ホテル・サービス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58684" y="3794760"/>
            <a:ext cx="557784" cy="384048"/>
          </a:xfrm>
          <a:prstGeom prst="roundRect">
            <a:avLst>
              <a:gd name="adj" fmla="val 50000"/>
            </a:avLst>
          </a:prstGeom>
          <a:solidFill>
            <a:srgbClr val="ECF1FA"/>
          </a:solidFill>
          <a:ln w="12700">
            <a:solidFill>
              <a:srgbClr val="DDE6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58684" y="3794760"/>
            <a:ext cx="557784" cy="38404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D3B6E"/>
                </a:solidFill>
                <a:latin typeface="Yu Gothic"/>
                <a:ea typeface="游ゴシック"/>
                <a:cs typeface="游ゴシック"/>
              </a:rPr>
              <a:t>医療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462772" y="3794760"/>
            <a:ext cx="1266444" cy="384048"/>
          </a:xfrm>
          <a:prstGeom prst="roundRect">
            <a:avLst>
              <a:gd name="adj" fmla="val 50000"/>
            </a:avLst>
          </a:prstGeom>
          <a:solidFill>
            <a:srgbClr val="ECF1FA"/>
          </a:solidFill>
          <a:ln w="12700">
            <a:solidFill>
              <a:srgbClr val="DDE6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62772" y="3794760"/>
            <a:ext cx="1266444" cy="38404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D3B6E"/>
                </a:solidFill>
                <a:latin typeface="Yu Gothic"/>
                <a:ea typeface="游ゴシック"/>
                <a:cs typeface="游ゴシック"/>
              </a:rPr>
              <a:t>士業・コンサル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875520" y="3794760"/>
            <a:ext cx="982980" cy="384048"/>
          </a:xfrm>
          <a:prstGeom prst="roundRect">
            <a:avLst>
              <a:gd name="adj" fmla="val 50000"/>
            </a:avLst>
          </a:prstGeom>
          <a:solidFill>
            <a:srgbClr val="ECF1FA"/>
          </a:solidFill>
          <a:ln w="12700">
            <a:solidFill>
              <a:srgbClr val="DDE6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875520" y="3794760"/>
            <a:ext cx="982980" cy="38404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D3B6E"/>
                </a:solidFill>
                <a:latin typeface="Yu Gothic"/>
                <a:ea typeface="游ゴシック"/>
                <a:cs typeface="游ゴシック"/>
              </a:rPr>
              <a:t>IT・通信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1248" y="4297680"/>
            <a:ext cx="1124712" cy="384048"/>
          </a:xfrm>
          <a:prstGeom prst="roundRect">
            <a:avLst>
              <a:gd name="adj" fmla="val 50000"/>
            </a:avLst>
          </a:prstGeom>
          <a:solidFill>
            <a:srgbClr val="ECF1FA"/>
          </a:solidFill>
          <a:ln w="12700">
            <a:solidFill>
              <a:srgbClr val="DDE6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8" y="4297680"/>
            <a:ext cx="1124712" cy="38404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D3B6E"/>
                </a:solidFill>
                <a:latin typeface="Yu Gothic"/>
                <a:ea typeface="游ゴシック"/>
                <a:cs typeface="游ゴシック"/>
              </a:rPr>
              <a:t>北海道〜九州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41248" y="4754880"/>
            <a:ext cx="10509504" cy="86868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07008" y="4901184"/>
            <a:ext cx="9777984" cy="6400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実際には、</a:t>
            </a:r>
            <a:r>
              <a:rPr sz="1450" b="1" i="0">
                <a:solidFill>
                  <a:srgbClr val="1D3B6E"/>
                </a:solidFill>
                <a:latin typeface="Yu Gothic"/>
                <a:ea typeface="游ゴシック"/>
                <a:cs typeface="游ゴシック"/>
              </a:rPr>
              <a:t>数名〜数十名規模の会社</a:t>
            </a:r>
            <a:r>
              <a:rPr sz="1450" b="0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から始めるケースも多く、特別な準備がなくても始められます。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41248" y="6488176"/>
            <a:ext cx="100584" cy="100584"/>
          </a:xfrm>
          <a:prstGeom prst="rect">
            <a:avLst/>
          </a:prstGeom>
          <a:solidFill>
            <a:srgbClr val="2A5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24128" y="6437376"/>
            <a:ext cx="3657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株式会社AIスキル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93152" y="6437376"/>
            <a:ext cx="3657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67C87"/>
                </a:solidFill>
                <a:latin typeface="Arial"/>
                <a:ea typeface="游ゴシック"/>
                <a:cs typeface="游ゴシック"/>
              </a:rPr>
              <a:t>03 / 25   現状認識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1248" y="643128"/>
            <a:ext cx="274320" cy="27940"/>
          </a:xfrm>
          <a:prstGeom prst="rect">
            <a:avLst/>
          </a:prstGeom>
          <a:solidFill>
            <a:srgbClr val="2A5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25296" y="566928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2A5ACC"/>
                </a:solidFill>
                <a:latin typeface="Yu Gothic"/>
                <a:ea typeface="游ゴシック"/>
                <a:cs typeface="游ゴシック"/>
              </a:rPr>
              <a:t>最初によくいただくお声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932688"/>
            <a:ext cx="10509504" cy="1463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最初は、皆さま同じご不安からスタートします。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同じような会社も、</a:t>
            </a:r>
            <a:r>
              <a:rPr sz="2800" b="1" i="0">
                <a:solidFill>
                  <a:srgbClr val="2A5ACC"/>
                </a:solidFill>
                <a:latin typeface="Yu Gothic"/>
                <a:ea typeface="游ゴシック"/>
                <a:cs typeface="游ゴシック"/>
              </a:rPr>
              <a:t>無理なく始めています。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41248" y="2382520"/>
            <a:ext cx="310896" cy="310896"/>
          </a:xfrm>
          <a:prstGeom prst="roundRect">
            <a:avLst>
              <a:gd name="adj" fmla="val 30000"/>
            </a:avLst>
          </a:prstGeom>
          <a:solidFill>
            <a:srgbClr val="EC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6648" y="235712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D3B6E"/>
                </a:solidFill>
                <a:latin typeface="Yu Gothic"/>
                <a:ea typeface="游ゴシック"/>
                <a:cs typeface="游ゴシック"/>
              </a:rPr>
              <a:t>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44168" y="2331720"/>
            <a:ext cx="4568952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「うちはまだ早い」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44168" y="2715768"/>
            <a:ext cx="4523232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数名〜数十名規模の会社から始める例も多くあります。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880" y="2382520"/>
            <a:ext cx="310896" cy="310896"/>
          </a:xfrm>
          <a:prstGeom prst="roundRect">
            <a:avLst>
              <a:gd name="adj" fmla="val 30000"/>
            </a:avLst>
          </a:prstGeom>
          <a:solidFill>
            <a:srgbClr val="EC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4280" y="235712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D3B6E"/>
                </a:solidFill>
                <a:latin typeface="Yu Gothic"/>
                <a:ea typeface="游ゴシック"/>
                <a:cs typeface="游ゴシック"/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81800" y="2331720"/>
            <a:ext cx="4568952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「もう乗り遅れた」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81800" y="2715768"/>
            <a:ext cx="4523232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まだ“触り始め”の会社が多く、今からでも十分に間に合います。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1248" y="3708400"/>
            <a:ext cx="310896" cy="310896"/>
          </a:xfrm>
          <a:prstGeom prst="roundRect">
            <a:avLst>
              <a:gd name="adj" fmla="val 30000"/>
            </a:avLst>
          </a:prstGeom>
          <a:solidFill>
            <a:srgbClr val="EC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6648" y="368300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D3B6E"/>
                </a:solidFill>
                <a:latin typeface="Yu Gothic"/>
                <a:ea typeface="游ゴシック"/>
                <a:cs typeface="游ゴシック"/>
              </a:rP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44168" y="3657600"/>
            <a:ext cx="4568952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「うちの業界は特殊」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44168" y="4041648"/>
            <a:ext cx="4523232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同じ業界の会社でも、共通して使える場面は数多くあります。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78880" y="3708400"/>
            <a:ext cx="310896" cy="310896"/>
          </a:xfrm>
          <a:prstGeom prst="roundRect">
            <a:avLst>
              <a:gd name="adj" fmla="val 30000"/>
            </a:avLst>
          </a:prstGeom>
          <a:solidFill>
            <a:srgbClr val="EC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4280" y="368300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D3B6E"/>
                </a:solidFill>
                <a:latin typeface="Yu Gothic"/>
                <a:ea typeface="游ゴシック"/>
                <a:cs typeface="游ゴシック"/>
              </a:rPr>
              <a:t>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81800" y="3657600"/>
            <a:ext cx="4568952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「高齢の社員が多くて無理」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81800" y="4041648"/>
            <a:ext cx="4523232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幅広い年代の方に、ご好評をいただいています。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41248" y="6488176"/>
            <a:ext cx="100584" cy="100584"/>
          </a:xfrm>
          <a:prstGeom prst="rect">
            <a:avLst/>
          </a:prstGeom>
          <a:solidFill>
            <a:srgbClr val="2A5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4128" y="6437376"/>
            <a:ext cx="3657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株式会社AIスキル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93152" y="6437376"/>
            <a:ext cx="3657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67C87"/>
                </a:solidFill>
                <a:latin typeface="Arial"/>
                <a:ea typeface="游ゴシック"/>
                <a:cs typeface="游ゴシック"/>
              </a:rPr>
              <a:t>04 / 25   現状認識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42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1248" y="643128"/>
            <a:ext cx="274320" cy="27940"/>
          </a:xfrm>
          <a:prstGeom prst="rect">
            <a:avLst/>
          </a:prstGeom>
          <a:solidFill>
            <a:srgbClr val="D8E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25296" y="566928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D8E2F2"/>
                </a:solidFill>
                <a:latin typeface="Yu Gothic"/>
                <a:ea typeface="游ゴシック"/>
                <a:cs typeface="游ゴシック"/>
              </a:rPr>
              <a:t>投資判断をためらう、最大の理由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011680"/>
            <a:ext cx="5852160" cy="21945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FFFFFF"/>
                </a:solidFill>
                <a:latin typeface="Yu Gothic"/>
                <a:ea typeface="游ゴシック"/>
                <a:cs typeface="游ゴシック"/>
              </a:rPr>
              <a:t>研修しても、</a:t>
            </a:r>
          </a:p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FFFFFF"/>
                </a:solidFill>
                <a:latin typeface="Yu Gothic"/>
                <a:ea typeface="游ゴシック"/>
                <a:cs typeface="游ゴシック"/>
              </a:rPr>
              <a:t>結局、</a:t>
            </a:r>
            <a:r>
              <a:rPr sz="3600" b="1" i="0">
                <a:solidFill>
                  <a:srgbClr val="D8E2F2"/>
                </a:solidFill>
                <a:latin typeface="Yu Gothic"/>
                <a:ea typeface="游ゴシック"/>
                <a:cs typeface="游ゴシック"/>
              </a:rPr>
              <a:t>誰も使わない。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78752" y="2148840"/>
            <a:ext cx="4572000" cy="23774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D8E2F2"/>
                </a:solidFill>
                <a:latin typeface="Yu Gothic"/>
                <a:ea typeface="游ゴシック"/>
                <a:cs typeface="游ゴシック"/>
              </a:rPr>
              <a:t>AI導入をためらう最大の理由は、費用でも難しさでもなく</a:t>
            </a:r>
          </a:p>
          <a:p>
            <a:pPr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D8E2F2"/>
                </a:solidFill>
                <a:latin typeface="Yu Gothic"/>
                <a:ea typeface="游ゴシック"/>
                <a:cs typeface="游ゴシック"/>
              </a:rPr>
              <a:t>「お金をかけても、現場が元に戻る」という不安です。</a:t>
            </a:r>
          </a:p>
          <a:p>
            <a:pPr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D8E2F2"/>
                </a:solidFill>
                <a:latin typeface="Yu Gothic"/>
                <a:ea typeface="游ゴシック"/>
                <a:cs typeface="游ゴシック"/>
              </a:rPr>
              <a:t/>
            </a:r>
          </a:p>
          <a:p>
            <a:pPr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Yu Gothic"/>
                <a:ea typeface="游ゴシック"/>
                <a:cs typeface="游ゴシック"/>
              </a:rPr>
              <a:t>私たちが最初に解くのも、この“定着しない”問題。</a:t>
            </a:r>
          </a:p>
          <a:p>
            <a:pPr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Yu Gothic"/>
                <a:ea typeface="游ゴシック"/>
                <a:cs typeface="游ゴシック"/>
              </a:rPr>
              <a:t>だから、研修の設計思想そのものが違います。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6488176"/>
            <a:ext cx="100584" cy="100584"/>
          </a:xfrm>
          <a:prstGeom prst="rect">
            <a:avLst/>
          </a:prstGeom>
          <a:solidFill>
            <a:srgbClr val="D8E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6437376"/>
            <a:ext cx="3657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Yu Gothic"/>
                <a:ea typeface="游ゴシック"/>
                <a:cs typeface="游ゴシック"/>
              </a:rPr>
              <a:t>株式会社AIスキル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93152" y="6437376"/>
            <a:ext cx="3657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AFBCD4"/>
                </a:solidFill>
                <a:latin typeface="Arial"/>
                <a:ea typeface="游ゴシック"/>
                <a:cs typeface="游ゴシック"/>
              </a:rPr>
              <a:t>05 / 25   本当の課題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1248" y="643128"/>
            <a:ext cx="274320" cy="27940"/>
          </a:xfrm>
          <a:prstGeom prst="rect">
            <a:avLst/>
          </a:prstGeom>
          <a:solidFill>
            <a:srgbClr val="2A5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25296" y="566928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2A5ACC"/>
                </a:solidFill>
                <a:latin typeface="Yu Gothic"/>
                <a:ea typeface="游ゴシック"/>
                <a:cs typeface="游ゴシック"/>
              </a:rPr>
              <a:t>多くの会社がぶつかる壁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932688"/>
            <a:ext cx="10509504" cy="1463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本当の課題は「ツールを入れること」ではなく、</a:t>
            </a:r>
          </a:p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現場で</a:t>
            </a:r>
            <a:r>
              <a:rPr sz="2700" b="1" i="0">
                <a:solidFill>
                  <a:srgbClr val="2A5ACC"/>
                </a:solidFill>
                <a:latin typeface="Yu Gothic"/>
                <a:ea typeface="游ゴシック"/>
                <a:cs typeface="游ゴシック"/>
              </a:rPr>
              <a:t>“使われ続けるか”＝定着</a:t>
            </a:r>
            <a:r>
              <a:rPr sz="270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です。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41248" y="2468880"/>
            <a:ext cx="3320288" cy="22860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2743200"/>
            <a:ext cx="9144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C2CBDA"/>
                </a:solidFill>
                <a:latin typeface="Arial"/>
                <a:ea typeface="游ゴシック"/>
                <a:cs typeface="游ゴシック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3337560"/>
            <a:ext cx="2771648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各自バラバラに触っているだけ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" y="3977640"/>
            <a:ext cx="2771648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個人で使えても、業務に落とし込めず、社内で活用が揃わない。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5856" y="2468880"/>
            <a:ext cx="3320288" cy="22860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10176" y="2743200"/>
            <a:ext cx="9144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C2CBDA"/>
                </a:solidFill>
                <a:latin typeface="Arial"/>
                <a:ea typeface="游ゴシック"/>
                <a:cs typeface="游ゴシック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10176" y="3337560"/>
            <a:ext cx="2771648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導入しても、一部の人しか使わない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10176" y="3977640"/>
            <a:ext cx="2771648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ツールを配ることと、現場で使われ続けることは別問題。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30464" y="2468880"/>
            <a:ext cx="3320288" cy="22860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04784" y="2743200"/>
            <a:ext cx="9144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C2CBDA"/>
                </a:solidFill>
                <a:latin typeface="Arial"/>
                <a:ea typeface="游ゴシック"/>
                <a:cs typeface="游ゴシック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04784" y="3337560"/>
            <a:ext cx="2771648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研修しても、元の業務に戻る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04784" y="3977640"/>
            <a:ext cx="2771648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「なるほど」で終わり、翌週には以前のやり方に戻ってしまう。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41248" y="6488176"/>
            <a:ext cx="100584" cy="100584"/>
          </a:xfrm>
          <a:prstGeom prst="rect">
            <a:avLst/>
          </a:prstGeom>
          <a:solidFill>
            <a:srgbClr val="2A5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4128" y="6437376"/>
            <a:ext cx="3657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株式会社AIスキル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93152" y="6437376"/>
            <a:ext cx="3657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67C87"/>
                </a:solidFill>
                <a:latin typeface="Arial"/>
                <a:ea typeface="游ゴシック"/>
                <a:cs typeface="游ゴシック"/>
              </a:rPr>
              <a:t>06 / 25   課題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1248" y="643128"/>
            <a:ext cx="274320" cy="27940"/>
          </a:xfrm>
          <a:prstGeom prst="rect">
            <a:avLst/>
          </a:prstGeom>
          <a:solidFill>
            <a:srgbClr val="2A5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25296" y="566928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2A5ACC"/>
                </a:solidFill>
                <a:latin typeface="Yu Gothic"/>
                <a:ea typeface="游ゴシック"/>
                <a:cs typeface="游ゴシック"/>
              </a:rPr>
              <a:t>御社の現場で起きていること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932688"/>
            <a:ext cx="10509504" cy="1463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毎月、こうした業務に“静かに”時間が溶けています。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1554480"/>
            <a:ext cx="10509504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導入企業で実際に圧縮できた定型業務の例です（中小企業の現場での実測）。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212848"/>
            <a:ext cx="3745992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安全書類・取引先ごとの書類作成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95800" y="2194560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04E2E"/>
                </a:solidFill>
                <a:latin typeface="Arial"/>
                <a:ea typeface="游ゴシック"/>
                <a:cs typeface="游ゴシック"/>
              </a:rPr>
              <a:t>月 25時間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41248.0" y="2615184"/>
            <a:ext cx="5026152.0" cy="0"/>
          </a:xfrm>
          <a:prstGeom prst="bentConnector3">
            <a:avLst/>
          </a:prstGeom>
          <a:ln w="12700">
            <a:solidFill>
              <a:srgbClr val="EDEF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324600" y="2212848"/>
            <a:ext cx="3745992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顧客への月次レポート作成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79152" y="2194560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04E2E"/>
                </a:solidFill>
                <a:latin typeface="Arial"/>
                <a:ea typeface="游ゴシック"/>
                <a:cs typeface="游ゴシック"/>
              </a:rPr>
              <a:t>月 24時間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324600.0" y="2615184"/>
            <a:ext cx="5026152.0" cy="0"/>
          </a:xfrm>
          <a:prstGeom prst="bentConnector3">
            <a:avLst/>
          </a:prstGeom>
          <a:ln w="12700">
            <a:solidFill>
              <a:srgbClr val="EDEF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41248" y="2779776"/>
            <a:ext cx="3745992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提案・プレゼン資料の作成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95800" y="2761488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04E2E"/>
                </a:solidFill>
                <a:latin typeface="Arial"/>
                <a:ea typeface="游ゴシック"/>
                <a:cs typeface="游ゴシック"/>
              </a:rPr>
              <a:t>月 15時間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41248.0" y="3182112"/>
            <a:ext cx="5026152.0" cy="0"/>
          </a:xfrm>
          <a:prstGeom prst="bentConnector3">
            <a:avLst/>
          </a:prstGeom>
          <a:ln w="12700">
            <a:solidFill>
              <a:srgbClr val="EDEF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324600" y="2779776"/>
            <a:ext cx="3745992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会議の議事録作成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79152" y="2761488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04E2E"/>
                </a:solidFill>
                <a:latin typeface="Arial"/>
                <a:ea typeface="游ゴシック"/>
                <a:cs typeface="游ゴシック"/>
              </a:rPr>
              <a:t>月 10時間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324600.0" y="3182112"/>
            <a:ext cx="5026152.0" cy="0"/>
          </a:xfrm>
          <a:prstGeom prst="bentConnector3">
            <a:avLst/>
          </a:prstGeom>
          <a:ln w="12700">
            <a:solidFill>
              <a:srgbClr val="EDEF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841248" y="3346704"/>
            <a:ext cx="3745992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シフト・配置表の作成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95800" y="332841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04E2E"/>
                </a:solidFill>
                <a:latin typeface="Arial"/>
                <a:ea typeface="游ゴシック"/>
                <a:cs typeface="游ゴシック"/>
              </a:rPr>
              <a:t>月 10時間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41248.0" y="3749040"/>
            <a:ext cx="5026152.0" cy="0"/>
          </a:xfrm>
          <a:prstGeom prst="bentConnector3">
            <a:avLst/>
          </a:prstGeom>
          <a:ln w="12700">
            <a:solidFill>
              <a:srgbClr val="EDEF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324600" y="3346704"/>
            <a:ext cx="3745992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日報・現場報告の清書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79152" y="332841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04E2E"/>
                </a:solidFill>
                <a:latin typeface="Arial"/>
                <a:ea typeface="游ゴシック"/>
                <a:cs typeface="游ゴシック"/>
              </a:rPr>
              <a:t>月 10時間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324600.0" y="3749040"/>
            <a:ext cx="5026152.0" cy="0"/>
          </a:xfrm>
          <a:prstGeom prst="bentConnector3">
            <a:avLst/>
          </a:prstGeom>
          <a:ln w="12700">
            <a:solidFill>
              <a:srgbClr val="EDEF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841248" y="4892040"/>
            <a:ext cx="10509504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こうした「なくならないけれど価値を生まない時間」を、AIに任せられる形にしていきます。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41248" y="6488176"/>
            <a:ext cx="100584" cy="100584"/>
          </a:xfrm>
          <a:prstGeom prst="rect">
            <a:avLst/>
          </a:prstGeom>
          <a:solidFill>
            <a:srgbClr val="2A5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24128" y="6437376"/>
            <a:ext cx="3657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株式会社AIスキル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93152" y="6437376"/>
            <a:ext cx="3657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67C87"/>
                </a:solidFill>
                <a:latin typeface="Arial"/>
                <a:ea typeface="游ゴシック"/>
                <a:cs typeface="游ゴシック"/>
              </a:rPr>
              <a:t>07 / 25   課題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42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1248" y="643128"/>
            <a:ext cx="274320" cy="27940"/>
          </a:xfrm>
          <a:prstGeom prst="rect">
            <a:avLst/>
          </a:prstGeom>
          <a:solidFill>
            <a:srgbClr val="D8E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25296" y="566928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D8E2F2"/>
                </a:solidFill>
                <a:latin typeface="Yu Gothic"/>
                <a:ea typeface="游ゴシック"/>
                <a:cs typeface="游ゴシック"/>
              </a:rPr>
              <a:t>私たちが売っているもの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103120"/>
            <a:ext cx="6035040" cy="21945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Yu Gothic"/>
                <a:ea typeface="游ゴシック"/>
                <a:cs typeface="游ゴシック"/>
              </a:rPr>
              <a:t>売るのは“研修”ではなく、</a:t>
            </a:r>
          </a:p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D8E2F2"/>
                </a:solidFill>
                <a:latin typeface="Yu Gothic"/>
                <a:ea typeface="游ゴシック"/>
                <a:cs typeface="游ゴシック"/>
              </a:rPr>
              <a:t>“業務が変わった状態”。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70192" y="2194560"/>
            <a:ext cx="4480560" cy="23774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D8E2F2"/>
                </a:solidFill>
                <a:latin typeface="Yu Gothic"/>
                <a:ea typeface="游ゴシック"/>
                <a:cs typeface="游ゴシック"/>
              </a:rPr>
              <a:t>「使い方を教える研修」なら世の中に数多くあります。</a:t>
            </a:r>
          </a:p>
          <a:p>
            <a:pPr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D8E2F2"/>
                </a:solidFill>
                <a:latin typeface="Yu Gothic"/>
                <a:ea typeface="游ゴシック"/>
                <a:cs typeface="游ゴシック"/>
              </a:rPr>
              <a:t>私たちが大切にするのは、研修後に</a:t>
            </a:r>
          </a:p>
          <a:p>
            <a:pPr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Yu Gothic"/>
                <a:ea typeface="游ゴシック"/>
                <a:cs typeface="游ゴシック"/>
              </a:rPr>
              <a:t>“あの業務が実際に変わっている”状態まで</a:t>
            </a:r>
          </a:p>
          <a:p>
            <a:pPr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D8E2F2"/>
                </a:solidFill>
                <a:latin typeface="Yu Gothic"/>
                <a:ea typeface="游ゴシック"/>
                <a:cs typeface="游ゴシック"/>
              </a:rPr>
              <a:t>持っていくこと。題材も御社の実業務そのものを使います。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6488176"/>
            <a:ext cx="100584" cy="100584"/>
          </a:xfrm>
          <a:prstGeom prst="rect">
            <a:avLst/>
          </a:prstGeom>
          <a:solidFill>
            <a:srgbClr val="D8E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6437376"/>
            <a:ext cx="3657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Yu Gothic"/>
                <a:ea typeface="游ゴシック"/>
                <a:cs typeface="游ゴシック"/>
              </a:rPr>
              <a:t>株式会社AIスキル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93152" y="6437376"/>
            <a:ext cx="3657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AFBCD4"/>
                </a:solidFill>
                <a:latin typeface="Arial"/>
                <a:ea typeface="游ゴシック"/>
                <a:cs typeface="游ゴシック"/>
              </a:rPr>
              <a:t>08 / 25   提供価値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1248" y="643128"/>
            <a:ext cx="274320" cy="27940"/>
          </a:xfrm>
          <a:prstGeom prst="rect">
            <a:avLst/>
          </a:prstGeom>
          <a:solidFill>
            <a:srgbClr val="2A5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25296" y="566928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2A5ACC"/>
                </a:solidFill>
                <a:latin typeface="Yu Gothic"/>
                <a:ea typeface="游ゴシック"/>
                <a:cs typeface="游ゴシック"/>
              </a:rPr>
              <a:t>一般的なAI研修との違い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932688"/>
            <a:ext cx="10509504" cy="1463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「知っている」で終わらせず、</a:t>
            </a:r>
            <a:r>
              <a:rPr sz="2900" b="1" i="0">
                <a:solidFill>
                  <a:srgbClr val="2A5ACC"/>
                </a:solidFill>
                <a:latin typeface="Yu Gothic"/>
                <a:ea typeface="游ゴシック"/>
                <a:cs typeface="游ゴシック"/>
              </a:rPr>
              <a:t>「使えている」まで。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12848" y="1920240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一般的なAI研修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9128" y="192024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D3B6E"/>
                </a:solidFill>
                <a:latin typeface="Yu Gothic"/>
                <a:ea typeface="游ゴシック"/>
                <a:cs typeface="游ゴシック"/>
              </a:rPr>
              <a:t>弊社の実践型研修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2304288"/>
            <a:ext cx="10509504" cy="0"/>
          </a:xfrm>
          <a:prstGeom prst="bentConnector3">
            <a:avLst/>
          </a:prstGeom>
          <a:ln w="15240">
            <a:solidFill>
              <a:srgbClr val="E3E6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6510528" y="2377440"/>
            <a:ext cx="4800600" cy="3145536"/>
          </a:xfrm>
          <a:prstGeom prst="roundRect">
            <a:avLst>
              <a:gd name="adj" fmla="val 4000"/>
            </a:avLst>
          </a:prstGeom>
          <a:solidFill>
            <a:srgbClr val="EC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2523744"/>
            <a:ext cx="13716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67C87"/>
                </a:solidFill>
                <a:latin typeface="Yu Gothic"/>
                <a:ea typeface="游ゴシック"/>
                <a:cs typeface="游ゴシック"/>
              </a:rPr>
              <a:t>形式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12848" y="2505456"/>
            <a:ext cx="411480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座学・講義型のインプット／e-Learning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39128" y="2505456"/>
            <a:ext cx="438912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D3B6E"/>
                </a:solidFill>
                <a:latin typeface="Yu Gothic"/>
                <a:ea typeface="游ゴシック"/>
                <a:cs typeface="游ゴシック"/>
              </a:rPr>
              <a:t>実務課題をその場で解く実践ワークショップ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41248" y="3163824"/>
            <a:ext cx="10509504" cy="0"/>
          </a:xfrm>
          <a:prstGeom prst="bentConnector3">
            <a:avLst/>
          </a:prstGeom>
          <a:ln w="12700">
            <a:solidFill>
              <a:srgbClr val="EDEF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41248" y="3310128"/>
            <a:ext cx="13716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67C87"/>
                </a:solidFill>
                <a:latin typeface="Yu Gothic"/>
                <a:ea typeface="游ゴシック"/>
                <a:cs typeface="游ゴシック"/>
              </a:rPr>
              <a:t>教材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12848" y="3291840"/>
            <a:ext cx="411480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汎用サンプル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39128" y="3291840"/>
            <a:ext cx="438912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D3B6E"/>
                </a:solidFill>
                <a:latin typeface="Yu Gothic"/>
                <a:ea typeface="游ゴシック"/>
                <a:cs typeface="游ゴシック"/>
              </a:rPr>
              <a:t>御社の実業務（マスキング）を題材化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41248" y="3950208"/>
            <a:ext cx="10509504" cy="0"/>
          </a:xfrm>
          <a:prstGeom prst="bentConnector3">
            <a:avLst/>
          </a:prstGeom>
          <a:ln w="12700">
            <a:solidFill>
              <a:srgbClr val="EDEF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41248" y="4096512"/>
            <a:ext cx="13716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67C87"/>
                </a:solidFill>
                <a:latin typeface="Yu Gothic"/>
                <a:ea typeface="游ゴシック"/>
                <a:cs typeface="游ゴシック"/>
              </a:rPr>
              <a:t>成果物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12848" y="4078224"/>
            <a:ext cx="411480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ノート・受講証明書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39128" y="4078224"/>
            <a:ext cx="438912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D3B6E"/>
                </a:solidFill>
                <a:latin typeface="Yu Gothic"/>
                <a:ea typeface="游ゴシック"/>
                <a:cs typeface="游ゴシック"/>
              </a:rPr>
              <a:t>参加者の数だけ“業務改善AI”が完成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41248" y="4736592"/>
            <a:ext cx="10509504" cy="0"/>
          </a:xfrm>
          <a:prstGeom prst="bentConnector3">
            <a:avLst/>
          </a:prstGeom>
          <a:ln w="12700">
            <a:solidFill>
              <a:srgbClr val="EDEF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841248" y="4882896"/>
            <a:ext cx="13716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67C87"/>
                </a:solidFill>
                <a:latin typeface="Yu Gothic"/>
                <a:ea typeface="游ゴシック"/>
                <a:cs typeface="游ゴシック"/>
              </a:rPr>
              <a:t>研修後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12848" y="4864608"/>
            <a:ext cx="411480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時間が経つと元の業務に戻る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39128" y="4864608"/>
            <a:ext cx="438912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D3B6E"/>
                </a:solidFill>
                <a:latin typeface="Yu Gothic"/>
                <a:ea typeface="游ゴシック"/>
                <a:cs typeface="游ゴシック"/>
              </a:rPr>
              <a:t>3ヶ月伴走し、社内でPDCAを自走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41248" y="6488176"/>
            <a:ext cx="100584" cy="100584"/>
          </a:xfrm>
          <a:prstGeom prst="rect">
            <a:avLst/>
          </a:prstGeom>
          <a:solidFill>
            <a:srgbClr val="2A5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4128" y="6437376"/>
            <a:ext cx="3657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株式会社AIスキル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93152" y="6437376"/>
            <a:ext cx="3657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67C87"/>
                </a:solidFill>
                <a:latin typeface="Arial"/>
                <a:ea typeface="游ゴシック"/>
                <a:cs typeface="游ゴシック"/>
              </a:rPr>
              <a:t>09 / 25   一般研修との違い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1248" y="643128"/>
            <a:ext cx="274320" cy="27940"/>
          </a:xfrm>
          <a:prstGeom prst="rect">
            <a:avLst/>
          </a:prstGeom>
          <a:solidFill>
            <a:srgbClr val="2A5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25296" y="566928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2A5ACC"/>
                </a:solidFill>
                <a:latin typeface="Yu Gothic"/>
                <a:ea typeface="游ゴシック"/>
                <a:cs typeface="游ゴシック"/>
              </a:rPr>
              <a:t>弊社が選ばれる3つの理由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932688"/>
            <a:ext cx="10509504" cy="1463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「定着」を、設計に組み込んでいます。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41248" y="2148840"/>
            <a:ext cx="3320288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33856" y="2459736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1D3B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33856" y="245973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  <a:ea typeface="游ゴシック"/>
                <a:cs typeface="游ゴシック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" y="3108960"/>
            <a:ext cx="2735072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定着まで設計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" y="3776472"/>
            <a:ext cx="2771648" cy="9144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6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座学で終わらせず、受講者の実業務をその場で題材に。研修後の運用まで伴走し、“使われ続ける状態”を作ります。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5856" y="2148840"/>
            <a:ext cx="3320288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28464" y="2459736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1D3B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28464" y="245973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  <a:ea typeface="游ゴシック"/>
                <a:cs typeface="游ゴシック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8464" y="3108960"/>
            <a:ext cx="2735072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事業を作ってきた人間が設計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28464" y="3776472"/>
            <a:ext cx="2771648" cy="9144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6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研修専業ではなく、実際に事業を立ち上げてきたメンバーが、現場業務とROIの視点で設計します。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30464" y="2148840"/>
            <a:ext cx="3320288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323072" y="2459736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1D3B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23072" y="245973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  <a:ea typeface="游ゴシック"/>
                <a:cs typeface="游ゴシック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3072" y="3108960"/>
            <a:ext cx="2735072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効果の見える化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3072" y="3776472"/>
            <a:ext cx="2771648" cy="9144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6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受講前後で「この業務が何分→何分」を測定。経営に報告できる形で成果を残します。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41248" y="6488176"/>
            <a:ext cx="100584" cy="100584"/>
          </a:xfrm>
          <a:prstGeom prst="rect">
            <a:avLst/>
          </a:prstGeom>
          <a:solidFill>
            <a:srgbClr val="2A5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24128" y="6437376"/>
            <a:ext cx="3657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株式会社AIスキル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93152" y="6437376"/>
            <a:ext cx="3657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67C87"/>
                </a:solidFill>
                <a:latin typeface="Arial"/>
                <a:ea typeface="游ゴシック"/>
                <a:cs typeface="游ゴシック"/>
              </a:rPr>
              <a:t>10 / 25   選ばれる理由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1248" y="643128"/>
            <a:ext cx="274320" cy="27940"/>
          </a:xfrm>
          <a:prstGeom prst="rect">
            <a:avLst/>
          </a:prstGeom>
          <a:solidFill>
            <a:srgbClr val="2A5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25296" y="566928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2A5ACC"/>
                </a:solidFill>
                <a:latin typeface="Yu Gothic"/>
                <a:ea typeface="游ゴシック"/>
                <a:cs typeface="游ゴシック"/>
              </a:rPr>
              <a:t>実績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914400"/>
            <a:ext cx="10509504" cy="1463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“教える”だけでなく“成果を出す”研修を、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数多くの企業・経営者に。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41248" y="2331720"/>
            <a:ext cx="1926336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2715768"/>
            <a:ext cx="1926336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3700" b="1" i="0">
                <a:solidFill>
                  <a:srgbClr val="1D3B6E"/>
                </a:solidFill>
                <a:latin typeface="Arial"/>
                <a:ea typeface="游ゴシック"/>
                <a:cs typeface="游ゴシック"/>
              </a:rPr>
              <a:t>200</a:t>
            </a:r>
            <a:r>
              <a:rPr sz="1250" b="1" i="0">
                <a:solidFill>
                  <a:srgbClr val="2A5ACC"/>
                </a:solidFill>
                <a:latin typeface="Yu Gothic"/>
                <a:ea typeface="游ゴシック"/>
                <a:cs typeface="游ゴシック"/>
              </a:rPr>
              <a:t>社超</a:t>
            </a:r>
          </a:p>
        </p:txBody>
      </p:sp>
      <p:sp>
        <p:nvSpPr>
          <p:cNvPr id="8" name="Rectangle 7"/>
          <p:cNvSpPr/>
          <p:nvPr/>
        </p:nvSpPr>
        <p:spPr>
          <a:xfrm>
            <a:off x="1639824" y="3630168"/>
            <a:ext cx="329184" cy="25400"/>
          </a:xfrm>
          <a:prstGeom prst="rect">
            <a:avLst/>
          </a:prstGeom>
          <a:solidFill>
            <a:srgbClr val="B48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3749040"/>
            <a:ext cx="1926336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研修・セミナー</a:t>
            </a:r>
          </a:p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導入企業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87040" y="2331720"/>
            <a:ext cx="1926336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87040" y="2715768"/>
            <a:ext cx="1926336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D3B6E"/>
                </a:solidFill>
                <a:latin typeface="Arial"/>
                <a:ea typeface="游ゴシック"/>
                <a:cs typeface="游ゴシック"/>
              </a:rPr>
              <a:t>150,000</a:t>
            </a:r>
            <a:r>
              <a:rPr sz="1250" b="1" i="0">
                <a:solidFill>
                  <a:srgbClr val="2A5ACC"/>
                </a:solidFill>
                <a:latin typeface="Yu Gothic"/>
                <a:ea typeface="游ゴシック"/>
                <a:cs typeface="游ゴシック"/>
              </a:rPr>
              <a:t>名超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85616" y="3630168"/>
            <a:ext cx="329184" cy="25400"/>
          </a:xfrm>
          <a:prstGeom prst="rect">
            <a:avLst/>
          </a:prstGeom>
          <a:solidFill>
            <a:srgbClr val="B48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87040" y="3749040"/>
            <a:ext cx="1926336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のべセミナー</a:t>
            </a:r>
          </a:p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参加者数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32832" y="2331720"/>
            <a:ext cx="1926336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32832" y="2715768"/>
            <a:ext cx="1926336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D3B6E"/>
                </a:solidFill>
                <a:latin typeface="Arial"/>
                <a:ea typeface="游ゴシック"/>
                <a:cs typeface="游ゴシック"/>
              </a:rPr>
              <a:t>20,000</a:t>
            </a:r>
            <a:r>
              <a:rPr sz="1250" b="1" i="0">
                <a:solidFill>
                  <a:srgbClr val="2A5ACC"/>
                </a:solidFill>
                <a:latin typeface="Yu Gothic"/>
                <a:ea typeface="游ゴシック"/>
                <a:cs typeface="游ゴシック"/>
              </a:rPr>
              <a:t>名超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31408" y="3630168"/>
            <a:ext cx="329184" cy="25400"/>
          </a:xfrm>
          <a:prstGeom prst="rect">
            <a:avLst/>
          </a:prstGeom>
          <a:solidFill>
            <a:srgbClr val="B48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32832" y="3749040"/>
            <a:ext cx="1926336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AI学習コミュニティ</a:t>
            </a:r>
          </a:p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参加者数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78624" y="2331720"/>
            <a:ext cx="1926336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78624" y="2715768"/>
            <a:ext cx="1926336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3700" b="1" i="0">
                <a:solidFill>
                  <a:srgbClr val="1D3B6E"/>
                </a:solidFill>
                <a:latin typeface="Arial"/>
                <a:ea typeface="游ゴシック"/>
                <a:cs typeface="游ゴシック"/>
              </a:rPr>
              <a:t>3,000</a:t>
            </a:r>
            <a:r>
              <a:rPr sz="1250" b="1" i="0">
                <a:solidFill>
                  <a:srgbClr val="2A5ACC"/>
                </a:solidFill>
                <a:latin typeface="Yu Gothic"/>
                <a:ea typeface="游ゴシック"/>
                <a:cs typeface="游ゴシック"/>
              </a:rPr>
              <a:t>名超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77200" y="3630168"/>
            <a:ext cx="329184" cy="25400"/>
          </a:xfrm>
          <a:prstGeom prst="rect">
            <a:avLst/>
          </a:prstGeom>
          <a:solidFill>
            <a:srgbClr val="B48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78624" y="3749040"/>
            <a:ext cx="1926336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経営者が</a:t>
            </a:r>
          </a:p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研修・セミナー受講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424416" y="2331720"/>
            <a:ext cx="1926336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24416" y="2715768"/>
            <a:ext cx="1926336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3700" b="1" i="0">
                <a:solidFill>
                  <a:srgbClr val="1D3B6E"/>
                </a:solidFill>
                <a:latin typeface="Arial"/>
                <a:ea typeface="游ゴシック"/>
                <a:cs typeface="游ゴシック"/>
              </a:rPr>
              <a:t>800</a:t>
            </a:r>
            <a:r>
              <a:rPr sz="1250" b="1" i="0">
                <a:solidFill>
                  <a:srgbClr val="2A5ACC"/>
                </a:solidFill>
                <a:latin typeface="Yu Gothic"/>
                <a:ea typeface="游ゴシック"/>
                <a:cs typeface="游ゴシック"/>
              </a:rPr>
              <a:t>本超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222992" y="3630168"/>
            <a:ext cx="329184" cy="25400"/>
          </a:xfrm>
          <a:prstGeom prst="rect">
            <a:avLst/>
          </a:prstGeom>
          <a:solidFill>
            <a:srgbClr val="B48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24416" y="3749040"/>
            <a:ext cx="1926336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自社制作の</a:t>
            </a:r>
          </a:p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AI動画教材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" y="4800600"/>
            <a:ext cx="10509504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中小企業から上場企業まで、全国・全業種で導入。</a:t>
            </a:r>
            <a:r>
              <a:rPr sz="140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  御社と同じ規模の会社が、すでに数多く動いています。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41248" y="6488176"/>
            <a:ext cx="100584" cy="100584"/>
          </a:xfrm>
          <a:prstGeom prst="rect">
            <a:avLst/>
          </a:prstGeom>
          <a:solidFill>
            <a:srgbClr val="2A5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24128" y="6437376"/>
            <a:ext cx="3657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株式会社AIスキル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93152" y="6437376"/>
            <a:ext cx="3657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67C87"/>
                </a:solidFill>
                <a:latin typeface="Arial"/>
                <a:ea typeface="游ゴシック"/>
                <a:cs typeface="游ゴシック"/>
              </a:rPr>
              <a:t>11 / 25   実績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1248" y="643128"/>
            <a:ext cx="274320" cy="27940"/>
          </a:xfrm>
          <a:prstGeom prst="rect">
            <a:avLst/>
          </a:prstGeom>
          <a:solidFill>
            <a:srgbClr val="2A5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25296" y="566928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2A5ACC"/>
                </a:solidFill>
                <a:latin typeface="Yu Gothic"/>
                <a:ea typeface="游ゴシック"/>
                <a:cs typeface="游ゴシック"/>
              </a:rPr>
              <a:t>信頼の裏づけ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932688"/>
            <a:ext cx="10509504" cy="1463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研修屋ではなく、</a:t>
            </a:r>
            <a:r>
              <a:rPr sz="2700" b="1" i="0">
                <a:solidFill>
                  <a:srgbClr val="2A5ACC"/>
                </a:solidFill>
                <a:latin typeface="Yu Gothic"/>
                <a:ea typeface="游ゴシック"/>
                <a:cs typeface="游ゴシック"/>
              </a:rPr>
              <a:t>AIの専門性と事業の両方</a:t>
            </a:r>
            <a:r>
              <a:rPr sz="270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を持つチーム。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41248" y="1965960"/>
            <a:ext cx="2468880" cy="246888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3931920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767C87"/>
                </a:solidFill>
                <a:latin typeface="Yu Gothic"/>
                <a:ea typeface="游ゴシック"/>
                <a:cs typeface="游ゴシック"/>
              </a:rPr>
              <a:t>監修者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75888" y="20116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00">
                <a:solidFill>
                  <a:srgbClr val="2A5ACC"/>
                </a:solidFill>
                <a:latin typeface="Yu Gothic"/>
                <a:ea typeface="游ゴシック"/>
                <a:cs typeface="游ゴシック"/>
              </a:rPr>
              <a:t>研修プログラム監修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75888" y="233172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鈴木 章央</a:t>
            </a:r>
            <a:r>
              <a:rPr sz="1300" b="0" i="0">
                <a:solidFill>
                  <a:srgbClr val="767C87"/>
                </a:solidFill>
                <a:latin typeface="Yu Gothic"/>
                <a:ea typeface="游ゴシック"/>
                <a:cs typeface="游ゴシック"/>
              </a:rPr>
              <a:t>  Suzuki Akihiro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75888" y="3063240"/>
            <a:ext cx="5029200" cy="12801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7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国立大学大学院でAIを研究し、修士・博士号を取得。</a:t>
            </a:r>
          </a:p>
          <a:p>
            <a:pPr algn="l">
              <a:lnSpc>
                <a:spcPct val="17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2017年にAI企業を創業し、開発・技術顧問・教育を展開。</a:t>
            </a:r>
          </a:p>
          <a:p>
            <a:pPr algn="l">
              <a:lnSpc>
                <a:spcPct val="17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企業のAI導入支援を多数手がけ、AI講座の講師歴は5年。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75888" y="4343400"/>
            <a:ext cx="1691640" cy="384048"/>
          </a:xfrm>
          <a:prstGeom prst="roundRect">
            <a:avLst>
              <a:gd name="adj" fmla="val 50000"/>
            </a:avLst>
          </a:prstGeom>
          <a:solidFill>
            <a:srgbClr val="ECF1FA"/>
          </a:solidFill>
          <a:ln w="12700">
            <a:solidFill>
              <a:srgbClr val="DDE6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75888" y="4343400"/>
            <a:ext cx="1691640" cy="38404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D3B6E"/>
                </a:solidFill>
                <a:latin typeface="Yu Gothic"/>
                <a:ea typeface="游ゴシック"/>
                <a:cs typeface="游ゴシック"/>
              </a:rPr>
              <a:t>AI研究 修士・博士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513832" y="4343400"/>
            <a:ext cx="1833372" cy="384048"/>
          </a:xfrm>
          <a:prstGeom prst="roundRect">
            <a:avLst>
              <a:gd name="adj" fmla="val 50000"/>
            </a:avLst>
          </a:prstGeom>
          <a:solidFill>
            <a:srgbClr val="ECF1FA"/>
          </a:solidFill>
          <a:ln w="12700">
            <a:solidFill>
              <a:srgbClr val="DDE6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513832" y="4343400"/>
            <a:ext cx="1833372" cy="38404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D3B6E"/>
                </a:solidFill>
                <a:latin typeface="Yu Gothic"/>
                <a:ea typeface="游ゴシック"/>
                <a:cs typeface="游ゴシック"/>
              </a:rPr>
              <a:t>AI受託開発・技術顧問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93508" y="4343400"/>
            <a:ext cx="982980" cy="384048"/>
          </a:xfrm>
          <a:prstGeom prst="roundRect">
            <a:avLst>
              <a:gd name="adj" fmla="val 50000"/>
            </a:avLst>
          </a:prstGeom>
          <a:solidFill>
            <a:srgbClr val="ECF1FA"/>
          </a:solidFill>
          <a:ln w="12700">
            <a:solidFill>
              <a:srgbClr val="DDE6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3508" y="4343400"/>
            <a:ext cx="982980" cy="38404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D3B6E"/>
                </a:solidFill>
                <a:latin typeface="Yu Gothic"/>
                <a:ea typeface="游ゴシック"/>
                <a:cs typeface="游ゴシック"/>
              </a:rPr>
              <a:t>講師歴5年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1248" y="6488176"/>
            <a:ext cx="100584" cy="100584"/>
          </a:xfrm>
          <a:prstGeom prst="rect">
            <a:avLst/>
          </a:prstGeom>
          <a:solidFill>
            <a:srgbClr val="2A5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24128" y="6437376"/>
            <a:ext cx="3657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株式会社AIスキル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93152" y="6437376"/>
            <a:ext cx="3657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67C87"/>
                </a:solidFill>
                <a:latin typeface="Arial"/>
                <a:ea typeface="游ゴシック"/>
                <a:cs typeface="游ゴシック"/>
              </a:rPr>
              <a:t>12 / 25   信頼の裏づけ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1248" y="643128"/>
            <a:ext cx="274320" cy="27940"/>
          </a:xfrm>
          <a:prstGeom prst="rect">
            <a:avLst/>
          </a:prstGeom>
          <a:solidFill>
            <a:srgbClr val="2A5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25296" y="566928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2A5ACC"/>
                </a:solidFill>
                <a:latin typeface="Yu Gothic"/>
                <a:ea typeface="游ゴシック"/>
                <a:cs typeface="游ゴシック"/>
              </a:rPr>
              <a:t>「また使われないのでは」への答え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932688"/>
            <a:ext cx="10509504" cy="1463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受講者が、</a:t>
            </a:r>
            <a:r>
              <a:rPr sz="2800" b="1" i="0">
                <a:solidFill>
                  <a:srgbClr val="2A5ACC"/>
                </a:solidFill>
                <a:latin typeface="Yu Gothic"/>
                <a:ea typeface="游ゴシック"/>
                <a:cs typeface="游ゴシック"/>
              </a:rPr>
              <a:t>自分でAIを作って回し始める</a:t>
            </a:r>
            <a:r>
              <a:rPr sz="280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まで。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1874519"/>
            <a:ext cx="5943600" cy="822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「どうせ定着しない」は、皆さん最初に必ず言われます。</a:t>
            </a:r>
          </a:p>
          <a:p>
            <a:pPr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私たちが最も力を入れているのが、この“その後”です。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" y="2872740"/>
            <a:ext cx="146304" cy="146304"/>
          </a:xfrm>
          <a:prstGeom prst="roundRect">
            <a:avLst>
              <a:gd name="adj" fmla="val 30000"/>
            </a:avLst>
          </a:prstGeom>
          <a:solidFill>
            <a:srgbClr val="2A5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52144" y="2834640"/>
            <a:ext cx="548640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受講者が自らGPTs等を作成し、研修後も“自走”する状態まで設計。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" y="3421380"/>
            <a:ext cx="146304" cy="146304"/>
          </a:xfrm>
          <a:prstGeom prst="roundRect">
            <a:avLst>
              <a:gd name="adj" fmla="val 30000"/>
            </a:avLst>
          </a:prstGeom>
          <a:solidFill>
            <a:srgbClr val="2A5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52144" y="3383280"/>
            <a:ext cx="548640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配って終わりにせず、部署横断で日常的に使われる状態へ。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" y="3970020"/>
            <a:ext cx="146304" cy="146304"/>
          </a:xfrm>
          <a:prstGeom prst="roundRect">
            <a:avLst>
              <a:gd name="adj" fmla="val 30000"/>
            </a:avLst>
          </a:prstGeom>
          <a:solidFill>
            <a:srgbClr val="2A5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52144" y="3931920"/>
            <a:ext cx="548640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「この業務が何分→何分」を測り、成果を組織に残す。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27392" y="1828800"/>
            <a:ext cx="4023360" cy="2743200"/>
          </a:xfrm>
          <a:prstGeom prst="roundRect">
            <a:avLst>
              <a:gd name="adj" fmla="val 5000"/>
            </a:avLst>
          </a:prstGeom>
          <a:solidFill>
            <a:srgbClr val="142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93152" y="2240280"/>
            <a:ext cx="3291840" cy="9144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Yu Gothic"/>
                <a:ea typeface="游ゴシック"/>
                <a:cs typeface="游ゴシック"/>
              </a:rPr>
              <a:t>配って終わり、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Yu Gothic"/>
                <a:ea typeface="游ゴシック"/>
                <a:cs typeface="游ゴシック"/>
              </a:rPr>
              <a:t>ではありません。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93152" y="3429000"/>
            <a:ext cx="3337560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D8E2F2"/>
                </a:solidFill>
                <a:latin typeface="Yu Gothic"/>
                <a:ea typeface="游ゴシック"/>
                <a:cs typeface="游ゴシック"/>
              </a:rPr>
              <a:t>農機販売や建設の会社でも、受講者が自分でAIを</a:t>
            </a:r>
          </a:p>
          <a:p>
            <a:pPr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D8E2F2"/>
                </a:solidFill>
                <a:latin typeface="Yu Gothic"/>
                <a:ea typeface="游ゴシック"/>
                <a:cs typeface="游ゴシック"/>
              </a:rPr>
              <a:t>作り、研修後も現場で使い続けています。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41248" y="6488176"/>
            <a:ext cx="100584" cy="100584"/>
          </a:xfrm>
          <a:prstGeom prst="rect">
            <a:avLst/>
          </a:prstGeom>
          <a:solidFill>
            <a:srgbClr val="2A5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24128" y="6437376"/>
            <a:ext cx="3657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株式会社AIスキル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93152" y="6437376"/>
            <a:ext cx="3657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67C87"/>
                </a:solidFill>
                <a:latin typeface="Arial"/>
                <a:ea typeface="游ゴシック"/>
                <a:cs typeface="游ゴシック"/>
              </a:rPr>
              <a:t>13 / 25   定着の証明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1248" y="643128"/>
            <a:ext cx="274320" cy="27940"/>
          </a:xfrm>
          <a:prstGeom prst="rect">
            <a:avLst/>
          </a:prstGeom>
          <a:solidFill>
            <a:srgbClr val="2A5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25296" y="566928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2A5ACC"/>
                </a:solidFill>
                <a:latin typeface="Yu Gothic"/>
                <a:ea typeface="游ゴシック"/>
                <a:cs typeface="游ゴシック"/>
              </a:rPr>
              <a:t>導入企業の成果（実測）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932688"/>
            <a:ext cx="10509504" cy="1463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“浮いた時間”が、受講料を回収します。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41248" y="2011680"/>
            <a:ext cx="3320288" cy="2697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2267712"/>
            <a:ext cx="2771648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A5ACC"/>
                </a:solidFill>
                <a:latin typeface="Yu Gothic"/>
                <a:ea typeface="游ゴシック"/>
                <a:cs typeface="游ゴシック"/>
              </a:rPr>
              <a:t>建設業・51名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560320"/>
            <a:ext cx="2771648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767C87"/>
                </a:solidFill>
                <a:latin typeface="Yu Gothic"/>
                <a:ea typeface="游ゴシック"/>
                <a:cs typeface="游ゴシック"/>
              </a:rPr>
              <a:t>安全書類の作成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" y="2926080"/>
            <a:ext cx="2771648" cy="6400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767C87"/>
                </a:solidFill>
                <a:latin typeface="Arial"/>
                <a:ea typeface="游ゴシック"/>
                <a:cs typeface="游ゴシック"/>
              </a:rPr>
              <a:t>25h</a:t>
            </a:r>
            <a:r>
              <a:rPr sz="1500" b="0" i="0">
                <a:solidFill>
                  <a:srgbClr val="2A5ACC"/>
                </a:solidFill>
                <a:latin typeface="Yu Gothic"/>
                <a:ea typeface="游ゴシック"/>
                <a:cs typeface="游ゴシック"/>
              </a:rPr>
              <a:t>  →  </a:t>
            </a:r>
            <a:r>
              <a:rPr sz="3400" b="1" i="0">
                <a:solidFill>
                  <a:srgbClr val="1D3B6E"/>
                </a:solidFill>
                <a:latin typeface="Arial"/>
                <a:ea typeface="游ゴシック"/>
                <a:cs typeface="游ゴシック"/>
              </a:rPr>
              <a:t>10h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15568" y="3639312"/>
            <a:ext cx="1920240" cy="310896"/>
          </a:xfrm>
          <a:prstGeom prst="roundRect">
            <a:avLst>
              <a:gd name="adj" fmla="val 50000"/>
            </a:avLst>
          </a:prstGeom>
          <a:solidFill>
            <a:srgbClr val="F6E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" y="3639312"/>
            <a:ext cx="1920240" cy="310896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B04E2E"/>
                </a:solidFill>
                <a:latin typeface="Yu Gothic"/>
                <a:ea typeface="游ゴシック"/>
                <a:cs typeface="游ゴシック"/>
              </a:rPr>
              <a:t>月15時間削減・60%減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4069080"/>
            <a:ext cx="2771648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元請けごとに異なる書類をAIが8割作成。議事録も10h→3hに。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5856" y="2011680"/>
            <a:ext cx="3320288" cy="2697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10176" y="2267712"/>
            <a:ext cx="2771648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A5ACC"/>
                </a:solidFill>
                <a:latin typeface="Yu Gothic"/>
                <a:ea typeface="游ゴシック"/>
                <a:cs typeface="游ゴシック"/>
              </a:rPr>
              <a:t>会計事務所・7名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10176" y="2560320"/>
            <a:ext cx="2771648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767C87"/>
                </a:solidFill>
                <a:latin typeface="Yu Gothic"/>
                <a:ea typeface="游ゴシック"/>
                <a:cs typeface="游ゴシック"/>
              </a:rPr>
              <a:t>顧客への月次レポート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10176" y="2926080"/>
            <a:ext cx="2771648" cy="6400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767C87"/>
                </a:solidFill>
                <a:latin typeface="Arial"/>
                <a:ea typeface="游ゴシック"/>
                <a:cs typeface="游ゴシック"/>
              </a:rPr>
              <a:t>24h</a:t>
            </a:r>
            <a:r>
              <a:rPr sz="1500" b="0" i="0">
                <a:solidFill>
                  <a:srgbClr val="2A5ACC"/>
                </a:solidFill>
                <a:latin typeface="Yu Gothic"/>
                <a:ea typeface="游ゴシック"/>
                <a:cs typeface="游ゴシック"/>
              </a:rPr>
              <a:t>  →  </a:t>
            </a:r>
            <a:r>
              <a:rPr sz="3400" b="1" i="0">
                <a:solidFill>
                  <a:srgbClr val="1D3B6E"/>
                </a:solidFill>
                <a:latin typeface="Arial"/>
                <a:ea typeface="游ゴシック"/>
                <a:cs typeface="游ゴシック"/>
              </a:rPr>
              <a:t>12h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10176" y="3639312"/>
            <a:ext cx="1920240" cy="310896"/>
          </a:xfrm>
          <a:prstGeom prst="roundRect">
            <a:avLst>
              <a:gd name="adj" fmla="val 50000"/>
            </a:avLst>
          </a:prstGeom>
          <a:solidFill>
            <a:srgbClr val="F6E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10176" y="3639312"/>
            <a:ext cx="1920240" cy="310896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B04E2E"/>
                </a:solidFill>
                <a:latin typeface="Yu Gothic"/>
                <a:ea typeface="游ゴシック"/>
                <a:cs typeface="游ゴシック"/>
              </a:rPr>
              <a:t>月12時間削減・50%減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10176" y="4069080"/>
            <a:ext cx="2771648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データ統合〜文面作成を定型化。海外向け提案資料も15h→5h。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30464" y="2011680"/>
            <a:ext cx="3320288" cy="2697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04784" y="2267712"/>
            <a:ext cx="2771648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A5ACC"/>
                </a:solidFill>
                <a:latin typeface="Yu Gothic"/>
                <a:ea typeface="游ゴシック"/>
                <a:cs typeface="游ゴシック"/>
              </a:rPr>
              <a:t>ホテル・50名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04784" y="2560320"/>
            <a:ext cx="2771648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767C87"/>
                </a:solidFill>
                <a:latin typeface="Yu Gothic"/>
                <a:ea typeface="游ゴシック"/>
                <a:cs typeface="游ゴシック"/>
              </a:rPr>
              <a:t>シフト作成業務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04784" y="2926080"/>
            <a:ext cx="2771648" cy="6400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767C87"/>
                </a:solidFill>
                <a:latin typeface="Arial"/>
                <a:ea typeface="游ゴシック"/>
                <a:cs typeface="游ゴシック"/>
              </a:rPr>
              <a:t>10h</a:t>
            </a:r>
            <a:r>
              <a:rPr sz="1500" b="0" i="0">
                <a:solidFill>
                  <a:srgbClr val="2A5ACC"/>
                </a:solidFill>
                <a:latin typeface="Yu Gothic"/>
                <a:ea typeface="游ゴシック"/>
                <a:cs typeface="游ゴシック"/>
              </a:rPr>
              <a:t>  →  </a:t>
            </a:r>
            <a:r>
              <a:rPr sz="3400" b="1" i="0">
                <a:solidFill>
                  <a:srgbClr val="1D3B6E"/>
                </a:solidFill>
                <a:latin typeface="Arial"/>
                <a:ea typeface="游ゴシック"/>
                <a:cs typeface="游ゴシック"/>
              </a:rPr>
              <a:t>5h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304784" y="3639312"/>
            <a:ext cx="1920240" cy="310896"/>
          </a:xfrm>
          <a:prstGeom prst="roundRect">
            <a:avLst>
              <a:gd name="adj" fmla="val 50000"/>
            </a:avLst>
          </a:prstGeom>
          <a:solidFill>
            <a:srgbClr val="F6E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04784" y="3639312"/>
            <a:ext cx="1920240" cy="310896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B04E2E"/>
                </a:solidFill>
                <a:latin typeface="Yu Gothic"/>
                <a:ea typeface="游ゴシック"/>
                <a:cs typeface="游ゴシック"/>
              </a:rPr>
              <a:t>月5時間削減・50%減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04784" y="4069080"/>
            <a:ext cx="2771648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属人化していた作成を仕組み化。メニュー案作成も10h→6h。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4983480"/>
            <a:ext cx="10509504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※ いずれも受講後アンケート・実測値。御社に近い業種・規模の実例をご用意できます。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41248" y="6488176"/>
            <a:ext cx="100584" cy="100584"/>
          </a:xfrm>
          <a:prstGeom prst="rect">
            <a:avLst/>
          </a:prstGeom>
          <a:solidFill>
            <a:srgbClr val="2A5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24128" y="6437376"/>
            <a:ext cx="3657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株式会社AIスキル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93152" y="6437376"/>
            <a:ext cx="3657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67C87"/>
                </a:solidFill>
                <a:latin typeface="Arial"/>
                <a:ea typeface="游ゴシック"/>
                <a:cs typeface="游ゴシック"/>
              </a:rPr>
              <a:t>14 / 25   導入事例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1248" y="643128"/>
            <a:ext cx="274320" cy="27940"/>
          </a:xfrm>
          <a:prstGeom prst="rect">
            <a:avLst/>
          </a:prstGeom>
          <a:solidFill>
            <a:srgbClr val="2A5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25296" y="566928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2A5ACC"/>
                </a:solidFill>
                <a:latin typeface="Yu Gothic"/>
                <a:ea typeface="游ゴシック"/>
                <a:cs typeface="游ゴシック"/>
              </a:rPr>
              <a:t>研修カリキュラム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932688"/>
            <a:ext cx="10509504" cy="1463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全12時間（2時間×6回）。</a:t>
            </a:r>
            <a:r>
              <a:rPr sz="2800" b="1" i="0">
                <a:solidFill>
                  <a:srgbClr val="2A5ACC"/>
                </a:solidFill>
                <a:latin typeface="Yu Gothic"/>
                <a:ea typeface="游ゴシック"/>
                <a:cs typeface="游ゴシック"/>
              </a:rPr>
              <a:t>すべて実務に直結。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1600200"/>
            <a:ext cx="10509504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講義時間の多くを演習・ワークに充てるハンズオン構成。各回で“その場で動くもの”を作ります。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14884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67C87"/>
                </a:solidFill>
                <a:latin typeface="Yu Gothic"/>
                <a:ea typeface="游ゴシック"/>
                <a:cs typeface="游ゴシック"/>
              </a:rPr>
              <a:t>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1328" y="214884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67C87"/>
                </a:solidFill>
                <a:latin typeface="Yu Gothic"/>
                <a:ea typeface="游ゴシック"/>
                <a:cs typeface="游ゴシック"/>
              </a:rPr>
              <a:t>テーマ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61888" y="214884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67C87"/>
                </a:solidFill>
                <a:latin typeface="Yu Gothic"/>
                <a:ea typeface="游ゴシック"/>
                <a:cs typeface="游ゴシック"/>
              </a:rPr>
              <a:t>主なワーク（実技）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41248" y="2441448"/>
            <a:ext cx="10509504" cy="0"/>
          </a:xfrm>
          <a:prstGeom prst="bentConnector3">
            <a:avLst/>
          </a:prstGeom>
          <a:ln w="15240">
            <a:solidFill>
              <a:srgbClr val="E3E6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841248" y="2624328"/>
            <a:ext cx="5486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A5ACC"/>
                </a:solidFill>
                <a:latin typeface="Arial"/>
                <a:ea typeface="游ゴシック"/>
                <a:cs typeface="游ゴシック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81328" y="2624328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生成AIの基礎とプロンプト設計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61888" y="2624328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出力比較／業務プロンプト作成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41248" y="3099816"/>
            <a:ext cx="10509504" cy="0"/>
          </a:xfrm>
          <a:prstGeom prst="bentConnector3">
            <a:avLst/>
          </a:prstGeom>
          <a:ln w="12700">
            <a:solidFill>
              <a:srgbClr val="EDEF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41248" y="3191256"/>
            <a:ext cx="5486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A5ACC"/>
                </a:solidFill>
                <a:latin typeface="Arial"/>
                <a:ea typeface="游ゴシック"/>
                <a:cs typeface="游ゴシック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81328" y="3191256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表計算 × AIによる業務効率化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61888" y="3191256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コードによる自動化／データ整形・転記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41248" y="3666744"/>
            <a:ext cx="10509504" cy="0"/>
          </a:xfrm>
          <a:prstGeom prst="bentConnector3">
            <a:avLst/>
          </a:prstGeom>
          <a:ln w="12700">
            <a:solidFill>
              <a:srgbClr val="EDEF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841248" y="3758184"/>
            <a:ext cx="5486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A5ACC"/>
                </a:solidFill>
                <a:latin typeface="Arial"/>
                <a:ea typeface="游ゴシック"/>
                <a:cs typeface="游ゴシック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1328" y="3758184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データ分析 &amp; レポート・資料作成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61888" y="3758184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レポート作成／スライド生成AI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41248" y="4233672"/>
            <a:ext cx="10509504" cy="0"/>
          </a:xfrm>
          <a:prstGeom prst="bentConnector3">
            <a:avLst/>
          </a:prstGeom>
          <a:ln w="12700">
            <a:solidFill>
              <a:srgbClr val="EDEF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841248" y="4325112"/>
            <a:ext cx="5486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A5ACC"/>
                </a:solidFill>
                <a:latin typeface="Arial"/>
                <a:ea typeface="游ゴシック"/>
                <a:cs typeface="游ゴシック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81328" y="4325112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画像生成・音声入力 × AI活用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61888" y="4325112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業務用ラフ案生成／短尺PR動画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41248" y="4800600"/>
            <a:ext cx="10509504" cy="0"/>
          </a:xfrm>
          <a:prstGeom prst="bentConnector3">
            <a:avLst/>
          </a:prstGeom>
          <a:ln w="12700">
            <a:solidFill>
              <a:srgbClr val="EDEF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41248" y="4892040"/>
            <a:ext cx="5486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A5ACC"/>
                </a:solidFill>
                <a:latin typeface="Arial"/>
                <a:ea typeface="游ゴシック"/>
                <a:cs typeface="游ゴシック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81328" y="4892040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GPTs構築・ナレッジ活用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61888" y="4892040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社内資料のQ&amp;A化／RAG型質問応答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41248" y="5367528"/>
            <a:ext cx="10509504" cy="0"/>
          </a:xfrm>
          <a:prstGeom prst="bentConnector3">
            <a:avLst/>
          </a:prstGeom>
          <a:ln w="12700">
            <a:solidFill>
              <a:srgbClr val="EDEF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41248" y="5458968"/>
            <a:ext cx="5486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A5ACC"/>
                </a:solidFill>
                <a:latin typeface="Arial"/>
                <a:ea typeface="游ゴシック"/>
                <a:cs typeface="游ゴシック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81328" y="5458968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全体振り返りと PoC プランニング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61888" y="5458968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自社業務への適用設計／PoC決定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41248" y="5934456"/>
            <a:ext cx="10509504" cy="0"/>
          </a:xfrm>
          <a:prstGeom prst="bentConnector3">
            <a:avLst/>
          </a:prstGeom>
          <a:ln w="12700">
            <a:solidFill>
              <a:srgbClr val="EDEF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841248" y="6488176"/>
            <a:ext cx="100584" cy="100584"/>
          </a:xfrm>
          <a:prstGeom prst="rect">
            <a:avLst/>
          </a:prstGeom>
          <a:solidFill>
            <a:srgbClr val="2A5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24128" y="6437376"/>
            <a:ext cx="3657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株式会社AIスキル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93152" y="6437376"/>
            <a:ext cx="3657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67C87"/>
                </a:solidFill>
                <a:latin typeface="Arial"/>
                <a:ea typeface="游ゴシック"/>
                <a:cs typeface="游ゴシック"/>
              </a:rPr>
              <a:t>15 / 25   研修の中身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1248" y="643128"/>
            <a:ext cx="274320" cy="27940"/>
          </a:xfrm>
          <a:prstGeom prst="rect">
            <a:avLst/>
          </a:prstGeom>
          <a:solidFill>
            <a:srgbClr val="2A5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25296" y="566928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2A5ACC"/>
                </a:solidFill>
                <a:latin typeface="Yu Gothic"/>
                <a:ea typeface="游ゴシック"/>
                <a:cs typeface="游ゴシック"/>
              </a:rPr>
              <a:t>導入の進め方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932688"/>
            <a:ext cx="10509504" cy="1463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お渡しして終わりにしない、</a:t>
            </a:r>
            <a:r>
              <a:rPr sz="2800" b="1" i="0">
                <a:solidFill>
                  <a:srgbClr val="2A5ACC"/>
                </a:solidFill>
                <a:latin typeface="Yu Gothic"/>
                <a:ea typeface="游ゴシック"/>
                <a:cs typeface="游ゴシック"/>
              </a:rPr>
              <a:t>約半年の伴走。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07008" y="2697480"/>
            <a:ext cx="9686544" cy="0"/>
          </a:xfrm>
          <a:prstGeom prst="bentConnector3">
            <a:avLst/>
          </a:prstGeom>
          <a:ln w="17780">
            <a:solidFill>
              <a:srgbClr val="E3E6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841248" y="246888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D3B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246888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  <a:ea typeface="游ゴシック"/>
                <a:cs typeface="游ゴシック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3154680"/>
            <a:ext cx="2353056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事前ヒアリング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3611880"/>
            <a:ext cx="2261616" cy="822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業務・課題を把握し、効く領域を見立てる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68624" y="246888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D3B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68624" y="246888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  <a:ea typeface="游ゴシック"/>
                <a:cs typeface="游ゴシック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68624" y="3154680"/>
            <a:ext cx="2353056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専用カリキュラム作成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68624" y="3611880"/>
            <a:ext cx="2261616" cy="822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御社の実業務を題材に内容を設計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96000" y="246888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D3B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96000" y="246888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  <a:ea typeface="游ゴシック"/>
                <a:cs typeface="游ゴシック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0" y="3154680"/>
            <a:ext cx="2353056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研修の実施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96000" y="3611880"/>
            <a:ext cx="2261616" cy="822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全12時間。オンライン中心、対面も可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723376" y="246888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D3B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23376" y="246888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  <a:ea typeface="游ゴシック"/>
                <a:cs typeface="游ゴシック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23376" y="3154680"/>
            <a:ext cx="2353056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3ヶ月の定着フォロー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23376" y="3611880"/>
            <a:ext cx="2261616" cy="822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運用に伴走し、効果を測定・見える化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" y="4663440"/>
            <a:ext cx="10509504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最低5名から（雇用保険加入者）。</a:t>
            </a:r>
            <a:r>
              <a:rPr sz="140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  経営者・役員1名は無料でご招待します（5名以上のお申込み時）。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41248" y="6488176"/>
            <a:ext cx="100584" cy="100584"/>
          </a:xfrm>
          <a:prstGeom prst="rect">
            <a:avLst/>
          </a:prstGeom>
          <a:solidFill>
            <a:srgbClr val="2A5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4128" y="6437376"/>
            <a:ext cx="3657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株式会社AIスキル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93152" y="6437376"/>
            <a:ext cx="3657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67C87"/>
                </a:solidFill>
                <a:latin typeface="Arial"/>
                <a:ea typeface="游ゴシック"/>
                <a:cs typeface="游ゴシック"/>
              </a:rPr>
              <a:t>16 / 25   進め方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1248" y="643128"/>
            <a:ext cx="274320" cy="27940"/>
          </a:xfrm>
          <a:prstGeom prst="rect">
            <a:avLst/>
          </a:prstGeom>
          <a:solidFill>
            <a:srgbClr val="2A5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25296" y="566928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2A5ACC"/>
                </a:solidFill>
                <a:latin typeface="Yu Gothic"/>
                <a:ea typeface="游ゴシック"/>
                <a:cs typeface="游ゴシック"/>
              </a:rPr>
              <a:t>助成金の活用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932688"/>
            <a:ext cx="10509504" cy="1463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国の助成金で、研修費の負担を</a:t>
            </a:r>
            <a:r>
              <a:rPr sz="2800" b="1" i="0">
                <a:solidFill>
                  <a:srgbClr val="2A5ACC"/>
                </a:solidFill>
                <a:latin typeface="Yu Gothic"/>
                <a:ea typeface="游ゴシック"/>
                <a:cs typeface="游ゴシック"/>
              </a:rPr>
              <a:t>大きく抑えられます。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1645920"/>
            <a:ext cx="6035040" cy="9144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人材開発支援助成金「事業展開等リスキリング支援コース」。</a:t>
            </a:r>
          </a:p>
          <a:p>
            <a:pPr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雇用保険の適用事業所が対象で、要件を満たした訓練が助成対象になります。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" y="2788920"/>
            <a:ext cx="2834640" cy="1554480"/>
          </a:xfrm>
          <a:prstGeom prst="roundRect">
            <a:avLst>
              <a:gd name="adj" fmla="val 6000"/>
            </a:avLst>
          </a:prstGeom>
          <a:solidFill>
            <a:srgbClr val="142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15568" y="2990088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D8E2F2"/>
                </a:solidFill>
                <a:latin typeface="Yu Gothic"/>
                <a:ea typeface="游ゴシック"/>
                <a:cs typeface="游ゴシック"/>
              </a:rPr>
              <a:t>中小企業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246120"/>
            <a:ext cx="2377440" cy="7315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Yu Gothic"/>
                <a:ea typeface="游ゴシック"/>
                <a:cs typeface="游ゴシック"/>
              </a:rPr>
              <a:t>最大 </a:t>
            </a:r>
            <a:r>
              <a:rPr sz="4000" b="1" i="0">
                <a:solidFill>
                  <a:srgbClr val="FFFFFF"/>
                </a:solidFill>
                <a:latin typeface="Arial"/>
                <a:ea typeface="游ゴシック"/>
                <a:cs typeface="游ゴシック"/>
              </a:rPr>
              <a:t>75</a:t>
            </a:r>
            <a:r>
              <a:rPr sz="2200" b="1" i="0">
                <a:solidFill>
                  <a:srgbClr val="D8E2F2"/>
                </a:solidFill>
                <a:latin typeface="Yu Gothic"/>
                <a:ea typeface="游ゴシック"/>
                <a:cs typeface="游ゴシック"/>
              </a:rPr>
              <a:t>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3959352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D8E2F2"/>
                </a:solidFill>
                <a:latin typeface="Yu Gothic"/>
                <a:ea typeface="游ゴシック"/>
                <a:cs typeface="游ゴシック"/>
              </a:rPr>
              <a:t>訓練経費の助成率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04488" y="2788920"/>
            <a:ext cx="2834640" cy="155448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78808" y="2990088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（参考）大企業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60520" y="3246120"/>
            <a:ext cx="2377440" cy="7315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最大 </a:t>
            </a:r>
            <a:r>
              <a:rPr sz="4000" b="1" i="0">
                <a:solidFill>
                  <a:srgbClr val="1D3B6E"/>
                </a:solidFill>
                <a:latin typeface="Arial"/>
                <a:ea typeface="游ゴシック"/>
                <a:cs typeface="游ゴシック"/>
              </a:rPr>
              <a:t>60</a:t>
            </a:r>
            <a:r>
              <a:rPr sz="2200" b="1" i="0">
                <a:solidFill>
                  <a:srgbClr val="2A5ACC"/>
                </a:solidFill>
                <a:latin typeface="Yu Gothic"/>
                <a:ea typeface="游ゴシック"/>
                <a:cs typeface="游ゴシック"/>
              </a:rPr>
              <a:t>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78808" y="3959352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767C87"/>
                </a:solidFill>
                <a:latin typeface="Yu Gothic"/>
                <a:ea typeface="游ゴシック"/>
                <a:cs typeface="游ゴシック"/>
              </a:rPr>
              <a:t>訓練経費の助成率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18832" y="1645920"/>
            <a:ext cx="3931920" cy="2697480"/>
          </a:xfrm>
          <a:prstGeom prst="roundRect">
            <a:avLst>
              <a:gd name="adj" fmla="val 5000"/>
            </a:avLst>
          </a:prstGeom>
          <a:solidFill>
            <a:srgbClr val="ECF1FA"/>
          </a:solidFill>
          <a:ln w="12700">
            <a:solidFill>
              <a:srgbClr val="DDE6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711440" y="1958340"/>
            <a:ext cx="128016" cy="128016"/>
          </a:xfrm>
          <a:prstGeom prst="roundRect">
            <a:avLst>
              <a:gd name="adj" fmla="val 30000"/>
            </a:avLst>
          </a:prstGeom>
          <a:solidFill>
            <a:srgbClr val="2A5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67472" y="1920240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D3B6E"/>
                </a:solidFill>
                <a:latin typeface="Yu Gothic"/>
                <a:ea typeface="游ゴシック"/>
                <a:cs typeface="游ゴシック"/>
              </a:rPr>
              <a:t>訓練経費に加え、訓練中の賃金も助成対象（時間に応じ加算）。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11440" y="2671572"/>
            <a:ext cx="128016" cy="128016"/>
          </a:xfrm>
          <a:prstGeom prst="roundRect">
            <a:avLst>
              <a:gd name="adj" fmla="val 30000"/>
            </a:avLst>
          </a:prstGeom>
          <a:solidFill>
            <a:srgbClr val="2A5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67472" y="2633472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D3B6E"/>
                </a:solidFill>
                <a:latin typeface="Yu Gothic"/>
                <a:ea typeface="游ゴシック"/>
                <a:cs typeface="游ゴシック"/>
              </a:rPr>
              <a:t>申請は実績豊富な提携社労士法人が代行。御社の手間は最小限に。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11440" y="3384804"/>
            <a:ext cx="128016" cy="128016"/>
          </a:xfrm>
          <a:prstGeom prst="roundRect">
            <a:avLst>
              <a:gd name="adj" fmla="val 30000"/>
            </a:avLst>
          </a:prstGeom>
          <a:solidFill>
            <a:srgbClr val="2A5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67472" y="3346704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D3B6E"/>
                </a:solidFill>
                <a:latin typeface="Yu Gothic"/>
                <a:ea typeface="游ゴシック"/>
                <a:cs typeface="游ゴシック"/>
              </a:rPr>
              <a:t>弊社は社労士の紹介料を一切いただきません。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" y="4617720"/>
            <a:ext cx="10509504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67C87"/>
                </a:solidFill>
                <a:latin typeface="Yu Gothic"/>
                <a:ea typeface="游ゴシック"/>
                <a:cs typeface="游ゴシック"/>
              </a:rPr>
              <a:t>※ 助成額・助成率は企業区分・年度・申請内容により異なり、労働局の審査・支給決定が必要です。受給を保証するものではありません。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41248" y="6488176"/>
            <a:ext cx="100584" cy="100584"/>
          </a:xfrm>
          <a:prstGeom prst="rect">
            <a:avLst/>
          </a:prstGeom>
          <a:solidFill>
            <a:srgbClr val="2A5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24128" y="6437376"/>
            <a:ext cx="3657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株式会社AIスキル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93152" y="6437376"/>
            <a:ext cx="3657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67C87"/>
                </a:solidFill>
                <a:latin typeface="Arial"/>
                <a:ea typeface="游ゴシック"/>
                <a:cs typeface="游ゴシック"/>
              </a:rPr>
              <a:t>17 / 25   助成金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1248" y="643128"/>
            <a:ext cx="274320" cy="27940"/>
          </a:xfrm>
          <a:prstGeom prst="rect">
            <a:avLst/>
          </a:prstGeom>
          <a:solidFill>
            <a:srgbClr val="2A5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25296" y="566928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2A5ACC"/>
                </a:solidFill>
                <a:latin typeface="Yu Gothic"/>
                <a:ea typeface="游ゴシック"/>
                <a:cs typeface="游ゴシック"/>
              </a:rPr>
              <a:t>費用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932688"/>
            <a:ext cx="10509504" cy="1463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受講料と、助成金活用時の負担イメージ。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41248" y="2103120"/>
            <a:ext cx="475488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07008" y="237744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標準受講料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697480"/>
            <a:ext cx="4206240" cy="7315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 i="0">
                <a:solidFill>
                  <a:srgbClr val="1B2230"/>
                </a:solidFill>
                <a:latin typeface="Arial"/>
                <a:ea typeface="游ゴシック"/>
                <a:cs typeface="游ゴシック"/>
              </a:rPr>
              <a:t>¥300,300</a:t>
            </a:r>
            <a:r>
              <a:rPr sz="140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 / 人（税込）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07008" y="3429000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全12時間（2h×6回）＋ 研修後3ヶ月のフォローアップ込み。最低5名から。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16168" y="2103120"/>
            <a:ext cx="4983480" cy="1828800"/>
          </a:xfrm>
          <a:prstGeom prst="roundRect">
            <a:avLst>
              <a:gd name="adj" fmla="val 6000"/>
            </a:avLst>
          </a:prstGeom>
          <a:solidFill>
            <a:srgbClr val="142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81928" y="2377440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D8E2F2"/>
                </a:solidFill>
                <a:latin typeface="Yu Gothic"/>
                <a:ea typeface="游ゴシック"/>
                <a:cs typeface="游ゴシック"/>
              </a:rPr>
              <a:t>助成金を活用した場合の自己負担イメージ（中小企業）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2761488"/>
            <a:ext cx="4389120" cy="7315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 i="0">
                <a:solidFill>
                  <a:srgbClr val="FFFFFF"/>
                </a:solidFill>
                <a:latin typeface="Arial"/>
                <a:ea typeface="游ゴシック"/>
                <a:cs typeface="游ゴシック"/>
              </a:rPr>
              <a:t>約 ¥98,675</a:t>
            </a:r>
            <a:r>
              <a:rPr sz="1400" b="0" i="0">
                <a:solidFill>
                  <a:srgbClr val="D8E2F2"/>
                </a:solidFill>
                <a:latin typeface="Yu Gothic"/>
                <a:ea typeface="游ゴシック"/>
                <a:cs typeface="游ゴシック"/>
              </a:rPr>
              <a:t> / 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81928" y="3474720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D8E2F2"/>
                </a:solidFill>
                <a:latin typeface="Yu Gothic"/>
                <a:ea typeface="游ゴシック"/>
                <a:cs typeface="游ゴシック"/>
              </a:rPr>
              <a:t>社労士費用込みの目安（要件を満たし支給決定を受けた場合）。経営者1名は無料招待。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" y="4160520"/>
            <a:ext cx="10509504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浮いた時間で回収できる投資です。</a:t>
            </a:r>
            <a:r>
              <a:rPr sz="140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  月15時間かかっていた業務が半分になれば、年間で約90時間を本来の業務に戻せます。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" y="4800600"/>
            <a:ext cx="10509504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67C87"/>
                </a:solidFill>
                <a:latin typeface="Yu Gothic"/>
                <a:ea typeface="游ゴシック"/>
                <a:cs typeface="游ゴシック"/>
              </a:rPr>
              <a:t>※ 上記は一例の目安です。受給可否・金額は要件充足と労働局の審査・支給決定によります。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41248" y="6488176"/>
            <a:ext cx="100584" cy="100584"/>
          </a:xfrm>
          <a:prstGeom prst="rect">
            <a:avLst/>
          </a:prstGeom>
          <a:solidFill>
            <a:srgbClr val="2A5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24128" y="6437376"/>
            <a:ext cx="3657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株式会社AIスキル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93152" y="6437376"/>
            <a:ext cx="3657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67C87"/>
                </a:solidFill>
                <a:latin typeface="Arial"/>
                <a:ea typeface="游ゴシック"/>
                <a:cs typeface="游ゴシック"/>
              </a:rPr>
              <a:t>18 / 25   費用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1248" y="643128"/>
            <a:ext cx="274320" cy="27940"/>
          </a:xfrm>
          <a:prstGeom prst="rect">
            <a:avLst/>
          </a:prstGeom>
          <a:solidFill>
            <a:srgbClr val="2A5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25296" y="566928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2A5ACC"/>
                </a:solidFill>
                <a:latin typeface="Yu Gothic"/>
                <a:ea typeface="游ゴシック"/>
                <a:cs typeface="游ゴシック"/>
              </a:rPr>
              <a:t>なぜ“今”か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932688"/>
            <a:ext cx="10509504" cy="1463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差がつくのは、ツールの新しさではなく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“</a:t>
            </a:r>
            <a:r>
              <a:rPr sz="2800" b="1" i="0">
                <a:solidFill>
                  <a:srgbClr val="2A5ACC"/>
                </a:solidFill>
                <a:latin typeface="Yu Gothic"/>
                <a:ea typeface="游ゴシック"/>
                <a:cs typeface="游ゴシック"/>
              </a:rPr>
              <a:t>土台を作った時期</a:t>
            </a:r>
            <a:r>
              <a:rPr sz="280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”です。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41248" y="2377440"/>
            <a:ext cx="3320288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15568" y="2688336"/>
            <a:ext cx="310896" cy="38100"/>
          </a:xfrm>
          <a:prstGeom prst="rect">
            <a:avLst/>
          </a:prstGeom>
          <a:solidFill>
            <a:srgbClr val="B48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15568" y="2834640"/>
            <a:ext cx="2771648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1D3B6E"/>
                </a:solidFill>
                <a:latin typeface="Yu Gothic"/>
                <a:ea typeface="游ゴシック"/>
                <a:cs typeface="游ゴシック"/>
              </a:rPr>
              <a:t>取引先・元請けの先行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" y="3429000"/>
            <a:ext cx="2771648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6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取引先が先にAI化すると、対応の差がそのまま受注の差に。「追いつくのは“いつか”でなく今」です。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5856" y="2377440"/>
            <a:ext cx="3320288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10176" y="2688336"/>
            <a:ext cx="310896" cy="38100"/>
          </a:xfrm>
          <a:prstGeom prst="rect">
            <a:avLst/>
          </a:prstGeom>
          <a:solidFill>
            <a:srgbClr val="B48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10176" y="2834640"/>
            <a:ext cx="2771648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1D3B6E"/>
                </a:solidFill>
                <a:latin typeface="Yu Gothic"/>
                <a:ea typeface="游ゴシック"/>
                <a:cs typeface="游ゴシック"/>
              </a:rPr>
              <a:t>複利で開く差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10176" y="3429000"/>
            <a:ext cx="2771648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6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AIは走りながら育てるもの。早く始めた会社ほど、社内にノウハウが蓄積していきます。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30464" y="2377440"/>
            <a:ext cx="3320288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304784" y="2688336"/>
            <a:ext cx="310896" cy="38100"/>
          </a:xfrm>
          <a:prstGeom prst="rect">
            <a:avLst/>
          </a:prstGeom>
          <a:solidFill>
            <a:srgbClr val="B48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04784" y="2834640"/>
            <a:ext cx="2771648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1D3B6E"/>
                </a:solidFill>
                <a:latin typeface="Yu Gothic"/>
                <a:ea typeface="游ゴシック"/>
                <a:cs typeface="游ゴシック"/>
              </a:rPr>
              <a:t>助成金の活用に期限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04784" y="3429000"/>
            <a:ext cx="2771648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6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活用の好機には期限があり、準備にも時間を要します。検討は早いほど有利です。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41248" y="6488176"/>
            <a:ext cx="100584" cy="100584"/>
          </a:xfrm>
          <a:prstGeom prst="rect">
            <a:avLst/>
          </a:prstGeom>
          <a:solidFill>
            <a:srgbClr val="2A5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4128" y="6437376"/>
            <a:ext cx="3657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株式会社AIスキル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93152" y="6437376"/>
            <a:ext cx="3657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67C87"/>
                </a:solidFill>
                <a:latin typeface="Arial"/>
                <a:ea typeface="游ゴシック"/>
                <a:cs typeface="游ゴシック"/>
              </a:rPr>
              <a:t>19 / 25   今、始める理由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42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1248" y="643128"/>
            <a:ext cx="274320" cy="27940"/>
          </a:xfrm>
          <a:prstGeom prst="rect">
            <a:avLst/>
          </a:prstGeom>
          <a:solidFill>
            <a:srgbClr val="D8E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25296" y="566928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D8E2F2"/>
                </a:solidFill>
                <a:latin typeface="Yu Gothic"/>
                <a:ea typeface="游ゴシック"/>
                <a:cs typeface="游ゴシック"/>
              </a:rPr>
              <a:t>まとめ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920240"/>
            <a:ext cx="6400800" cy="23774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FFFFFF"/>
                </a:solidFill>
                <a:latin typeface="Yu Gothic"/>
                <a:ea typeface="游ゴシック"/>
                <a:cs typeface="游ゴシック"/>
              </a:rPr>
              <a:t>完璧を待たず、まず始める。</a:t>
            </a:r>
          </a:p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D8E2F2"/>
                </a:solidFill>
                <a:latin typeface="Yu Gothic"/>
                <a:ea typeface="游ゴシック"/>
                <a:cs typeface="游ゴシック"/>
              </a:rPr>
              <a:t>最高のスタートを、今。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41248" y="4152900"/>
            <a:ext cx="146304" cy="146304"/>
          </a:xfrm>
          <a:prstGeom prst="roundRect">
            <a:avLst>
              <a:gd name="adj" fmla="val 30000"/>
            </a:avLst>
          </a:prstGeom>
          <a:solidFill>
            <a:srgbClr val="D8E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2144" y="411480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Yu Gothic"/>
                <a:ea typeface="游ゴシック"/>
                <a:cs typeface="游ゴシック"/>
              </a:rPr>
              <a:t>研修して終わりにせず、“現場が変わる”まで設計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1248" y="4610100"/>
            <a:ext cx="146304" cy="146304"/>
          </a:xfrm>
          <a:prstGeom prst="roundRect">
            <a:avLst>
              <a:gd name="adj" fmla="val 30000"/>
            </a:avLst>
          </a:prstGeom>
          <a:solidFill>
            <a:srgbClr val="D8E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52144" y="457200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Yu Gothic"/>
                <a:ea typeface="游ゴシック"/>
                <a:cs typeface="游ゴシック"/>
              </a:rPr>
              <a:t>受講前後で効果を測り、経営に見える形で残す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" y="5067300"/>
            <a:ext cx="146304" cy="146304"/>
          </a:xfrm>
          <a:prstGeom prst="roundRect">
            <a:avLst>
              <a:gd name="adj" fmla="val 30000"/>
            </a:avLst>
          </a:prstGeom>
          <a:solidFill>
            <a:srgbClr val="D8E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52144" y="502920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Yu Gothic"/>
                <a:ea typeface="游ゴシック"/>
                <a:cs typeface="游ゴシック"/>
              </a:rPr>
              <a:t>助成金の活用で、投資負担を抑えて始められる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41248" y="6488176"/>
            <a:ext cx="100584" cy="100584"/>
          </a:xfrm>
          <a:prstGeom prst="rect">
            <a:avLst/>
          </a:prstGeom>
          <a:solidFill>
            <a:srgbClr val="D8E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8" y="6437376"/>
            <a:ext cx="3657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Yu Gothic"/>
                <a:ea typeface="游ゴシック"/>
                <a:cs typeface="游ゴシック"/>
              </a:rPr>
              <a:t>株式会社AIスキル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93152" y="6437376"/>
            <a:ext cx="3657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AFBCD4"/>
                </a:solidFill>
                <a:latin typeface="Arial"/>
                <a:ea typeface="游ゴシック"/>
                <a:cs typeface="游ゴシック"/>
              </a:rPr>
              <a:t>20 / 25   まとめ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1248" y="643128"/>
            <a:ext cx="274320" cy="27940"/>
          </a:xfrm>
          <a:prstGeom prst="rect">
            <a:avLst/>
          </a:prstGeom>
          <a:solidFill>
            <a:srgbClr val="2A5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25296" y="566928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2A5ACC"/>
                </a:solidFill>
                <a:latin typeface="Yu Gothic"/>
                <a:ea typeface="游ゴシック"/>
                <a:cs typeface="游ゴシック"/>
              </a:rPr>
              <a:t>次のステップ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932688"/>
            <a:ext cx="10509504" cy="1463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ご導入までの流れ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41248" y="2057400"/>
            <a:ext cx="566928" cy="566928"/>
          </a:xfrm>
          <a:prstGeom prst="roundRect">
            <a:avLst>
              <a:gd name="adj" fmla="val 16000"/>
            </a:avLst>
          </a:prstGeom>
          <a:solidFill>
            <a:srgbClr val="EC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205740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D3B6E"/>
                </a:solidFill>
                <a:latin typeface="Arial"/>
                <a:ea typeface="游ゴシック"/>
                <a:cs typeface="游ゴシック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09928" y="2103120"/>
            <a:ext cx="365760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無料相談・デモ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13248" y="2057400"/>
            <a:ext cx="5486400" cy="56692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御社の業務に合わせた活用イメージをご覧いただきます。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709928" y="2761488"/>
            <a:ext cx="9640824" cy="0"/>
          </a:xfrm>
          <a:prstGeom prst="bentConnector3">
            <a:avLst/>
          </a:prstGeom>
          <a:ln w="12700">
            <a:solidFill>
              <a:srgbClr val="EDEF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841248" y="2898648"/>
            <a:ext cx="566928" cy="566928"/>
          </a:xfrm>
          <a:prstGeom prst="roundRect">
            <a:avLst>
              <a:gd name="adj" fmla="val 16000"/>
            </a:avLst>
          </a:prstGeom>
          <a:solidFill>
            <a:srgbClr val="EC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2898648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D3B6E"/>
                </a:solidFill>
                <a:latin typeface="Arial"/>
                <a:ea typeface="游ゴシック"/>
                <a:cs typeface="游ゴシック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09928" y="2944368"/>
            <a:ext cx="365760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活用設計・効果試算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13248" y="2898648"/>
            <a:ext cx="5486400" cy="56692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どの業務から始めると効くか、ROIを一緒に試算します。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709928" y="3602736"/>
            <a:ext cx="9640824" cy="0"/>
          </a:xfrm>
          <a:prstGeom prst="bentConnector3">
            <a:avLst/>
          </a:prstGeom>
          <a:ln w="12700">
            <a:solidFill>
              <a:srgbClr val="EDEF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41248" y="3739896"/>
            <a:ext cx="566928" cy="566928"/>
          </a:xfrm>
          <a:prstGeom prst="roundRect">
            <a:avLst>
              <a:gd name="adj" fmla="val 16000"/>
            </a:avLst>
          </a:prstGeom>
          <a:solidFill>
            <a:srgbClr val="EC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" y="3739896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D3B6E"/>
                </a:solidFill>
                <a:latin typeface="Arial"/>
                <a:ea typeface="游ゴシック"/>
                <a:cs typeface="游ゴシック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09928" y="3785616"/>
            <a:ext cx="365760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お申込み・助成金申請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13248" y="3739896"/>
            <a:ext cx="5486400" cy="56692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提携社労士が申請を代行。計画申請から伴走します。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709928" y="4443984"/>
            <a:ext cx="9640824" cy="0"/>
          </a:xfrm>
          <a:prstGeom prst="bentConnector3">
            <a:avLst/>
          </a:prstGeom>
          <a:ln w="12700">
            <a:solidFill>
              <a:srgbClr val="EDEF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841248" y="4581144"/>
            <a:ext cx="566928" cy="566928"/>
          </a:xfrm>
          <a:prstGeom prst="roundRect">
            <a:avLst>
              <a:gd name="adj" fmla="val 16000"/>
            </a:avLst>
          </a:prstGeom>
          <a:solidFill>
            <a:srgbClr val="EC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8" y="4581144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D3B6E"/>
                </a:solidFill>
                <a:latin typeface="Arial"/>
                <a:ea typeface="游ゴシック"/>
                <a:cs typeface="游ゴシック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09928" y="4626864"/>
            <a:ext cx="365760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研修開始・定着支援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13248" y="4581144"/>
            <a:ext cx="5486400" cy="56692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専用カリキュラムで研修を実施し、3ヶ月伴走します。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41248" y="6488176"/>
            <a:ext cx="100584" cy="100584"/>
          </a:xfrm>
          <a:prstGeom prst="rect">
            <a:avLst/>
          </a:prstGeom>
          <a:solidFill>
            <a:srgbClr val="2A5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4128" y="6437376"/>
            <a:ext cx="3657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株式会社AIスキル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93152" y="6437376"/>
            <a:ext cx="3657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67C87"/>
                </a:solidFill>
                <a:latin typeface="Arial"/>
                <a:ea typeface="游ゴシック"/>
                <a:cs typeface="游ゴシック"/>
              </a:rPr>
              <a:t>21 / 25   次のステップ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42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iamond 2"/>
          <p:cNvSpPr/>
          <p:nvPr/>
        </p:nvSpPr>
        <p:spPr>
          <a:xfrm>
            <a:off x="841248" y="848360"/>
            <a:ext cx="182880" cy="182880"/>
          </a:xfrm>
          <a:prstGeom prst="diamond">
            <a:avLst/>
          </a:prstGeom>
          <a:solidFill>
            <a:srgbClr val="D8E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33856" y="79756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Yu Gothic"/>
                <a:ea typeface="游ゴシック"/>
                <a:cs typeface="游ゴシック"/>
              </a:rPr>
              <a:t>AIスキル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011680"/>
            <a:ext cx="9144000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Yu Gothic"/>
                <a:ea typeface="游ゴシック"/>
                <a:cs typeface="游ゴシック"/>
              </a:rPr>
              <a:t>お気軽にご相談ください。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788920"/>
            <a:ext cx="8229600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D8E2F2"/>
                </a:solidFill>
                <a:latin typeface="Yu Gothic"/>
                <a:ea typeface="游ゴシック"/>
                <a:cs typeface="游ゴシック"/>
              </a:rPr>
              <a:t>ご質問・無料デモのご希望など、御社に合わせた進め方をご提案します。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3749039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FA3C6"/>
                </a:solidFill>
                <a:latin typeface="Yu Gothic"/>
                <a:ea typeface="游ゴシック"/>
                <a:cs typeface="游ゴシック"/>
              </a:rPr>
              <a:t>会社名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95728" y="3749039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Yu Gothic"/>
                <a:ea typeface="游ゴシック"/>
                <a:cs typeface="游ゴシック"/>
              </a:rPr>
              <a:t>株式会社AIスキル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4206239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FA3C6"/>
                </a:solidFill>
                <a:latin typeface="Yu Gothic"/>
                <a:ea typeface="游ゴシック"/>
                <a:cs typeface="游ゴシック"/>
              </a:rPr>
              <a:t>代表者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95728" y="4206239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Yu Gothic"/>
                <a:ea typeface="游ゴシック"/>
                <a:cs typeface="游ゴシック"/>
              </a:rPr>
              <a:t>立石 亮介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4663439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FA3C6"/>
                </a:solidFill>
                <a:latin typeface="Yu Gothic"/>
                <a:ea typeface="游ゴシック"/>
                <a:cs typeface="游ゴシック"/>
              </a:rPr>
              <a:t>所在地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95728" y="4663439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Yu Gothic"/>
                <a:ea typeface="游ゴシック"/>
                <a:cs typeface="游ゴシック"/>
              </a:rPr>
              <a:t>東京都渋谷区神南1-11-4 FPGリンクス神南 5階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5120639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FA3C6"/>
                </a:solidFill>
                <a:latin typeface="Yu Gothic"/>
                <a:ea typeface="游ゴシック"/>
                <a:cs typeface="游ゴシック"/>
              </a:rPr>
              <a:t>事業内容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95728" y="5120639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Yu Gothic"/>
                <a:ea typeface="游ゴシック"/>
                <a:cs typeface="游ゴシック"/>
              </a:rPr>
              <a:t>AI活用サポート事業／教育事業／コミュニティ事業／SNS事業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41248" y="6488176"/>
            <a:ext cx="100584" cy="100584"/>
          </a:xfrm>
          <a:prstGeom prst="rect">
            <a:avLst/>
          </a:prstGeom>
          <a:solidFill>
            <a:srgbClr val="D8E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4128" y="6437376"/>
            <a:ext cx="3657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Yu Gothic"/>
                <a:ea typeface="游ゴシック"/>
                <a:cs typeface="游ゴシック"/>
              </a:rPr>
              <a:t>株式会社AIスキル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93152" y="6437376"/>
            <a:ext cx="3657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AFBCD4"/>
                </a:solidFill>
                <a:latin typeface="Arial"/>
                <a:ea typeface="游ゴシック"/>
                <a:cs typeface="游ゴシック"/>
              </a:rPr>
              <a:t>22 / 25   お問い合わせ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265176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200">
                <a:solidFill>
                  <a:srgbClr val="2A5ACC"/>
                </a:solidFill>
                <a:latin typeface="Yu Gothic"/>
                <a:ea typeface="游ゴシック"/>
                <a:cs typeface="游ゴシック"/>
              </a:rPr>
              <a:t>Appendix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3017520"/>
            <a:ext cx="10509504" cy="1463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付録：詳細資料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8404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料金の内訳・よくあるご質問。商談に合わせて必要なページのみご参照ください。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6488176"/>
            <a:ext cx="100584" cy="100584"/>
          </a:xfrm>
          <a:prstGeom prst="rect">
            <a:avLst/>
          </a:prstGeom>
          <a:solidFill>
            <a:srgbClr val="2A5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6437376"/>
            <a:ext cx="3657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株式会社AIスキル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93152" y="6437376"/>
            <a:ext cx="3657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67C87"/>
                </a:solidFill>
                <a:latin typeface="Arial"/>
                <a:ea typeface="游ゴシック"/>
                <a:cs typeface="游ゴシック"/>
              </a:rPr>
              <a:t>23 / 25   付録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1248" y="643128"/>
            <a:ext cx="274320" cy="27940"/>
          </a:xfrm>
          <a:prstGeom prst="rect">
            <a:avLst/>
          </a:prstGeom>
          <a:solidFill>
            <a:srgbClr val="2A5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25296" y="566928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2A5ACC"/>
                </a:solidFill>
                <a:latin typeface="Yu Gothic"/>
                <a:ea typeface="游ゴシック"/>
                <a:cs typeface="游ゴシック"/>
              </a:rPr>
              <a:t>付録 ｜ 料金の内訳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932688"/>
            <a:ext cx="10509504" cy="1463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助成金活用時の自己負担イメージ（中小企業・1人あたり・目安）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41248" y="1920240"/>
            <a:ext cx="10509504" cy="0"/>
          </a:xfrm>
          <a:prstGeom prst="bentConnector3">
            <a:avLst/>
          </a:prstGeom>
          <a:ln w="15240">
            <a:solidFill>
              <a:srgbClr val="E3E6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41248" y="2176272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標準受講料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42048" y="2139696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75F70"/>
                </a:solidFill>
                <a:latin typeface="Arial"/>
                <a:ea typeface="游ゴシック"/>
                <a:cs typeface="游ゴシック"/>
              </a:rPr>
              <a:t>¥300,300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41248" y="2670048"/>
            <a:ext cx="10509504" cy="0"/>
          </a:xfrm>
          <a:prstGeom prst="bentConnector3">
            <a:avLst/>
          </a:prstGeom>
          <a:ln w="12700">
            <a:solidFill>
              <a:srgbClr val="EDEF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841248" y="2816352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訓練経費の助成（最大75%）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42048" y="2779776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75F70"/>
                </a:solidFill>
                <a:latin typeface="Arial"/>
                <a:ea typeface="游ゴシック"/>
                <a:cs typeface="游ゴシック"/>
              </a:rPr>
              <a:t>約 −¥225,225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41248" y="3310128"/>
            <a:ext cx="10509504" cy="0"/>
          </a:xfrm>
          <a:prstGeom prst="bentConnector3">
            <a:avLst/>
          </a:prstGeom>
          <a:ln w="12700">
            <a:solidFill>
              <a:srgbClr val="EDEF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41248" y="3456432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賃金助成（訓練時間に応じ）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42048" y="3419856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75F70"/>
                </a:solidFill>
                <a:latin typeface="Arial"/>
                <a:ea typeface="游ゴシック"/>
                <a:cs typeface="游ゴシック"/>
              </a:rPr>
              <a:t>約 −¥12,000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41248" y="3950208"/>
            <a:ext cx="10509504" cy="0"/>
          </a:xfrm>
          <a:prstGeom prst="bentConnector3">
            <a:avLst/>
          </a:prstGeom>
          <a:ln w="12700">
            <a:solidFill>
              <a:srgbClr val="EDEF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841248" y="4096512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社労士費用（助成額の約15%）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42048" y="4059936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75F70"/>
                </a:solidFill>
                <a:latin typeface="Arial"/>
                <a:ea typeface="游ゴシック"/>
                <a:cs typeface="游ゴシック"/>
              </a:rPr>
              <a:t>約 ＋¥35,600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41248" y="4590288"/>
            <a:ext cx="10509504" cy="0"/>
          </a:xfrm>
          <a:prstGeom prst="bentConnector3">
            <a:avLst/>
          </a:prstGeom>
          <a:ln w="12700">
            <a:solidFill>
              <a:srgbClr val="EDEF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49808" y="4544568"/>
            <a:ext cx="10692384" cy="640080"/>
          </a:xfrm>
          <a:prstGeom prst="roundRect">
            <a:avLst>
              <a:gd name="adj" fmla="val 10000"/>
            </a:avLst>
          </a:prstGeom>
          <a:solidFill>
            <a:srgbClr val="EC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" y="4736592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自己負担イメージ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42048" y="4700016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D3B6E"/>
                </a:solidFill>
                <a:latin typeface="Arial"/>
                <a:ea typeface="游ゴシック"/>
                <a:cs typeface="游ゴシック"/>
              </a:rPr>
              <a:t>約 ¥98,675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" y="5394960"/>
            <a:ext cx="10509504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67C87"/>
                </a:solidFill>
                <a:latin typeface="Yu Gothic"/>
                <a:ea typeface="游ゴシック"/>
                <a:cs typeface="游ゴシック"/>
              </a:rPr>
              <a:t>※ 経費助成は訓練時間10〜100時間で上限30万円/人。動画教材を用いた研修は賃金助成の対象外。金額・助成率は企業区分・年度・申請内容により変動し、労働局の審査・支給決定が必要です（受給を保証するものではありません）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41248" y="6488176"/>
            <a:ext cx="100584" cy="100584"/>
          </a:xfrm>
          <a:prstGeom prst="rect">
            <a:avLst/>
          </a:prstGeom>
          <a:solidFill>
            <a:srgbClr val="2A5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24128" y="6437376"/>
            <a:ext cx="3657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株式会社AIスキル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93152" y="6437376"/>
            <a:ext cx="3657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67C87"/>
                </a:solidFill>
                <a:latin typeface="Arial"/>
                <a:ea typeface="游ゴシック"/>
                <a:cs typeface="游ゴシック"/>
              </a:rPr>
              <a:t>24 / 25   付録｜料金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1248" y="643128"/>
            <a:ext cx="274320" cy="27940"/>
          </a:xfrm>
          <a:prstGeom prst="rect">
            <a:avLst/>
          </a:prstGeom>
          <a:solidFill>
            <a:srgbClr val="2A5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25296" y="566928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2A5ACC"/>
                </a:solidFill>
                <a:latin typeface="Yu Gothic"/>
                <a:ea typeface="游ゴシック"/>
                <a:cs typeface="游ゴシック"/>
              </a:rPr>
              <a:t>付録 ｜ よくあるご質問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932688"/>
            <a:ext cx="10509504" cy="1463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よくあるご質問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1828800"/>
            <a:ext cx="4980432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5ACC"/>
                </a:solidFill>
                <a:latin typeface="Yu Gothic"/>
                <a:ea typeface="游ゴシック"/>
                <a:cs typeface="游ゴシック"/>
              </a:rPr>
              <a:t>Q. </a:t>
            </a:r>
            <a:r>
              <a:rPr sz="135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オンラインですか、対面ですか？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176272"/>
            <a:ext cx="4980432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最低5名以上で基本オンライン。10名以上なら対面も可能です（交通費別途）。アーカイブ視聴も可。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70320" y="1828800"/>
            <a:ext cx="4980432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5ACC"/>
                </a:solidFill>
                <a:latin typeface="Yu Gothic"/>
                <a:ea typeface="游ゴシック"/>
                <a:cs typeface="游ゴシック"/>
              </a:rPr>
              <a:t>Q. </a:t>
            </a:r>
            <a:r>
              <a:rPr sz="135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研修期間はどのくらい？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70320" y="2176272"/>
            <a:ext cx="4980432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全12時間（2h×6回が中心）。1ヶ月集中も2〜3ヶ月も、御社の状況に合わせて調整します。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2880360"/>
            <a:ext cx="4980432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5ACC"/>
                </a:solidFill>
                <a:latin typeface="Yu Gothic"/>
                <a:ea typeface="游ゴシック"/>
                <a:cs typeface="游ゴシック"/>
              </a:rPr>
              <a:t>Q. </a:t>
            </a:r>
            <a:r>
              <a:rPr sz="135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社員のITリテラシーが不安です。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3227832"/>
            <a:ext cx="4980432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20〜60代の全世代で好評をいただいています。実業務を題材にするため「自分の仕事でどう使うか」がつかめます。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320" y="2880360"/>
            <a:ext cx="4980432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5ACC"/>
                </a:solidFill>
                <a:latin typeface="Yu Gothic"/>
                <a:ea typeface="游ゴシック"/>
                <a:cs typeface="游ゴシック"/>
              </a:rPr>
              <a:t>Q. </a:t>
            </a:r>
            <a:r>
              <a:rPr sz="135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個人情報は使って大丈夫？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0320" y="3227832"/>
            <a:ext cx="4980432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実データはマスキングしたサンプルを使用。実業務に近い形で安全に演習できます。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" y="3931920"/>
            <a:ext cx="4980432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5ACC"/>
                </a:solidFill>
                <a:latin typeface="Yu Gothic"/>
                <a:ea typeface="游ゴシック"/>
                <a:cs typeface="游ゴシック"/>
              </a:rPr>
              <a:t>Q. </a:t>
            </a:r>
            <a:r>
              <a:rPr sz="135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すでに他社研修を受けています。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" y="4279392"/>
            <a:ext cx="4980432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内容が異なれば助成金は複数回の活用が可能な場合があります。一度内容をご確認ください。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0320" y="3931920"/>
            <a:ext cx="4980432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5ACC"/>
                </a:solidFill>
                <a:latin typeface="Yu Gothic"/>
                <a:ea typeface="游ゴシック"/>
                <a:cs typeface="游ゴシック"/>
              </a:rPr>
              <a:t>Q. </a:t>
            </a:r>
            <a:r>
              <a:rPr sz="135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申請が難しそうです。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0320" y="4279392"/>
            <a:ext cx="4980432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提携社労士が代行。対象判定から書類準備まで支援します（弊社の紹介料なし）。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41248" y="6488176"/>
            <a:ext cx="100584" cy="100584"/>
          </a:xfrm>
          <a:prstGeom prst="rect">
            <a:avLst/>
          </a:prstGeom>
          <a:solidFill>
            <a:srgbClr val="2A5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4128" y="6437376"/>
            <a:ext cx="3657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株式会社AIスキル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93152" y="6437376"/>
            <a:ext cx="3657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67C87"/>
                </a:solidFill>
                <a:latin typeface="Arial"/>
                <a:ea typeface="游ゴシック"/>
                <a:cs typeface="游ゴシック"/>
              </a:rPr>
              <a:t>25 / 25   付録｜FAQ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