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41248" y="592328"/>
            <a:ext cx="182880" cy="182880"/>
          </a:xfrm>
          <a:prstGeom prst="diamond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541528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AIスキル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488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研修で終わらせない。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“現場が変わる”</a:t>
            </a:r>
            <a:r>
              <a:rPr sz="4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931920"/>
            <a:ext cx="987552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「使い方を教える研修」ではありません。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受講後に“あの業務が、実際に変わっている”状態まで設計してお渡しする、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実践型の法人向け生成AI研修のご提案です。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◯◯◯◯株式会社 御中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9592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9592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50608" y="5440680"/>
            <a:ext cx="292608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ご提案日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5696712"/>
            <a:ext cx="30175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2026年6月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" y="1828800"/>
            <a:ext cx="502920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01 / 23   表紙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会社紹介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AIで、人を、社会を、</a:t>
            </a:r>
            <a:r>
              <a:rPr sz="30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未来を変える。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783080"/>
            <a:ext cx="6766560" cy="12801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最先端のAIスキルを、体系的・実践的に学べる教育環境を提供。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AI導入から運用・定着までを、一貫して支援しています。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“使いこなせる人材”を育てることを、最も大切にしています。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61188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8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提供サービス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395020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950208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AI活用サポート事業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3950208"/>
            <a:ext cx="859536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3950208"/>
            <a:ext cx="859536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教育事業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67328" y="3950208"/>
            <a:ext cx="1444752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67328" y="3950208"/>
            <a:ext cx="144475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コミュニティ事業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6672" y="3950208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76672" y="3950208"/>
            <a:ext cx="100584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SNS事業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76032" y="1691640"/>
            <a:ext cx="3474720" cy="278892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68640" y="1965960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会社名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10472" y="1965960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8640" y="2478024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代表者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10472" y="2478024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立石 亮介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68640" y="2990088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設立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10472" y="2990088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2024年12月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8640" y="3502152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所在地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0472" y="3502152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東京都渋谷区神南1-11-4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68640" y="4014216"/>
            <a:ext cx="1005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事業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10472" y="4014216"/>
            <a:ext cx="21031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AI活用支援／教育／コミュニティ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02 / 23   会社紹介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14400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“教える”だけでなく“成果を出す”研修を、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数多くの企業・経営者に。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200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社超</a:t>
            </a:r>
          </a:p>
        </p:txBody>
      </p:sp>
      <p:sp>
        <p:nvSpPr>
          <p:cNvPr id="8" name="Rectangle 7"/>
          <p:cNvSpPr/>
          <p:nvPr/>
        </p:nvSpPr>
        <p:spPr>
          <a:xfrm>
            <a:off x="1639824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研修・セミナー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導入企業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87040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87040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150,000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5616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87040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のべセミナー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参加者数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32832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32832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15,000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31408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32832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AI学習コミュニティ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会員数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3,000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名超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7200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78624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経営者が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研修・セミナー受講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424416" y="2331720"/>
            <a:ext cx="1926336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24416" y="2715768"/>
            <a:ext cx="1926336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7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700</a:t>
            </a: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本超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22992" y="3630168"/>
            <a:ext cx="329184" cy="254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24416" y="3749040"/>
            <a:ext cx="1926336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自社制作の</a:t>
            </a:r>
          </a:p>
          <a:p>
            <a:pPr algn="ctr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AI動画教材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" y="480060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上場企業から数名規模の会社まで、全国・全業種で導入。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業種・規模を問わず成果を出しています。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03 / 23   実績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監修・体制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研修屋ではなく、</a:t>
            </a:r>
            <a:r>
              <a:rPr sz="29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AIの専門性と事業の両方</a:t>
            </a: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を持つチーム。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920240"/>
            <a:ext cx="2468880" cy="2468880"/>
          </a:xfrm>
          <a:prstGeom prst="roundRect">
            <a:avLst>
              <a:gd name="adj" fmla="val 5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3886200"/>
            <a:ext cx="24688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監修者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75888" y="19202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 spc="12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研修プログラム監修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75888" y="2240280"/>
            <a:ext cx="6400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鈴木 章央</a:t>
            </a:r>
            <a:r>
              <a:rPr sz="13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  Suzuki Akihiro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8" y="2926080"/>
            <a:ext cx="667512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国立大学大学院でAI（人工知能）を研究し、修士・博士号を取得。2017年に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AI開発企業を創業し、受託開発・技術顧問・教育事業を展開。企業のAI導入支援を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多数手がける。AIプログラミング講座の講師歴は5年（Udemyでも講座を展開）。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75888" y="4160520"/>
            <a:ext cx="1645920" cy="365760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75888" y="4160520"/>
            <a:ext cx="16459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AI研究 修士・博士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68112" y="4160520"/>
            <a:ext cx="1783080" cy="365760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68112" y="416052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AI受託開発・技術顧問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97496" y="4160520"/>
            <a:ext cx="960120" cy="365760"/>
          </a:xfrm>
          <a:prstGeom prst="roundRect">
            <a:avLst>
              <a:gd name="adj" fmla="val 5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97496" y="4160520"/>
            <a:ext cx="96012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講師歴5年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04 / 23   監修・体制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いま、起きていること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AIは、一部の先進企業だけの話ではありません。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あらゆる規模・業種の企業が、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もう日常業務で使っています。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240280"/>
            <a:ext cx="9601200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「AIで何ができるか」を考える段階は終わり、「どの業務に、どう使い、どう定着させるか」を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競い合う段階に入りました。動き出した企業から、着実に差が開き始めています。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3383280"/>
            <a:ext cx="1124712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3383280"/>
            <a:ext cx="1124712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建設・不動産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12264" y="3383280"/>
            <a:ext cx="55778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12264" y="3383280"/>
            <a:ext cx="55778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製造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16352" y="33832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16352" y="33832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運輸・物流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45636" y="33832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45636" y="33832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商社・小売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33832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33832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医療・介護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4204" y="33832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4204" y="33832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金融・保険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33488" y="338328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3488" y="3383280"/>
            <a:ext cx="126644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士業・コンサル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46236" y="3383280"/>
            <a:ext cx="98298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46236" y="3383280"/>
            <a:ext cx="982980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IT・通信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875520" y="3383280"/>
            <a:ext cx="1408176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3383280"/>
            <a:ext cx="1408176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サービス・ホテル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886200"/>
            <a:ext cx="1266444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886200"/>
            <a:ext cx="1266444" cy="38404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官公庁・自治体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05 / 23   現状認識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多くの企業がぶつかる壁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本当の課題は「ツールを入れること」ではなく、</a:t>
            </a:r>
          </a:p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現場で</a:t>
            </a:r>
            <a:r>
              <a:rPr sz="27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“使われ続けるか”＝定着</a:t>
            </a:r>
            <a:r>
              <a:rPr sz="2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各自バラバラに触っているだけ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個人で使えても、業務に落とし込めず、社内で活用が揃わない。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5856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10176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10176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導入しても、一部の人しか使わない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176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ツールを配ることと、現場で使われ続けることは別問題。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0464" y="2468880"/>
            <a:ext cx="3320288" cy="228600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04784" y="2743200"/>
            <a:ext cx="9144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2CBDA"/>
                </a:solidFill>
                <a:latin typeface="Arial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04784" y="333756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研修しても、元の業務に戻る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784" y="3977640"/>
            <a:ext cx="2771648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「なるほど」で終わり、翌週には以前のやり方に戻ってしまう。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06 / 23   課題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投資判断をためらう、最大の理由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585216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研修しても、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結局、</a:t>
            </a:r>
            <a:r>
              <a:rPr sz="36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誰も使わない。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78752" y="2148840"/>
            <a:ext cx="45720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AI導入をためらう最大の理由は、費用でも難しさでもなく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「お金をかけても、現場が元に戻る」という不安です。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/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私たちが最初に解くのも、この“定着しない”問題。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だから、研修の設計思想そのものが違います。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07 / 23   本当の課題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私たちが売っているもの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103120"/>
            <a:ext cx="6035040" cy="21945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売るのは“研修”ではなく、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“業務が変わった状態”。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70192" y="2194560"/>
            <a:ext cx="448056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「使い方を教える研修」なら世の中に数多くあります。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私たちが大切にするのは、研修後に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“あの業務が実際に変わっている”状態まで</a:t>
            </a:r>
          </a:p>
          <a:p>
            <a:pPr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持っていくこと。題材も御社の実業務そのものを使います。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08 / 23   提供価値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一般的なAI研修との違い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「知っている」で終わらせず、</a:t>
            </a:r>
            <a:r>
              <a:rPr sz="29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「使えている」まで。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12848" y="192024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一般的なAI研修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39128" y="1920240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弊社の実践型研修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304288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510528" y="2377440"/>
            <a:ext cx="4800600" cy="3145536"/>
          </a:xfrm>
          <a:prstGeom prst="roundRect">
            <a:avLst>
              <a:gd name="adj" fmla="val 4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2523744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形式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12848" y="2505456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座学・講義型のインプット／e-Learning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39128" y="2505456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実務課題をその場で解く実践ワークショップ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41248" y="3163824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41248" y="3310128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教材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2848" y="3291840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汎用サンプル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39128" y="3291840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御社の実業務（マスキング）を題材化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41248" y="395020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41248" y="4096512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成果物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12848" y="4078224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ノート・受講証明書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39128" y="4078224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参加者の数だけ“業務改善AI”が完成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41248" y="4736592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41248" y="4882896"/>
            <a:ext cx="1371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研修後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12848" y="4864608"/>
            <a:ext cx="41148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時間が経つと元の業務に戻る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39128" y="4864608"/>
            <a:ext cx="43891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3ヶ月伴走し、社内でPDCAを自走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09 / 23   一般研修との違い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弊社が選ばれる3つの理由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「定着」を、設計に組み込んでいます。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133856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定着まで設計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座学で終わらせず、受講者の実業務をその場で題材に。研修後の運用まで伴走し、“使われ続ける状態”を作ります。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35856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28464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28464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8464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事業を作ってきた人間が設計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28464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研修専業ではなく、実際に事業を立ち上げてきたメンバーが、現場業務とROIの視点で設計します。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0464" y="2148840"/>
            <a:ext cx="3320288" cy="2651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23072" y="2459736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3072" y="24597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3072" y="3108960"/>
            <a:ext cx="2735072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効果の見える化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3072" y="3776472"/>
            <a:ext cx="2771648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受講前後で「この業務が何分→何分」を測定。経営に報告できる形で成果を残します。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10 / 23   選ばれる理由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「また使われないのでは」への答え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受講者が、</a:t>
            </a:r>
            <a:r>
              <a:rPr sz="29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自分でAIを作って回し始める</a:t>
            </a: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まで。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74519"/>
            <a:ext cx="59436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「どうせ定着しない」は、皆さん最初に必ず言われます。</a:t>
            </a:r>
          </a:p>
          <a:p>
            <a:pPr algn="l">
              <a:lnSpc>
                <a:spcPct val="17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私たちが最も力を入れているのが、この“その後”です。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82702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27889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受講者が自らGPTs等を作成し、研修後も“自走”する状態まで設計。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41248" y="3393948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2144" y="3355848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配って終わりにせず、部署横断で日常的に使われる状態へ。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" y="3960876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2144" y="3922776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「この業務が何分→何分」を測り、成果を組織に残す。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27392" y="1828800"/>
            <a:ext cx="4023360" cy="2743200"/>
          </a:xfrm>
          <a:prstGeom prst="roundRect">
            <a:avLst>
              <a:gd name="adj" fmla="val 5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3152" y="2240280"/>
            <a:ext cx="32918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配って終わり、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ではありません。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3152" y="3429000"/>
            <a:ext cx="3337560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大企業でも、最初は“一部しか使わない”状態から、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全部署が日常的に使う状態まで設計できます。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11 / 23   定着の証明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導入企業の成果（実測）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“浮いた時間”が、投資を回収します。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建設業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安全書類の作成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25h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10h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15568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月15時間削減・60%減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元請けごとに異なる書類をAIが8割作成。議事録も10h→3hに。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5856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0176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会計事務所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0176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顧客への月次レポート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0176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24h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12h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10176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10176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月12時間削減・50%減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10176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データ統合〜文面作成を定型化。海外向け提案資料も15h→5h。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30464" y="2011680"/>
            <a:ext cx="3320288" cy="2697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4784" y="2267712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ホテル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4784" y="2560320"/>
            <a:ext cx="2771648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シフト作成業務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4784" y="2926080"/>
            <a:ext cx="2771648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10h</a:t>
            </a:r>
            <a:r>
              <a:rPr sz="1500" b="0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  →  </a:t>
            </a:r>
            <a:r>
              <a:rPr sz="3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5h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04784" y="3639312"/>
            <a:ext cx="1920240" cy="310896"/>
          </a:xfrm>
          <a:prstGeom prst="roundRect">
            <a:avLst>
              <a:gd name="adj" fmla="val 50000"/>
            </a:avLst>
          </a:prstGeom>
          <a:solidFill>
            <a:srgbClr val="F6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04784" y="3639312"/>
            <a:ext cx="1920240" cy="310896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B04E2E"/>
                </a:solidFill>
                <a:latin typeface="Yu Gothic"/>
                <a:ea typeface="游ゴシック"/>
                <a:cs typeface="游ゴシック"/>
              </a:rPr>
              <a:t>月5時間削減・50%減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04784" y="4069080"/>
            <a:ext cx="2771648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属人化していた作成を仕組み化。メニュー案作成も10h→6h。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98348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※ いずれも受講後アンケート・実測値。業種・規模を問わず成果が出ています。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12 / 23   導入事例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研修カリキュラム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全12時間（2時間×6回）。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すべて実務に直結。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0020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講義時間の多くを演習・ワークに充てるハンズオン構成。各回で“その場で動くもの”を作ります。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488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81328" y="21488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テーマ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61888" y="2148840"/>
            <a:ext cx="4572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主なワーク（実技）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41248" y="2441448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1248" y="262432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62432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生成AIの基礎とプロンプト設計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61888" y="26243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出力比較／業務プロンプト作成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41248" y="3099816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41248" y="3191256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3191256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表計算 × AIによる業務効率化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191256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コードによる自動化／データ整形・転記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41248" y="3666744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1248" y="3758184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81328" y="3758184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データ分析 &amp; レポート・資料作成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3758184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レポート作成／スライド生成AI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41248" y="4233672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1248" y="4325112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1328" y="4325112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画像生成・音声入力 × AI活用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4325112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業務用ラフ案生成／短尺PR動画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1248" y="4800600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41248" y="4892040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81328" y="48920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GPTs構築・ナレッジ活用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1888" y="48920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社内資料のQ&amp;A化／RAG型質問応答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41248" y="536752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41248" y="5458968"/>
            <a:ext cx="5486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A5ACC"/>
                </a:solidFill>
                <a:latin typeface="Arial"/>
                <a:ea typeface="游ゴシック"/>
                <a:cs typeface="游ゴシック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458968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全体振り返りと PoC プランニング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61888" y="545896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自社業務への適用設計／PoC決定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1248" y="5934456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13 / 23   研修の中身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導入の進め方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お渡しして終わりにしない、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約半年の伴走。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07008" y="2697480"/>
            <a:ext cx="9686544" cy="0"/>
          </a:xfrm>
          <a:prstGeom prst="bentConnector3">
            <a:avLst/>
          </a:prstGeom>
          <a:ln w="1778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事前ヒアリング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業務・課題を把握し、効く領域を見立てる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68624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8624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8624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専用カリキュラム作成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8624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御社の実業務を題材に内容を設計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96000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96000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6000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研修の実施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0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全12時間。オンライン中心、対面も可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23376" y="24688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1D3B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246888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3154680"/>
            <a:ext cx="2353056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3ヶ月の定着フォロー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23376" y="3611880"/>
            <a:ext cx="2261616" cy="8229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運用に伴走し、効果を測定・見える化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" y="466344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最低5名から（雇用保険加入者）。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経営者・役員1名は無料でご招待します（5名以上のお申込み時）。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14 / 23   進め方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助成金の活用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国の助成金で、研修費の負担を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大きく抑えられます。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645920"/>
            <a:ext cx="6035040" cy="9144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人材開発支援助成金「事業展開等リスキリング支援コース」。</a:t>
            </a:r>
          </a:p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雇用保険の適用事業所が対象で、要件を満たした訓練が助成対象になります。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41248" y="27889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990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中小企業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4612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最大 </a:t>
            </a:r>
            <a:r>
              <a:rPr sz="38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75</a:t>
            </a:r>
            <a:r>
              <a:rPr sz="20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959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訓練経費の助成率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04488" y="2788920"/>
            <a:ext cx="2834640" cy="1554480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78808" y="2990088"/>
            <a:ext cx="22860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大企業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3246120"/>
            <a:ext cx="23774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最大 </a:t>
            </a:r>
            <a:r>
              <a:rPr sz="38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60</a:t>
            </a:r>
            <a:r>
              <a:rPr sz="20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78808" y="3959352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訓練経費の助成率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18832" y="1645920"/>
            <a:ext cx="3931920" cy="2697480"/>
          </a:xfrm>
          <a:prstGeom prst="roundRect">
            <a:avLst>
              <a:gd name="adj" fmla="val 5000"/>
            </a:avLst>
          </a:prstGeom>
          <a:solidFill>
            <a:srgbClr val="ECF1FA"/>
          </a:solidFill>
          <a:ln w="12700">
            <a:solidFill>
              <a:srgbClr val="DDE6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11440" y="1958340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67472" y="1920240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訓練経費に加え、訓練中の賃金も助成対象（時間に応じ加算）。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11440" y="2671572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67472" y="2633472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申請は実績豊富な提携社労士法人が代行。御社の手間は最小限に。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11440" y="3384804"/>
            <a:ext cx="128016" cy="128016"/>
          </a:xfrm>
          <a:prstGeom prst="roundRect">
            <a:avLst>
              <a:gd name="adj" fmla="val 30000"/>
            </a:avLst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67472" y="3346704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弊社は社労士の紹介料を一切いただきません。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" y="4617720"/>
            <a:ext cx="10509504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※ 助成額・助成率は企業区分・年度・申請内容により異なり、労働局の審査・支給決定が必要です。受給を保証するものではありません。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15 / 23   助成金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費用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受講料と、助成金活用時の負担イメージ。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103120"/>
            <a:ext cx="47548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8" y="237744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標準受講料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697480"/>
            <a:ext cx="420624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1B2230"/>
                </a:solidFill>
                <a:latin typeface="Arial"/>
                <a:ea typeface="游ゴシック"/>
                <a:cs typeface="游ゴシック"/>
              </a:rPr>
              <a:t>¥300,300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/ 人（税込）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3429000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全12時間（2h×6回）＋ 研修後3ヶ月のフォローアップ込み。最低5名から。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16168" y="2103120"/>
            <a:ext cx="4983480" cy="1828800"/>
          </a:xfrm>
          <a:prstGeom prst="roundRect">
            <a:avLst>
              <a:gd name="adj" fmla="val 6000"/>
            </a:avLst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1928" y="23774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助成金を活用した場合の自己負担イメージ（中小企業）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761488"/>
            <a:ext cx="4389120" cy="7315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rial"/>
                <a:ea typeface="游ゴシック"/>
                <a:cs typeface="游ゴシック"/>
              </a:rPr>
              <a:t>約 ¥98,675</a:t>
            </a:r>
            <a:r>
              <a:rPr sz="14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 / 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81928" y="3474720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社労士費用込みの目安（要件を満たし支給決定を受けた場合）。経営者1名は無料招待。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4160520"/>
            <a:ext cx="10509504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浮いた時間で回収できる投資です。</a:t>
            </a: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  月15時間かかっていた業務が半分になれば、年間で約90時間を本来の業務に戻せます。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800600"/>
            <a:ext cx="10509504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※ 上記は一例の目安です。受給可否・金額は要件充足と労働局の審査・支給決定によります。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16 / 23   費用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なぜ“今”か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差がつくのは、ツールの新しさではなく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“</a:t>
            </a:r>
            <a:r>
              <a:rPr sz="280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土台を作った時期</a:t>
            </a: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”です。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15568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AIの進化は速い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338328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ツールは日進月歩。差がつくのは「社員が日常業務で使いこなせるか」という活用力です。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5856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10176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10176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複利で開く差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0176" y="338328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AIは走りながら育てるもの。早く始めた企業ほど、社内にノウハウが蓄積していきます。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30464" y="2377440"/>
            <a:ext cx="332028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04784" y="2688336"/>
            <a:ext cx="310896" cy="38100"/>
          </a:xfrm>
          <a:prstGeom prst="rect">
            <a:avLst/>
          </a:prstGeom>
          <a:solidFill>
            <a:srgbClr val="B48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4784" y="2834640"/>
            <a:ext cx="2771648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活用の好機に期限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4784" y="3383280"/>
            <a:ext cx="2771648" cy="10058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助成金の活用機会には期限があり、準備にも時間を要します。検討は早いほど有利です。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17 / 23   今、始める理由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920240"/>
            <a:ext cx="6400800" cy="23774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完璧を待たず、まず始める。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最高のスタートを、今。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41529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52144" y="41148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研修して終わりにせず、“現場が変わる”まで設計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" y="46101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52144" y="45720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受講前後で効果を測り、経営に見える形で残す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5067300"/>
            <a:ext cx="146304" cy="146304"/>
          </a:xfrm>
          <a:prstGeom prst="roundRect">
            <a:avLst>
              <a:gd name="adj" fmla="val 30000"/>
            </a:avLst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5029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助成金の活用で、投資負担を抑えて始められる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18 / 23   まとめ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次のステップ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ご導入までの流れ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2057400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0574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9928" y="2103120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無料相談・デモ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3248" y="2057400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御社の業務に合わせた活用イメージをご覧いただきます。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709928" y="2761488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" y="2898648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898648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09928" y="2944368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活用設計・効果試算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13248" y="2898648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どの業務から始めると効くか、ROIを一緒に試算します。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709928" y="3602736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41248" y="3739896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3739896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3785616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お申込み・助成金申請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13248" y="3739896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提携社労士が申請を代行。計画申請から伴走します。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709928" y="4443984"/>
            <a:ext cx="964082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41248" y="4581144"/>
            <a:ext cx="566928" cy="566928"/>
          </a:xfrm>
          <a:prstGeom prst="roundRect">
            <a:avLst>
              <a:gd name="adj" fmla="val 16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" y="4581144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9928" y="4626864"/>
            <a:ext cx="365760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研修開始・定着支援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13248" y="4581144"/>
            <a:ext cx="5486400" cy="566928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専用カリキュラムで研修を実施し、3ヶ月伴走します。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19 / 23   次のステップ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2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841248" y="848360"/>
            <a:ext cx="182880" cy="182880"/>
          </a:xfrm>
          <a:prstGeom prst="diamond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33856" y="79756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AIスキル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2011680"/>
            <a:ext cx="91440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お気軽にご相談ください。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788920"/>
            <a:ext cx="8229600" cy="7315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D8E2F2"/>
                </a:solidFill>
                <a:latin typeface="Yu Gothic"/>
                <a:ea typeface="游ゴシック"/>
                <a:cs typeface="游ゴシック"/>
              </a:rPr>
              <a:t>ご質問・無料デモのご希望など、御社に合わせた進め方をご提案します。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37490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会社名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95728" y="37490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2062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代表者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42062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立石 亮介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46634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所在地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5728" y="46634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東京都渋谷区神南1-11-4 FPGリンクス神南 5階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120639"/>
            <a:ext cx="14630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FA3C6"/>
                </a:solidFill>
                <a:latin typeface="Yu Gothic"/>
                <a:ea typeface="游ゴシック"/>
                <a:cs typeface="游ゴシック"/>
              </a:rPr>
              <a:t>事業内容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5120639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AI活用サポート事業／教育事業／コミュニティ事業／SNS事業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D8E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FBCD4"/>
                </a:solidFill>
                <a:latin typeface="Arial"/>
                <a:ea typeface="游ゴシック"/>
                <a:cs typeface="游ゴシック"/>
              </a:rPr>
              <a:t>20 / 23   お問い合わせ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41248" y="26517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20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Appendix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3017520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付録：詳細資料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8404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料金の内訳・よくあるご質問。商談に合わせて必要なページのみご参照ください。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21 / 23   付録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付録 ｜ 料金の内訳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助成金活用時の自己負担イメージ（1人あたり・目安）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79008" y="1828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中小企業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39328" y="1828800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D3B6E"/>
                </a:solidFill>
                <a:latin typeface="Yu Gothic"/>
                <a:ea typeface="游ゴシック"/>
                <a:cs typeface="游ゴシック"/>
              </a:rPr>
              <a:t>大企業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41248" y="2139696"/>
            <a:ext cx="10509504" cy="0"/>
          </a:xfrm>
          <a:prstGeom prst="bentConnector3">
            <a:avLst/>
          </a:prstGeom>
          <a:ln w="15240">
            <a:solidFill>
              <a:srgbClr val="E3E6E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41248" y="235000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標準受講料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9008" y="232257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¥300,300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39328" y="2322576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¥300,300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41248" y="2852928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41248" y="2971800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訓練経費の助成（75%／60%）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29443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−¥225,225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9328" y="2944368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−¥180,180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41248" y="3474720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1248" y="3593592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賃金助成（訓練時間に応じ）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79008" y="3566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−¥12,000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3566160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−¥6,000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41248" y="4096512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41248" y="4215384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社労士費用（助成額の約15%）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79008" y="41879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＋¥35,600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4187952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75F70"/>
                </a:solidFill>
                <a:latin typeface="Arial"/>
                <a:ea typeface="游ゴシック"/>
                <a:cs typeface="游ゴシック"/>
              </a:rPr>
              <a:t>約 ＋¥27,900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41248" y="4718304"/>
            <a:ext cx="10509504" cy="0"/>
          </a:xfrm>
          <a:prstGeom prst="bentConnector3">
            <a:avLst/>
          </a:prstGeom>
          <a:ln w="12700">
            <a:solidFill>
              <a:srgbClr val="EDEFF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49808" y="4681728"/>
            <a:ext cx="10692384" cy="621792"/>
          </a:xfrm>
          <a:prstGeom prst="roundRect">
            <a:avLst>
              <a:gd name="adj" fmla="val 10000"/>
            </a:avLst>
          </a:prstGeom>
          <a:solidFill>
            <a:srgbClr val="EC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837176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自己負担イメージ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79008" y="48097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B2230"/>
                </a:solidFill>
                <a:latin typeface="Arial"/>
                <a:ea typeface="游ゴシック"/>
                <a:cs typeface="游ゴシック"/>
              </a:rPr>
              <a:t>約 ¥98,675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4809744"/>
            <a:ext cx="256032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D3B6E"/>
                </a:solidFill>
                <a:latin typeface="Arial"/>
                <a:ea typeface="游ゴシック"/>
                <a:cs typeface="游ゴシック"/>
              </a:rPr>
              <a:t>約 ¥142,000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" y="5532120"/>
            <a:ext cx="10509504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Yu Gothic"/>
                <a:ea typeface="游ゴシック"/>
                <a:cs typeface="游ゴシック"/>
              </a:rPr>
              <a:t>※ 経費助成は訓練時間10〜100時間で上限30万円/人。動画教材を用いた研修は賃金助成の対象外。金額・助成率は企業区分・年度・申請内容により変動し、労働局の審査・支給決定が必要です（受給を保証するものではありません）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22 / 23   付録｜料金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" y="643128"/>
            <a:ext cx="274320" cy="27940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25296" y="566928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 spc="16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付録 ｜ よくあるご質問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932688"/>
            <a:ext cx="10509504" cy="1371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よくあるご質問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182880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オンラインですか、対面ですか？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217627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最低5名以上で基本オンライン。10名以上なら対面も可能です（交通費別途）。アーカイブ視聴も可。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320" y="182880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研修期間はどのくらい？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320" y="217627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全12時間（2h×6回が中心）。1ヶ月集中も2〜3ヶ月も、御社の状況に合わせて調整します。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8036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社員のITリテラシーが不安です。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322783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幅広い年代で好評をいただいています。実業務を題材にするため「自分の仕事でどう使うか」がつかめます。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0320" y="288036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個人情報は使って大丈夫？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0320" y="322783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実データはマスキングしたサンプルを使用。実業務に近い形で安全に演習できます。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93192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すでに他社研修を受けています。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427939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内容が異なれば助成金は複数回の活用が可能な場合があります。一度内容をご確認ください。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0320" y="3931920"/>
            <a:ext cx="4980432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A5ACC"/>
                </a:solidFill>
                <a:latin typeface="Yu Gothic"/>
                <a:ea typeface="游ゴシック"/>
                <a:cs typeface="游ゴシック"/>
              </a:rPr>
              <a:t>Q. </a:t>
            </a:r>
            <a:r>
              <a:rPr sz="13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申請が難しそうです。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320" y="4279392"/>
            <a:ext cx="4980432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75F70"/>
                </a:solidFill>
                <a:latin typeface="Yu Gothic"/>
                <a:ea typeface="游ゴシック"/>
                <a:cs typeface="游ゴシック"/>
              </a:rPr>
              <a:t>提携社労士が代行。対象判定から書類準備まで支援します（弊社の紹介料なし）。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6488176"/>
            <a:ext cx="100584" cy="100584"/>
          </a:xfrm>
          <a:prstGeom prst="rect">
            <a:avLst/>
          </a:prstGeom>
          <a:solidFill>
            <a:srgbClr val="2A5A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2230"/>
                </a:solidFill>
                <a:latin typeface="Yu Gothic"/>
                <a:ea typeface="游ゴシック"/>
                <a:cs typeface="游ゴシック"/>
              </a:rPr>
              <a:t>株式会社AIスキル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93152" y="6437376"/>
            <a:ext cx="3657600" cy="27432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79EAB"/>
                </a:solidFill>
                <a:latin typeface="Arial"/>
                <a:ea typeface="游ゴシック"/>
                <a:cs typeface="游ゴシック"/>
              </a:rPr>
              <a:t>23 / 23   付録｜FAQ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