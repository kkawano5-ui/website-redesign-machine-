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D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058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陶彩館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3E0CF"/>
                </a:solidFill>
                <a:latin typeface="Meiryo"/>
                <a:ea typeface="Meiryo"/>
                <a:cs typeface="Meiryo"/>
              </a:rPr>
              <a:t>T O U S A I K A N  ｜  和歌山・泉佐野のリフォーム専門店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住まいと暮らしに、彩りを。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― 会社紹介・営業提案資料 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548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82296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創業50年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4754880"/>
            <a:ext cx="1847088" cy="384048"/>
          </a:xfrm>
          <a:prstGeom prst="roundRect">
            <a:avLst>
              <a:gd name="adj" fmla="val 50000"/>
            </a:avLst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754880"/>
            <a:ext cx="184708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施工実績 55,000件超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75888" y="4754880"/>
            <a:ext cx="1591056" cy="384048"/>
          </a:xfrm>
          <a:prstGeom prst="roundRect">
            <a:avLst>
              <a:gd name="adj" fmla="val 50000"/>
            </a:avLst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4754880"/>
            <a:ext cx="1591056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和歌山県 売上No.1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9824" y="475488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9824" y="4754880"/>
            <a:ext cx="1335024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自社施工・安心保証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6B5F54"/>
                </a:solidFill>
                <a:latin typeface="Meiryo"/>
                <a:ea typeface="Meiryo"/>
                <a:cs typeface="Meiryo"/>
              </a:rPr>
              <a:t>オーヤシマ株式会社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457200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OUR MISSION ｜ 私たちの想い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家族の笑顔を、地域と未来へつなぐ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89888"/>
            <a:ext cx="2011680" cy="32004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陶彩館｜オーヤシマ株式会社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6035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6B5F54"/>
                </a:solidFill>
                <a:latin typeface="Meiryo"/>
                <a:ea typeface="Meiryo"/>
                <a:cs typeface="Meiryo"/>
              </a:rPr>
              <a:t>経営理念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603504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「住まいと暮らしに彩りを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〜家族の笑顔を地域社会と未来につなぐ〜」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603504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1975年の創業以来、半世紀にわたり地域の住まいと向き合ってきました。リフォームは「工事」ではなく、お客様一人ひとりの暮らしの想いをかたちにすること。水まわりの小さなお困りごとから、住み継ぐための大規模な改修まで、「相談してよかった」と言っていただける一社であり続け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920240"/>
            <a:ext cx="214884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084832"/>
            <a:ext cx="21488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50</a:t>
            </a:r>
            <a:r>
              <a:rPr sz="15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670048"/>
            <a:ext cx="2148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地域の実績（1975年〜）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1920240"/>
            <a:ext cx="214884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2084832"/>
            <a:ext cx="21488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55,000</a:t>
            </a:r>
            <a:r>
              <a:rPr sz="15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件+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2670048"/>
            <a:ext cx="2148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累計施工実績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3383280"/>
            <a:ext cx="214884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547872"/>
            <a:ext cx="21488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No.1</a:t>
            </a:r>
            <a:r>
              <a:rPr sz="15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133088"/>
            <a:ext cx="2148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和歌山県 売上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3383280"/>
            <a:ext cx="214884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3547872"/>
            <a:ext cx="21488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2</a:t>
            </a:r>
            <a:r>
              <a:rPr sz="15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店舗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4133088"/>
            <a:ext cx="2148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和歌山・大阪に展開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457200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COMPANY ｜ 会社概要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会社概要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89888"/>
            <a:ext cx="2011680" cy="32004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陶彩館｜オーヤシマ株式会社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2286000" cy="512064"/>
          </a:xfrm>
          <a:prstGeom prst="rect">
            <a:avLst/>
          </a:prstGeom>
          <a:solidFill>
            <a:srgbClr val="FBEEDE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0" y="1828800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28800"/>
            <a:ext cx="21031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商号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1828800"/>
            <a:ext cx="8229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オーヤシマ株式会社（リフォーム専門店「陶彩館」）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95728"/>
            <a:ext cx="2286000" cy="512064"/>
          </a:xfrm>
          <a:prstGeom prst="rect">
            <a:avLst/>
          </a:prstGeom>
          <a:solidFill>
            <a:srgbClr val="FBEEDE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0" y="2395728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395728"/>
            <a:ext cx="21031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創業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39" y="2395728"/>
            <a:ext cx="8229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1975年（昭和50年）　― 半世紀にわたり地域の住まいを支える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962656"/>
            <a:ext cx="2286000" cy="512064"/>
          </a:xfrm>
          <a:prstGeom prst="rect">
            <a:avLst/>
          </a:prstGeom>
          <a:solidFill>
            <a:srgbClr val="FBEEDE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0" y="2962656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962656"/>
            <a:ext cx="21031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事業内容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39" y="2962656"/>
            <a:ext cx="8229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住宅リフォーム全般／水まわり設備工事／屋根・外壁塗装／増改築・断熱改修／バリアフリー改修／太陽光・省エネ設備／外構工事 ほか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29584"/>
            <a:ext cx="2286000" cy="512064"/>
          </a:xfrm>
          <a:prstGeom prst="rect">
            <a:avLst/>
          </a:prstGeom>
          <a:solidFill>
            <a:srgbClr val="FBEEDE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26080" y="3529584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529584"/>
            <a:ext cx="21031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拠点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39" y="3529584"/>
            <a:ext cx="8229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■ 岩出本店（ショールーム）和歌山県岩出市　　■ りんくう店 大阪府泉佐野市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096512"/>
            <a:ext cx="2286000" cy="512064"/>
          </a:xfrm>
          <a:prstGeom prst="rect">
            <a:avLst/>
          </a:prstGeom>
          <a:solidFill>
            <a:srgbClr val="FBEEDE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80" y="4096512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096512"/>
            <a:ext cx="21031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ショールーム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39" y="4096512"/>
            <a:ext cx="8229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展示面積 約800坪・実機80台以上を常設展示（キッチン／バス／トイレ／洗面 ほか）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663440"/>
            <a:ext cx="2286000" cy="512064"/>
          </a:xfrm>
          <a:prstGeom prst="rect">
            <a:avLst/>
          </a:prstGeom>
          <a:solidFill>
            <a:srgbClr val="FBEEDE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26080" y="4663440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663440"/>
            <a:ext cx="21031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体制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39" y="4663440"/>
            <a:ext cx="8229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ショールームアドバイザー・設計・コーディネーター・施工監理・施工・メンテナンスの各専門部門による一貫体制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230368"/>
            <a:ext cx="2286000" cy="512064"/>
          </a:xfrm>
          <a:prstGeom prst="rect">
            <a:avLst/>
          </a:prstGeom>
          <a:solidFill>
            <a:srgbClr val="FBEEDE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80" y="5230368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230368"/>
            <a:ext cx="21031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加盟・パートナー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39" y="5230368"/>
            <a:ext cx="8229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タカラスタンダード パートナーショップ／TOTO リモデルクラブ店／Panasonic リフォーム ほか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※ 本資料の数値・項目は公開情報をもとにした営業提案用サンプルです。正式利用時は社内の最新情報に差し替えてください。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457200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WHY US ｜ 選ばれ続ける理由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陶彩館が選ばれる、3つの理由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89888"/>
            <a:ext cx="2011680" cy="32004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陶彩館｜オーヤシマ株式会社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342900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3429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24328"/>
            <a:ext cx="30632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① 確かな実績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08376"/>
            <a:ext cx="3154680" cy="3383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創業50年・施工実績55,000件超。和歌山県売上No.1の信頼。地域で積み重ねた経験が、最適なご提案を支えます。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920240"/>
            <a:ext cx="342900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121408"/>
            <a:ext cx="3429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624328"/>
            <a:ext cx="30632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② 体感できる大型ショールーム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008376"/>
            <a:ext cx="3154680" cy="3383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約800坪・実機80台以上。実物を見て・ふれて・比べて選べるから、仕上がりのイメージ違いがありません。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920240"/>
            <a:ext cx="342900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2121408"/>
            <a:ext cx="3429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999" y="2624328"/>
            <a:ext cx="30632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③ 自社施工＆ワンストップ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999" y="3008376"/>
            <a:ext cx="3154680" cy="3383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相談・設計・施工・アフターまで自社一貫。工事を丸投げしないから、責任の所在が明確で安心です。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― 次ページから、3つの理由を詳しくご紹介します 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457200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REASON 01 ｜ 確かな実績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50年・55,000件が証明する信頼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89888"/>
            <a:ext cx="2011680" cy="32004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陶彩館｜オーヤシマ株式会社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612648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リフォームは、暮らしてみて初めて分かることが多いお買い物です。だからこそ、地域で長く・数多く手がけてきた経験がものを言います。陶彩館は和歌山・泉佐野エリアで圧倒的な施工件数を積み重ね、「この間取りなら」「この築年数なら」という引き出しの多さでご提案します。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67327"/>
            <a:ext cx="256032" cy="256032"/>
          </a:xfrm>
          <a:prstGeom prst="ellipse">
            <a:avLst/>
          </a:prstGeom>
          <a:solidFill>
            <a:srgbClr val="5B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30751"/>
            <a:ext cx="256032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749039"/>
            <a:ext cx="5760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和歌山県 リフォーム売上 No.1の実績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70247"/>
            <a:ext cx="256032" cy="256032"/>
          </a:xfrm>
          <a:prstGeom prst="ellipse">
            <a:avLst/>
          </a:prstGeom>
          <a:solidFill>
            <a:srgbClr val="5B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33671"/>
            <a:ext cx="256032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7" y="4251959"/>
            <a:ext cx="5760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水まわりから屋根・外壁、増改築まで幅広い対応力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773167"/>
            <a:ext cx="256032" cy="256032"/>
          </a:xfrm>
          <a:prstGeom prst="ellipse">
            <a:avLst/>
          </a:prstGeom>
          <a:solidFill>
            <a:srgbClr val="5B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36591"/>
            <a:ext cx="256032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7" y="4754879"/>
            <a:ext cx="5760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地域密着だから、施工後も「すぐ駆けつけられる」距離感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920240"/>
            <a:ext cx="20116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2084832"/>
            <a:ext cx="20116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55,000</a:t>
            </a:r>
            <a:r>
              <a:rPr sz="15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件+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670048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累計施工実績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1920240"/>
            <a:ext cx="20116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084832"/>
            <a:ext cx="20116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50</a:t>
            </a:r>
            <a:r>
              <a:rPr sz="15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670048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創業からの歩み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3383280"/>
            <a:ext cx="20116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3547872"/>
            <a:ext cx="20116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No.1</a:t>
            </a:r>
            <a:r>
              <a:rPr sz="15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133088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和歌山県 売上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3383280"/>
            <a:ext cx="20116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3547872"/>
            <a:ext cx="20116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14</a:t>
            </a:r>
            <a:r>
              <a:rPr sz="15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億円+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4133088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年商規模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457200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REASON 02 ｜ 体感できるショールーム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「見て・ふれて・比べて」選べる安心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89888"/>
            <a:ext cx="2011680" cy="32004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陶彩館｜オーヤシマ株式会社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カタログだけでは分からない、サイズ感・質感・使い勝手。約800坪の大型展示で“実物”をご体感いただけます。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254203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33472"/>
            <a:ext cx="25420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約800</a:t>
            </a:r>
            <a:r>
              <a:rPr sz="15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18688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展示面積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468880"/>
            <a:ext cx="254203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633472"/>
            <a:ext cx="25420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80</a:t>
            </a:r>
            <a:r>
              <a:rPr sz="15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台+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218688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実機展示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468880"/>
            <a:ext cx="254203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633472"/>
            <a:ext cx="25420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複数</a:t>
            </a:r>
            <a:r>
              <a:rPr sz="15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218688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メーカーを一度に比較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2468880"/>
            <a:ext cx="254203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2633472"/>
            <a:ext cx="25420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予約</a:t>
            </a:r>
            <a:r>
              <a:rPr sz="15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218688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じっくり相談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77639"/>
            <a:ext cx="2542032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78807"/>
            <a:ext cx="217627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キッチン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36007"/>
            <a:ext cx="2267712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システムキッチンを多数展示。高さ・収納・動線を実感。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977639"/>
            <a:ext cx="2542032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4178807"/>
            <a:ext cx="217627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バスルーム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636007"/>
            <a:ext cx="2267712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システムバスの広さ・保温性・お掃除のしやすさを体感。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977639"/>
            <a:ext cx="2542032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4178807"/>
            <a:ext cx="217627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トイレ・洗面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636007"/>
            <a:ext cx="2267712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最新の節水・お手入れ性能を見比べて選べます。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0" y="3977639"/>
            <a:ext cx="2542032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4178807"/>
            <a:ext cx="217627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専門アドバイザー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4636007"/>
            <a:ext cx="2267712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各分野の担当が、暮らしに合う1台をご提案。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457200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REASON 03 ｜ 自社施工・ワンストップ体制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相談から完成・その後まで、一社完結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89888"/>
            <a:ext cx="2011680" cy="32004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陶彩館｜オーヤシマ株式会社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603504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陶彩館は工事を外注に丸投げせず、自社施工で品質を管理します。営業・設計・コーディネート・施工監理・施工・アフターまで、各分野の専門スタッフがチームでお客様を担当。「言った・言わない」「窓口がたらい回し」がなく、責任の所在が明確です。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904487"/>
            <a:ext cx="256032" cy="256032"/>
          </a:xfrm>
          <a:prstGeom prst="ellipse">
            <a:avLst/>
          </a:prstGeom>
          <a:solidFill>
            <a:srgbClr val="5B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67912"/>
            <a:ext cx="256032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886200"/>
            <a:ext cx="5577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窓口が一本化され、打合せがスムーズ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407407"/>
            <a:ext cx="256032" cy="256032"/>
          </a:xfrm>
          <a:prstGeom prst="ellipse">
            <a:avLst/>
          </a:prstGeom>
          <a:solidFill>
            <a:srgbClr val="5B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70832"/>
            <a:ext cx="256032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7" y="4389120"/>
            <a:ext cx="5577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現場を知る自社職人だから仕上がりが安定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910327"/>
            <a:ext cx="256032" cy="256032"/>
          </a:xfrm>
          <a:prstGeom prst="ellipse">
            <a:avLst/>
          </a:prstGeom>
          <a:solidFill>
            <a:srgbClr val="5B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73752"/>
            <a:ext cx="256032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7" y="4892040"/>
            <a:ext cx="5577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引き渡し後のメンテナンスも自社で対応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920240"/>
            <a:ext cx="4297680" cy="3931920"/>
          </a:xfrm>
          <a:prstGeom prst="roundRect">
            <a:avLst>
              <a:gd name="adj" fmla="val 5000"/>
            </a:avLst>
          </a:prstGeom>
          <a:solidFill>
            <a:srgbClr val="FB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084831"/>
            <a:ext cx="4297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専門チームでお客様を担当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0" y="2697480"/>
            <a:ext cx="374904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2697480"/>
            <a:ext cx="37490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ショールーム／リフォームアドバイザー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0" y="3410712"/>
            <a:ext cx="374904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3410712"/>
            <a:ext cx="37490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設計・コーディネーター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4123944"/>
            <a:ext cx="374904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4123944"/>
            <a:ext cx="37490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施工監理・自社施工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0" y="4892040"/>
            <a:ext cx="3749040" cy="640080"/>
          </a:xfrm>
          <a:prstGeom prst="roundRect">
            <a:avLst>
              <a:gd name="adj" fmla="val 12000"/>
            </a:avLst>
          </a:prstGeom>
          <a:solidFill>
            <a:srgbClr val="5B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4892040"/>
            <a:ext cx="37490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アフター・メンテナンス専任スタッフ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457200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PRODUCTS ｜ 取扱い商材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住まいのことなら、何でもご相談ください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89888"/>
            <a:ext cx="2011680" cy="32004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陶彩館｜オーヤシマ株式会社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75687"/>
            <a:ext cx="2606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7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水まわり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62655"/>
            <a:ext cx="233172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キッチン・浴室・トイレ・洗面。満足度を一番上げやすい工事。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7" y="1874519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7" y="2075687"/>
            <a:ext cx="2606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7" y="2578607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屋根・外壁塗装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7" y="2962655"/>
            <a:ext cx="233172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住まいを雨風から守り外観も一新。建物の寿命を延ばします。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874519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2075687"/>
            <a:ext cx="2606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🏗️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578607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増改築・間取り変更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962655"/>
            <a:ext cx="233172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家族構成や暮らし方の変化に合わせ住まいを再設計。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3" y="1874519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1703" y="2075687"/>
            <a:ext cx="2606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🌡️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3" y="2578607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断熱・省エネ改修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3" y="2962655"/>
            <a:ext cx="233172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夏涼しく冬暖かい家へ。光熱費とからだにやさしく。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947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95928"/>
            <a:ext cx="2606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498848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バリアフリー改修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882896"/>
            <a:ext cx="233172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手すり・段差解消。これからも安心して暮らせる住まいへ。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47287" y="37947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47287" y="3995928"/>
            <a:ext cx="2606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☀️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7" y="4498848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太陽光・蓄電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7" y="4882896"/>
            <a:ext cx="233172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創エネ・省エネで電気代と災害への備えを両立。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54496" y="37947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4496" y="3995928"/>
            <a:ext cx="2606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4498848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外構・エクステリア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4882896"/>
            <a:ext cx="233172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玄関まわり・カーポート・お庭まで第一印象を整える。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61703" y="37947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61703" y="3995928"/>
            <a:ext cx="2606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🛠️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7423" y="4498848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小工事・修繕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07423" y="4882896"/>
            <a:ext cx="233172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「ここだけ」のお困りごとも歓迎。お付き合いの入口に。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水まわりの1ヶ所から、住まい全体のトータルリフォームまで。“まとめて相談できる”のが強みです。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457200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MAKERS ｜ 取扱メーカー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主要メーカー 正規パートナー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89888"/>
            <a:ext cx="2011680" cy="32004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陶彩館｜オーヤシマ株式会社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国内主要メーカーの認定店だから、豊富な品揃え・適正価格・メーカー保証まで安心。1社では選びきれない比較も、陶彩館なら一度に。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3520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タカラスタンダード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3063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ホーロー素材に強み。汚れに強く長持ちするキッチン・バス。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87068" y="3931920"/>
            <a:ext cx="1426464" cy="384048"/>
          </a:xfrm>
          <a:prstGeom prst="roundRect">
            <a:avLst>
              <a:gd name="adj" fmla="val 50000"/>
            </a:avLst>
          </a:prstGeom>
          <a:solidFill>
            <a:srgbClr val="FB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87068" y="3931920"/>
            <a:ext cx="1426464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パートナーショップ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51460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697480"/>
            <a:ext cx="3520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TOTO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00400"/>
            <a:ext cx="3063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節水・清掃性に優れた水まわり設備。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54396" y="39319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FB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4396" y="3931920"/>
            <a:ext cx="12984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リモデルクラブ店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2514600"/>
            <a:ext cx="3520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2697480"/>
            <a:ext cx="3520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Panasonic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200400"/>
            <a:ext cx="3063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住宅設備をトータルに展開。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9698" y="39319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B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9698" y="3931920"/>
            <a:ext cx="155448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リフォームパートナー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09160"/>
            <a:ext cx="10908792" cy="1143000"/>
          </a:xfrm>
          <a:prstGeom prst="roundRect">
            <a:avLst>
              <a:gd name="adj" fmla="val 6000"/>
            </a:avLst>
          </a:prstGeom>
          <a:solidFill>
            <a:srgbClr val="FB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64608"/>
            <a:ext cx="10424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営業トーク例：</a:t>
            </a:r>
            <a:r>
              <a:rPr sz="125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「メーカーごとに“得意分野”が違います。タカラさんは汚れに強いホーロー、TOTOさんは節水とお掃除のしやすさ…。当店なら実機を並べて比較できるので、ご予算とご希望に一番合う1台を一緒に選べますよ。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※ 取扱メーカー・加盟内容は時期により異なります。最新状況は店舗にご確認ください。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457200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FLOW ｜ ご相談から完成までの流れ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はじめてでも安心の6ステップ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89888"/>
            <a:ext cx="2011680" cy="32004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陶彩館｜オーヤシマ株式会社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011680"/>
            <a:ext cx="566928" cy="566928"/>
          </a:xfrm>
          <a:prstGeom prst="ellipse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93392"/>
            <a:ext cx="4480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ご相談・ショールーム来店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395728"/>
            <a:ext cx="44805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お困りごとやご希望をヒアリング。実機を見ながらイメージを膨らませます。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29000"/>
            <a:ext cx="566928" cy="566928"/>
          </a:xfrm>
          <a:prstGeom prst="ellipse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410712"/>
            <a:ext cx="4480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現地調査・お見積り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13048"/>
            <a:ext cx="44805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専門スタッフが現場を確認し、最適なプランとお見積りをご提示。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846320"/>
            <a:ext cx="566928" cy="566928"/>
          </a:xfrm>
          <a:prstGeom prst="ellipse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28032"/>
            <a:ext cx="4480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プランご提案・ご契約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230368"/>
            <a:ext cx="44805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設計・コーディネーターが仕様を具体化。ご納得いただいてからご契約。</a:t>
            </a:r>
          </a:p>
        </p:txBody>
      </p:sp>
      <p:sp>
        <p:nvSpPr>
          <p:cNvPr id="21" name="Oval 20"/>
          <p:cNvSpPr/>
          <p:nvPr/>
        </p:nvSpPr>
        <p:spPr>
          <a:xfrm>
            <a:off x="6309359" y="2011680"/>
            <a:ext cx="566928" cy="566928"/>
          </a:xfrm>
          <a:prstGeom prst="ellipse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20116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599" y="1993392"/>
            <a:ext cx="4480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着工・自社施工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599" y="2395728"/>
            <a:ext cx="44805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施工監理のもと自社職人が丁寧に工事。近隣への配慮も徹底。</a:t>
            </a:r>
          </a:p>
        </p:txBody>
      </p:sp>
      <p:sp>
        <p:nvSpPr>
          <p:cNvPr id="25" name="Oval 24"/>
          <p:cNvSpPr/>
          <p:nvPr/>
        </p:nvSpPr>
        <p:spPr>
          <a:xfrm>
            <a:off x="6309359" y="3429000"/>
            <a:ext cx="566928" cy="566928"/>
          </a:xfrm>
          <a:prstGeom prst="ellipse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34290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599" y="3410712"/>
            <a:ext cx="4480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完成・お引き渡し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599" y="3813048"/>
            <a:ext cx="44805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仕上がりをご一緒に確認。使い方もしっかりご説明します。</a:t>
            </a:r>
          </a:p>
        </p:txBody>
      </p:sp>
      <p:sp>
        <p:nvSpPr>
          <p:cNvPr id="29" name="Oval 28"/>
          <p:cNvSpPr/>
          <p:nvPr/>
        </p:nvSpPr>
        <p:spPr>
          <a:xfrm>
            <a:off x="6309359" y="4846320"/>
            <a:ext cx="566928" cy="566928"/>
          </a:xfrm>
          <a:prstGeom prst="ellipse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484632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599" y="4828032"/>
            <a:ext cx="4480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アフター・メンテナンス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599" y="5230368"/>
            <a:ext cx="44805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工事保証と専任スタッフで、引き渡し後も末永くサポート。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457200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WARRANTY ｜ 保証・アフターサービス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「つくって終わり」にしない安心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89888"/>
            <a:ext cx="2011680" cy="32004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陶彩館｜オーヤシマ株式会社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039112"/>
            <a:ext cx="274320" cy="274320"/>
          </a:xfrm>
          <a:prstGeom prst="ellipse">
            <a:avLst/>
          </a:prstGeom>
          <a:solidFill>
            <a:srgbClr val="5B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27432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11680"/>
            <a:ext cx="5486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工事保証で、施工後の万一に備えます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679191"/>
            <a:ext cx="274320" cy="274320"/>
          </a:xfrm>
          <a:prstGeom prst="ellipse">
            <a:avLst/>
          </a:prstGeom>
          <a:solidFill>
            <a:srgbClr val="5B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27432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51760"/>
            <a:ext cx="5486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メーカー保証＋正規パートナーならではの確実な対応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319272"/>
            <a:ext cx="274320" cy="274320"/>
          </a:xfrm>
          <a:prstGeom prst="ellipse">
            <a:avLst/>
          </a:prstGeom>
          <a:solidFill>
            <a:srgbClr val="5B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91840"/>
            <a:ext cx="27432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91840"/>
            <a:ext cx="5486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専任メンテナンススタッフがアフターを担当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959352"/>
            <a:ext cx="274320" cy="274320"/>
          </a:xfrm>
          <a:prstGeom prst="ellipse">
            <a:avLst/>
          </a:prstGeom>
          <a:solidFill>
            <a:srgbClr val="5B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5486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地域密着だから、何かあればすぐ駆けつけられる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599432"/>
            <a:ext cx="274320" cy="274320"/>
          </a:xfrm>
          <a:prstGeom prst="ellipse">
            <a:avLst/>
          </a:prstGeom>
          <a:solidFill>
            <a:srgbClr val="5B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27432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572000"/>
            <a:ext cx="5486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長いお付き合いの中で、次の住まいの相談先に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011680"/>
            <a:ext cx="91440" cy="1417320"/>
          </a:xfrm>
          <a:prstGeom prst="rect">
            <a:avLst/>
          </a:prstGeom>
          <a:solidFill>
            <a:srgbClr val="D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2011680"/>
            <a:ext cx="4663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2148840"/>
            <a:ext cx="4206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「水まわりのリフォームでお願いしました。打合せから施工まで同じ会社で、対応も丁寧。引き渡し後の点検まで安心でした。」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090672"/>
            <a:ext cx="4206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― お客様の声（イメージ）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703320"/>
            <a:ext cx="91440" cy="1417320"/>
          </a:xfrm>
          <a:prstGeom prst="rect">
            <a:avLst/>
          </a:prstGeom>
          <a:solidFill>
            <a:srgbClr val="D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49440" y="3703320"/>
            <a:ext cx="4663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3840480"/>
            <a:ext cx="4206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「外注に丸投げしないと聞いて決めました。職人さんの仕事が丁寧で、近所への気配りも嬉しかったです。」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782312"/>
            <a:ext cx="4206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― お客様の声（イメージ）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※ お客様の声は提案イメージ用のサンプルです。掲載時は許諾を得た実例に差し替えてください。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457200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CASES ｜ 施工事例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暮らしが変わった、リフォーム事例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89888"/>
            <a:ext cx="2011680" cy="32004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陶彩館｜オーヤシマ株式会社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59" y="2103120"/>
            <a:ext cx="3154680" cy="1005840"/>
          </a:xfrm>
          <a:prstGeom prst="roundRect">
            <a:avLst>
              <a:gd name="adj" fmla="val 8000"/>
            </a:avLst>
          </a:prstGeom>
          <a:solidFill>
            <a:srgbClr val="D9B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103120"/>
            <a:ext cx="315468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Before  →  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キッチン全面リフォーム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03320"/>
            <a:ext cx="3063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古い独立キッチンを対面式に。家族との会話が増える明るいLDKへ。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2024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2103120"/>
            <a:ext cx="3154680" cy="1005840"/>
          </a:xfrm>
          <a:prstGeom prst="roundRect">
            <a:avLst>
              <a:gd name="adj" fmla="val 8000"/>
            </a:avLst>
          </a:prstGeom>
          <a:solidFill>
            <a:srgbClr val="9BB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103120"/>
            <a:ext cx="315468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Before  →  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46120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浴室まるごと交換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03320"/>
            <a:ext cx="3063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寒く滑りやすい在来浴室を、暖かく安全なシステムバスへ。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92024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598" y="2103120"/>
            <a:ext cx="3154680" cy="1005840"/>
          </a:xfrm>
          <a:prstGeom prst="roundRect">
            <a:avLst>
              <a:gd name="adj" fmla="val 8000"/>
            </a:avLst>
          </a:prstGeom>
          <a:solidFill>
            <a:srgbClr val="CBB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8" y="2103120"/>
            <a:ext cx="315468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Before  →  After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246120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屋根・外壁塗装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3703320"/>
            <a:ext cx="30632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色あせた外観を一新し、雨漏りリスクも解消。資産価値を維持。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00600"/>
            <a:ext cx="10908792" cy="1051560"/>
          </a:xfrm>
          <a:prstGeom prst="roundRect">
            <a:avLst>
              <a:gd name="adj" fmla="val 6000"/>
            </a:avLst>
          </a:prstGeom>
          <a:solidFill>
            <a:srgbClr val="FB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56048"/>
            <a:ext cx="10424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営業ポイント：</a:t>
            </a:r>
            <a:r>
              <a:rPr sz="1250" b="0">
                <a:solidFill>
                  <a:srgbClr val="3A322C"/>
                </a:solidFill>
                <a:latin typeface="Meiryo"/>
                <a:ea typeface="Meiryo"/>
                <a:cs typeface="Meiryo"/>
              </a:rPr>
              <a:t>提案時は「お客様の家と築年数・間取りが近い事例」を見せるのが効果的。施工事例ページ（tousaikan.com/case）から該当事例を選び、Before/Afterと費用感をセットで提示しましょう。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457200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STORES ｜ 店舗・対応エリア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86384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和歌山・大阪の2店舗で地域をカバー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89888"/>
            <a:ext cx="2011680" cy="32004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陶彩館｜オーヤシマ株式会社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53492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148840"/>
            <a:ext cx="4800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🏠 岩出本店（ショールーム）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2743200"/>
            <a:ext cx="4800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和歌山県岩出市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3291840"/>
            <a:ext cx="4800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対応エリア：岩出市・和歌山市・紀の川市・橋本市・有田市 ほか和歌山県内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4206240"/>
            <a:ext cx="4800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約800坪の大型ショールームを併設。実機を見比べながらじっくりご相談いただけます。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920240"/>
            <a:ext cx="53492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148840"/>
            <a:ext cx="4800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🏠 りんくう店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743200"/>
            <a:ext cx="4800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大阪府泉佐野市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291840"/>
            <a:ext cx="4800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対応エリア：泉佐野市・阪南市・泉南市・貝塚市・泉南郡 ほか泉州エリア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206240"/>
            <a:ext cx="4800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大阪・泉州エリアのお客様の窓口。和歌山本店と連携してご対応します。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8C3C1F"/>
                </a:solidFill>
                <a:latin typeface="Meiryo"/>
                <a:ea typeface="Meiryo"/>
                <a:cs typeface="Meiryo"/>
              </a:rPr>
              <a:t>ご来店が難しい場合は、現地調査・出張相談も承ります。まずはお気軽にお問い合わせください。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B5532F"/>
                </a:solidFill>
                <a:latin typeface="Meiryo"/>
                <a:ea typeface="Meiryo"/>
                <a:cs typeface="Meiryo"/>
              </a:rPr>
              <a:t>CONTACT ｜ お問い合わせ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4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まずは、ショールームへ。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400" b="1">
                <a:solidFill>
                  <a:srgbClr val="3A322C"/>
                </a:solidFill>
                <a:latin typeface="Meiryo"/>
                <a:ea typeface="Meiryo"/>
                <a:cs typeface="Meiryo"/>
              </a:rPr>
              <a:t>「見て・ふれて・比べる」ことから始めましょう。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46120"/>
            <a:ext cx="8686800" cy="1920240"/>
          </a:xfrm>
          <a:prstGeom prst="roundRect">
            <a:avLst>
              <a:gd name="adj" fmla="val 6000"/>
            </a:avLst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7772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ご相談・お見積り・ショールーム来店予約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7772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7E4D4"/>
                </a:solidFill>
                <a:latin typeface="Meiryo"/>
                <a:ea typeface="Meiryo"/>
                <a:cs typeface="Meiryo"/>
              </a:rPr>
              <a:t>無理な営業はいたしません。小さなお困りごとからお気軽にどうぞ。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7772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📞 0120 - ○○○ - ○○○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983480"/>
            <a:ext cx="7772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7E4D4"/>
                </a:solidFill>
                <a:latin typeface="Meiryo"/>
                <a:ea typeface="Meiryo"/>
                <a:cs typeface="Meiryo"/>
              </a:rPr>
              <a:t>Web予約：www.tousaikan.com／reserve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57784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82296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創業50年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557784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55778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施工55,000件超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557784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5577840"/>
            <a:ext cx="1335024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自社施工・安心保証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5F54"/>
                </a:solidFill>
                <a:latin typeface="Meiryo"/>
                <a:ea typeface="Meiryo"/>
                <a:cs typeface="Meiryo"/>
              </a:rPr>
              <a:t>陶彩館（オーヤシマ株式会社）／※連絡先の○○部分は配布前に最新の公式情報へ差し替えてください。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3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5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98A3D"/>
                </a:solidFill>
                <a:latin typeface="Meiryo"/>
                <a:ea typeface="Meiryo"/>
                <a:cs typeface="Meiryo"/>
              </a:rPr>
              <a:t>AI TRAINING DEMO ｜ 種明かし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この14ページ、</a:t>
            </a:r>
            <a:r>
              <a:rPr sz="3000" b="1">
                <a:solidFill>
                  <a:srgbClr val="D98A3D"/>
                </a:solidFill>
                <a:latin typeface="Meiryo"/>
                <a:ea typeface="Meiryo"/>
                <a:cs typeface="Meiryo"/>
              </a:rPr>
              <a:t>AI</a:t>
            </a:r>
            <a:r>
              <a:rPr sz="3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が御社サイトを学習して作りました。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>
                <a:solidFill>
                  <a:srgbClr val="D9CFC4"/>
                </a:solidFill>
                <a:latin typeface="Meiryo"/>
                <a:ea typeface="Meiryo"/>
                <a:cs typeface="Meiryo"/>
              </a:rPr>
              <a:t>会社情報・商材・強みを読み込ませるだけで、構成・デザイン・営業トークまで自動生成。研修を受ければ、御社の営業担当も“自分の言葉”でこのレベルの資料を作れるようになります。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3D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43400"/>
            <a:ext cx="3429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⏱️  </a:t>
            </a:r>
            <a:r>
              <a:rPr sz="1900" b="1">
                <a:solidFill>
                  <a:srgbClr val="D98A3D"/>
                </a:solidFill>
                <a:latin typeface="Meiryo"/>
                <a:ea typeface="Meiryo"/>
                <a:cs typeface="Meiryo"/>
              </a:rPr>
              <a:t>数分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937760"/>
            <a:ext cx="2971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D9CFC4"/>
                </a:solidFill>
                <a:latin typeface="Meiryo"/>
                <a:ea typeface="Meiryo"/>
                <a:cs typeface="Meiryo"/>
              </a:rPr>
              <a:t>手作業なら数時間〜数日の資料作成を短縮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16052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3D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343400"/>
            <a:ext cx="3429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🔁  </a:t>
            </a:r>
            <a:r>
              <a:rPr sz="1900" b="1">
                <a:solidFill>
                  <a:srgbClr val="D98A3D"/>
                </a:solidFill>
                <a:latin typeface="Meiryo"/>
                <a:ea typeface="Meiryo"/>
                <a:cs typeface="Meiryo"/>
              </a:rPr>
              <a:t>再現可能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937760"/>
            <a:ext cx="2971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D9CFC4"/>
                </a:solidFill>
                <a:latin typeface="Meiryo"/>
                <a:ea typeface="Meiryo"/>
                <a:cs typeface="Meiryo"/>
              </a:rPr>
              <a:t>研修後は社員自身が何度でも作成・改善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16052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3D3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343400"/>
            <a:ext cx="3429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🎯  </a:t>
            </a:r>
            <a:r>
              <a:rPr sz="1900" b="1">
                <a:solidFill>
                  <a:srgbClr val="D98A3D"/>
                </a:solidFill>
                <a:latin typeface="Meiryo"/>
                <a:ea typeface="Meiryo"/>
                <a:cs typeface="Meiryo"/>
              </a:rPr>
              <a:t>御社専用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937760"/>
            <a:ext cx="2971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D9CFC4"/>
                </a:solidFill>
                <a:latin typeface="Meiryo"/>
                <a:ea typeface="Meiryo"/>
                <a:cs typeface="Meiryo"/>
              </a:rPr>
              <a:t>公開情報・社内資料を学習し貴社仕様に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98A3D"/>
                </a:solidFill>
                <a:latin typeface="Meiryo"/>
                <a:ea typeface="Meiryo"/>
                <a:cs typeface="Meiryo"/>
              </a:rPr>
              <a:t>AI研修で、資料作成を“一部の人の特技”から“全員のスキル”へ。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