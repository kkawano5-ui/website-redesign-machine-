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83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83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" cy="6858000"/>
          </a:xfrm>
          <a:prstGeom prst="rect">
            <a:avLst/>
          </a:prstGeom>
          <a:solidFill>
            <a:srgbClr val="324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324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324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324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324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324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324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324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324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324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324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324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324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887200" y="0"/>
            <a:ext cx="5486" cy="6858000"/>
          </a:xfrm>
          <a:prstGeom prst="rect">
            <a:avLst/>
          </a:prstGeom>
          <a:solidFill>
            <a:srgbClr val="324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5486"/>
          </a:xfrm>
          <a:prstGeom prst="rect">
            <a:avLst/>
          </a:prstGeom>
          <a:solidFill>
            <a:srgbClr val="324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914400"/>
            <a:ext cx="12191695" cy="5486"/>
          </a:xfrm>
          <a:prstGeom prst="rect">
            <a:avLst/>
          </a:prstGeom>
          <a:solidFill>
            <a:srgbClr val="324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828800"/>
            <a:ext cx="12191695" cy="5486"/>
          </a:xfrm>
          <a:prstGeom prst="rect">
            <a:avLst/>
          </a:prstGeom>
          <a:solidFill>
            <a:srgbClr val="324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2743200"/>
            <a:ext cx="12191695" cy="5486"/>
          </a:xfrm>
          <a:prstGeom prst="rect">
            <a:avLst/>
          </a:prstGeom>
          <a:solidFill>
            <a:srgbClr val="324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3657600"/>
            <a:ext cx="12191695" cy="5486"/>
          </a:xfrm>
          <a:prstGeom prst="rect">
            <a:avLst/>
          </a:prstGeom>
          <a:solidFill>
            <a:srgbClr val="324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4572000"/>
            <a:ext cx="12191695" cy="5486"/>
          </a:xfrm>
          <a:prstGeom prst="rect">
            <a:avLst/>
          </a:prstGeom>
          <a:solidFill>
            <a:srgbClr val="324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5486400"/>
            <a:ext cx="12191695" cy="5486"/>
          </a:xfrm>
          <a:prstGeom prst="rect">
            <a:avLst/>
          </a:prstGeom>
          <a:solidFill>
            <a:srgbClr val="324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400800"/>
            <a:ext cx="12191695" cy="5486"/>
          </a:xfrm>
          <a:prstGeom prst="rect">
            <a:avLst/>
          </a:prstGeom>
          <a:solidFill>
            <a:srgbClr val="324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080" y="777240"/>
            <a:ext cx="2377440" cy="457200"/>
          </a:xfrm>
          <a:prstGeom prst="roundRect">
            <a:avLst>
              <a:gd name="adj" fmla="val 30000"/>
            </a:avLst>
          </a:prstGeom>
          <a:noFill/>
          <a:ln w="19050">
            <a:solidFill>
              <a:srgbClr val="B985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777240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B9852E"/>
                </a:solidFill>
                <a:latin typeface="Meiryo"/>
                <a:ea typeface="Meiryo"/>
                <a:cs typeface="Meiryo"/>
              </a:rPr>
              <a:t>AI活用 構想ご提案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2103120"/>
            <a:ext cx="11155680" cy="1645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眠っている“設計と顧客の情報”を、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AIで使える資産に変える。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79476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C9D3DA"/>
                </a:solidFill>
                <a:latin typeface="Meiryo"/>
                <a:ea typeface="Meiryo"/>
                <a:cs typeface="Meiryo"/>
              </a:rPr>
              <a:t>図面・書類の電子化 ＋ 個人情報のAI移行・活用 ／ ご提案の叩き台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80060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高城株式会社 ／ 株式会社デザインワークス　社長・部長　小早川 和廉 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9AA8B2"/>
                </a:solidFill>
                <a:latin typeface="Meiryo"/>
                <a:ea typeface="Meiryo"/>
                <a:cs typeface="Meiryo"/>
              </a:rPr>
              <a:t>2026年 ／ 方向性を一緒に固めるためのディスカッション資料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48640"/>
            <a:ext cx="146304" cy="457200"/>
          </a:xfrm>
          <a:prstGeom prst="rect">
            <a:avLst/>
          </a:prstGeom>
          <a:solidFill>
            <a:srgbClr val="B98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84632"/>
            <a:ext cx="100584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B9852E"/>
                </a:solidFill>
                <a:latin typeface="Meiryo"/>
                <a:ea typeface="Meiryo"/>
                <a:cs typeface="Meiryo"/>
              </a:rPr>
              <a:t>GOAL ｜ 本日のゴール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68096"/>
            <a:ext cx="106984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“正解を持ってくる”のではなく、一緒に決める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1335024"/>
            <a:ext cx="1828800" cy="32004"/>
          </a:xfrm>
          <a:prstGeom prst="rect">
            <a:avLst/>
          </a:prstGeom>
          <a:solidFill>
            <a:srgbClr val="2F6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6437376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高城株式会社／株式会社デザインワークス様 ご提案（叩き台）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107899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本資料は完成提案ではなく</a:t>
            </a:r>
            <a:r>
              <a:rPr sz="1350" b="1">
                <a:solidFill>
                  <a:srgbClr val="B9852E"/>
                </a:solidFill>
                <a:latin typeface="Meiryo"/>
                <a:ea typeface="Meiryo"/>
                <a:cs typeface="Meiryo"/>
              </a:rPr>
              <a:t>叩き台</a:t>
            </a:r>
            <a:r>
              <a:rPr sz="135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です。私たちの仮説をぶつけて、御社の実態に合う方向を本日その場で固めるのがゴールです。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514600"/>
            <a:ext cx="1088136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60" y="2679192"/>
            <a:ext cx="502920" cy="502920"/>
          </a:xfrm>
          <a:prstGeom prst="ellipse">
            <a:avLst/>
          </a:prstGeom>
          <a:solidFill>
            <a:srgbClr val="283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679192"/>
            <a:ext cx="5029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624328"/>
            <a:ext cx="91440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御社グループの理解をすり合わせる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971800"/>
            <a:ext cx="91440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建設・不動産＋設計、110-120名、すでにAI活用中という現在地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429000"/>
            <a:ext cx="1088136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22960" y="3593592"/>
            <a:ext cx="502920" cy="502920"/>
          </a:xfrm>
          <a:prstGeom prst="ellipse">
            <a:avLst/>
          </a:prstGeom>
          <a:solidFill>
            <a:srgbClr val="283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593592"/>
            <a:ext cx="5029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538728"/>
            <a:ext cx="91440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社長の構想（④）を翻訳して確認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886200"/>
            <a:ext cx="91440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「設計と個人情報をAIで移行」を具体像に落とし、認識を合わせる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343400"/>
            <a:ext cx="1088136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2960" y="4507992"/>
            <a:ext cx="502920" cy="502920"/>
          </a:xfrm>
          <a:prstGeom prst="ellipse">
            <a:avLst/>
          </a:prstGeom>
          <a:solidFill>
            <a:srgbClr val="283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507992"/>
            <a:ext cx="5029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453128"/>
            <a:ext cx="91440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進め方と“肝”を共有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800600"/>
            <a:ext cx="91440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データ移行の全体像と、個人情報・セキュリティの設計を提示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257800"/>
            <a:ext cx="1088136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2960" y="5422392"/>
            <a:ext cx="502920" cy="502920"/>
          </a:xfrm>
          <a:prstGeom prst="ellipse">
            <a:avLst/>
          </a:prstGeom>
          <a:solidFill>
            <a:srgbClr val="283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422392"/>
            <a:ext cx="5029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367528"/>
            <a:ext cx="91440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本日決めたい論点を一緒に詰める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715000"/>
            <a:ext cx="91440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対象範囲・優先順位・PoCの第一歩をその場で合意したい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48640"/>
            <a:ext cx="146304" cy="457200"/>
          </a:xfrm>
          <a:prstGeom prst="rect">
            <a:avLst/>
          </a:prstGeom>
          <a:solidFill>
            <a:srgbClr val="B98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84632"/>
            <a:ext cx="100584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B9852E"/>
                </a:solidFill>
                <a:latin typeface="Meiryo"/>
                <a:ea typeface="Meiryo"/>
                <a:cs typeface="Meiryo"/>
              </a:rPr>
              <a:t>UNDERSTANDING ｜ 御社グループの理解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68096"/>
            <a:ext cx="106984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私たちが理解している、御社の現在地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1335024"/>
            <a:ext cx="1828800" cy="32004"/>
          </a:xfrm>
          <a:prstGeom prst="rect">
            <a:avLst/>
          </a:prstGeom>
          <a:solidFill>
            <a:srgbClr val="2F6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6437376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高城株式会社／株式会社デザインワークス様 ご提案（叩き台）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6492240" cy="23774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30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高城株式会社（不動産）と株式会社デザインワークス（設計）が連携し、建設・不動産を一気通貫で手がけるグループ、と理解しています。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30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従業員110〜120名規模で、すでに一部社員がAIを活用し、公開APIも取り入れている——</a:t>
            </a:r>
            <a:r>
              <a:rPr sz="130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“使える組織”の土台はすでにある</a:t>
            </a:r>
            <a:r>
              <a:rPr sz="130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状態です。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35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次の一手は、現場の小技ではなく“設計×顧客情報”という会社の資産そのものをAIで活かすこと。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79" y="1828800"/>
            <a:ext cx="205740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1993392"/>
            <a:ext cx="2057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2F6F8F"/>
                </a:solidFill>
                <a:latin typeface="Meiryo"/>
                <a:ea typeface="Meiryo"/>
                <a:cs typeface="Meiryo"/>
              </a:rPr>
              <a:t>110-120</a:t>
            </a:r>
            <a:r>
              <a:rPr sz="1300" b="1">
                <a:solidFill>
                  <a:srgbClr val="2F6F8F"/>
                </a:solidFill>
                <a:latin typeface="Meiryo"/>
                <a:ea typeface="Meiryo"/>
                <a:cs typeface="Meiryo"/>
              </a:rPr>
              <a:t>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606040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グループ従業員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38359" y="1828800"/>
            <a:ext cx="205740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38359" y="1993392"/>
            <a:ext cx="2057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2F6F8F"/>
                </a:solidFill>
                <a:latin typeface="Meiryo"/>
                <a:ea typeface="Meiryo"/>
                <a:cs typeface="Meiryo"/>
              </a:rPr>
              <a:t>2</a:t>
            </a:r>
            <a:r>
              <a:rPr sz="1300" b="1">
                <a:solidFill>
                  <a:srgbClr val="2F6F8F"/>
                </a:solidFill>
                <a:latin typeface="Meiryo"/>
                <a:ea typeface="Meiryo"/>
                <a:cs typeface="Meiryo"/>
              </a:rPr>
              <a:t>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59" y="2606040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不動産 × 設計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3200400"/>
            <a:ext cx="205740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79" y="3364992"/>
            <a:ext cx="2057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2F6F8F"/>
                </a:solidFill>
                <a:latin typeface="Meiryo"/>
                <a:ea typeface="Meiryo"/>
                <a:cs typeface="Meiryo"/>
              </a:rPr>
              <a:t>活用中</a:t>
            </a:r>
            <a:r>
              <a:rPr sz="1300" b="1">
                <a:solidFill>
                  <a:srgbClr val="2F6F8F"/>
                </a:solidFill>
                <a:latin typeface="Meiryo"/>
                <a:ea typeface="Meiryo"/>
                <a:cs typeface="Meiryo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3977639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公開APIも導入済み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38359" y="3200400"/>
            <a:ext cx="205740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38359" y="3364992"/>
            <a:ext cx="2057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2F6F8F"/>
                </a:solidFill>
                <a:latin typeface="Meiryo"/>
                <a:ea typeface="Meiryo"/>
                <a:cs typeface="Meiryo"/>
              </a:rPr>
              <a:t>設計×個人情報</a:t>
            </a:r>
            <a:r>
              <a:rPr sz="1300" b="1">
                <a:solidFill>
                  <a:srgbClr val="2F6F8F"/>
                </a:solidFill>
                <a:latin typeface="Meiryo"/>
                <a:ea typeface="Meiryo"/>
                <a:cs typeface="Meiryo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59" y="3977639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次の主戦場（④）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754880"/>
            <a:ext cx="1088136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※ 公開情報からの推定を含みます。事実と異なる点は本日その場で修正させてください。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48640"/>
            <a:ext cx="146304" cy="457200"/>
          </a:xfrm>
          <a:prstGeom prst="rect">
            <a:avLst/>
          </a:prstGeom>
          <a:solidFill>
            <a:srgbClr val="B98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84632"/>
            <a:ext cx="100584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B9852E"/>
                </a:solidFill>
                <a:latin typeface="Meiryo"/>
                <a:ea typeface="Meiryo"/>
                <a:cs typeface="Meiryo"/>
              </a:rPr>
              <a:t>VISION ｜ 社長の構想を翻訳する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68096"/>
            <a:ext cx="106984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「設計と個人情報をAIで移行」を、具体像に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1335024"/>
            <a:ext cx="1828800" cy="32004"/>
          </a:xfrm>
          <a:prstGeom prst="rect">
            <a:avLst/>
          </a:prstGeom>
          <a:solidFill>
            <a:srgbClr val="2F6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6437376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高城株式会社／株式会社デザインワークス様 ご提案（叩き台）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1051560"/>
          </a:xfrm>
          <a:prstGeom prst="roundRect">
            <a:avLst>
              <a:gd name="adj" fmla="val 6000"/>
            </a:avLst>
          </a:prstGeom>
          <a:solidFill>
            <a:srgbClr val="283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938528"/>
            <a:ext cx="10149840" cy="8229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B9852E"/>
                </a:solidFill>
                <a:latin typeface="Meiryo"/>
                <a:ea typeface="Meiryo"/>
                <a:cs typeface="Meiryo"/>
              </a:rPr>
              <a:t>社長の言葉：</a:t>
            </a:r>
            <a:r>
              <a:rPr sz="1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「最終的には設計と個人情報の関係も、AIを使って移行したい」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63240"/>
            <a:ext cx="108813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6A7178"/>
                </a:solidFill>
                <a:latin typeface="Meiryo"/>
                <a:ea typeface="Meiryo"/>
                <a:cs typeface="Meiryo"/>
              </a:rPr>
              <a:t>私たちはこう受け止めました ▼（認識が違えば修正します）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611880"/>
            <a:ext cx="3474720" cy="2377440"/>
          </a:xfrm>
          <a:prstGeom prst="roundRect">
            <a:avLst>
              <a:gd name="adj" fmla="val 6000"/>
            </a:avLst>
          </a:prstGeom>
          <a:solidFill>
            <a:srgbClr val="ECE6DA"/>
          </a:solidFill>
          <a:ln w="1270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767328"/>
            <a:ext cx="30175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📂  いま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343400"/>
            <a:ext cx="3063240" cy="1554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2A2F34"/>
                </a:solidFill>
                <a:latin typeface="Meiryo"/>
                <a:ea typeface="Meiryo"/>
                <a:cs typeface="Meiryo"/>
              </a:rPr>
              <a:t>紙・PDFの図面、契約書、重要事項説明書、顧客台帳に、設計情報と個人情報が“バラバラ・属人的”に眠っている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41648" y="4480560"/>
            <a:ext cx="4572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B9852E"/>
                </a:solidFill>
                <a:latin typeface="Meiryo"/>
                <a:ea typeface="Meiryo"/>
                <a:cs typeface="Meiryo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611880"/>
            <a:ext cx="3474720" cy="2377440"/>
          </a:xfrm>
          <a:prstGeom prst="roundRect">
            <a:avLst>
              <a:gd name="adj" fmla="val 6000"/>
            </a:avLst>
          </a:prstGeom>
          <a:solidFill>
            <a:srgbClr val="E6EFF3"/>
          </a:solidFill>
          <a:ln w="1270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3767328"/>
            <a:ext cx="30175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2F6F8F"/>
                </a:solidFill>
                <a:latin typeface="Meiryo"/>
                <a:ea typeface="Meiryo"/>
                <a:cs typeface="Meiryo"/>
              </a:rPr>
              <a:t>🤖  AIで移行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343400"/>
            <a:ext cx="3063240" cy="1554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2A2F34"/>
                </a:solidFill>
                <a:latin typeface="Meiryo"/>
                <a:ea typeface="Meiryo"/>
                <a:cs typeface="Meiryo"/>
              </a:rPr>
              <a:t>AI-OCR＋情報抽出で、図面のメタ情報と顧客の個人情報を読み取り、構造化データに変換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4968" y="4480560"/>
            <a:ext cx="4572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B9852E"/>
                </a:solidFill>
                <a:latin typeface="Meiryo"/>
                <a:ea typeface="Meiryo"/>
                <a:cs typeface="Meiryo"/>
              </a:rPr>
              <a:t>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19" y="3611880"/>
            <a:ext cx="3474720" cy="2377440"/>
          </a:xfrm>
          <a:prstGeom prst="roundRect">
            <a:avLst>
              <a:gd name="adj" fmla="val 6000"/>
            </a:avLst>
          </a:prstGeom>
          <a:solidFill>
            <a:srgbClr val="E7F0E9"/>
          </a:solidFill>
          <a:ln w="1270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19" y="3767328"/>
            <a:ext cx="30175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4F7A5F"/>
                </a:solidFill>
                <a:latin typeface="Meiryo"/>
                <a:ea typeface="Meiryo"/>
                <a:cs typeface="Meiryo"/>
              </a:rPr>
              <a:t>🗄️  これから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19" y="4343400"/>
            <a:ext cx="3063240" cy="1554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2A2F34"/>
                </a:solidFill>
                <a:latin typeface="Meiryo"/>
                <a:ea typeface="Meiryo"/>
                <a:cs typeface="Meiryo"/>
              </a:rPr>
              <a:t>物件・設計・顧客が紐づいた検索可能なDBへ。「この土地の過去設計は？」に即答できる資産に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48640"/>
            <a:ext cx="146304" cy="457200"/>
          </a:xfrm>
          <a:prstGeom prst="rect">
            <a:avLst/>
          </a:prstGeom>
          <a:solidFill>
            <a:srgbClr val="B98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84632"/>
            <a:ext cx="100584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B9852E"/>
                </a:solidFill>
                <a:latin typeface="Meiryo"/>
                <a:ea typeface="Meiryo"/>
                <a:cs typeface="Meiryo"/>
              </a:rPr>
              <a:t>WHY NOW ｜ なぜ今やる価値があるか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68096"/>
            <a:ext cx="106984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“眠った資産”は、年々取り出しにくくなる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1335024"/>
            <a:ext cx="1828800" cy="32004"/>
          </a:xfrm>
          <a:prstGeom prst="rect">
            <a:avLst/>
          </a:prstGeom>
          <a:solidFill>
            <a:srgbClr val="2F6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6437376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高城株式会社／株式会社デザインワークス様 ご提案（叩き台）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建設・不動産の情報は、年月とともに紙・担当者の頭の中に固定化します。デジタル資産化を先送りするほどコストが上がります。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77440"/>
            <a:ext cx="3456432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560320"/>
            <a:ext cx="914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>
                <a:solidFill>
                  <a:srgbClr val="2A2F34"/>
                </a:solidFill>
                <a:latin typeface="Meiryo"/>
                <a:ea typeface="Meiryo"/>
                <a:cs typeface="Meiryo"/>
              </a:rPr>
              <a:t>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596896"/>
            <a:ext cx="2450591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探せない・即答できない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127248"/>
            <a:ext cx="3044951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過去物件・図面・顧客履歴が探せず、問い合わせや再提案に時間がかかる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377440"/>
            <a:ext cx="3456432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560320"/>
            <a:ext cx="914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>
                <a:solidFill>
                  <a:srgbClr val="2A2F34"/>
                </a:solidFill>
                <a:latin typeface="Meiryo"/>
                <a:ea typeface="Meiryo"/>
                <a:cs typeface="Meiryo"/>
              </a:rPr>
              <a:t>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596896"/>
            <a:ext cx="2450591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属人化・退職リスク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127248"/>
            <a:ext cx="3044951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“あの人しか知らない”状態。ベテラン退職で情報ごと失われる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2377440"/>
            <a:ext cx="3456432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19" y="2560320"/>
            <a:ext cx="914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>
                <a:solidFill>
                  <a:srgbClr val="2A2F34"/>
                </a:solidFill>
                <a:latin typeface="Meiryo"/>
                <a:ea typeface="Meiryo"/>
                <a:cs typeface="Meiryo"/>
              </a:rPr>
              <a:t>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398" y="2596896"/>
            <a:ext cx="2450591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紙・劣化リスク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19" y="3127248"/>
            <a:ext cx="3044951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図面・契約書の紙原本は劣化・紛失・災害に弱い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023360"/>
            <a:ext cx="3456432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206240"/>
            <a:ext cx="914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>
                <a:solidFill>
                  <a:srgbClr val="2A2F34"/>
                </a:solidFill>
                <a:latin typeface="Meiryo"/>
                <a:ea typeface="Meiryo"/>
                <a:cs typeface="Meiryo"/>
              </a:rPr>
              <a:t>⚖️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4242816"/>
            <a:ext cx="2450591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個人情報の管理不安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4773168"/>
            <a:ext cx="3044951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どこに誰の情報があるか把握しきれず、漏えい・コンプラのリスク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4023360"/>
            <a:ext cx="3456432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4206240"/>
            <a:ext cx="914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>
                <a:solidFill>
                  <a:srgbClr val="2A2F34"/>
                </a:solidFill>
                <a:latin typeface="Meiryo"/>
                <a:ea typeface="Meiryo"/>
                <a:cs typeface="Meiryo"/>
              </a:rPr>
              <a:t>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242816"/>
            <a:ext cx="2450591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再利用できない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4773168"/>
            <a:ext cx="3044951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せっかくの設計ノウハウが次の提案・営業に活かしきれていない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19" y="4023360"/>
            <a:ext cx="3456432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75319" y="4206240"/>
            <a:ext cx="914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>
                <a:solidFill>
                  <a:srgbClr val="2A2F34"/>
                </a:solidFill>
                <a:latin typeface="Meiryo"/>
                <a:ea typeface="Meiryo"/>
                <a:cs typeface="Meiryo"/>
              </a:rPr>
              <a:t>⏱️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8" y="4242816"/>
            <a:ext cx="2450591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対応スピード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19" y="4773168"/>
            <a:ext cx="3044951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相続・売買・リフォーム相談での即応力が、そのまま受注力になる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48640"/>
            <a:ext cx="146304" cy="457200"/>
          </a:xfrm>
          <a:prstGeom prst="rect">
            <a:avLst/>
          </a:prstGeom>
          <a:solidFill>
            <a:srgbClr val="B98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84632"/>
            <a:ext cx="100584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B9852E"/>
                </a:solidFill>
                <a:latin typeface="Meiryo"/>
                <a:ea typeface="Meiryo"/>
                <a:cs typeface="Meiryo"/>
              </a:rPr>
              <a:t>SOLUTION ｜ 構想の全体像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68096"/>
            <a:ext cx="106984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図面・書類 → AI抽出 → 使えるDB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1335024"/>
            <a:ext cx="1828800" cy="32004"/>
          </a:xfrm>
          <a:prstGeom prst="rect">
            <a:avLst/>
          </a:prstGeom>
          <a:solidFill>
            <a:srgbClr val="2F6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6437376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高城株式会社／株式会社デザインワークス様 ご提案（叩き台）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レガシー資料を“読み取り→構造化→紐付け”する4ステップ。AIが人手の入力・転記を肩代わりします。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331720"/>
            <a:ext cx="2542032" cy="2286000"/>
          </a:xfrm>
          <a:prstGeom prst="roundRect">
            <a:avLst>
              <a:gd name="adj" fmla="val 6000"/>
            </a:avLst>
          </a:prstGeom>
          <a:solidFill>
            <a:srgbClr val="ECE6DA"/>
          </a:solidFill>
          <a:ln w="1270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2331720"/>
            <a:ext cx="2542032" cy="594360"/>
          </a:xfrm>
          <a:prstGeom prst="roundRect">
            <a:avLst>
              <a:gd name="adj" fmla="val 12000"/>
            </a:avLst>
          </a:prstGeom>
          <a:solidFill>
            <a:srgbClr val="283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331720"/>
            <a:ext cx="2542032" cy="5943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①  取り込む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108960"/>
            <a:ext cx="2176272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2A2F34"/>
                </a:solidFill>
                <a:latin typeface="Meiryo"/>
                <a:ea typeface="Meiryo"/>
                <a:cs typeface="Meiryo"/>
              </a:rPr>
              <a:t>紙図面・PDF・契約書・顧客台帳をスキャン／集約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0672" y="3200400"/>
            <a:ext cx="365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B9852E"/>
                </a:solidFill>
                <a:latin typeface="Meiryo"/>
                <a:ea typeface="Meiryo"/>
                <a:cs typeface="Meiryo"/>
              </a:rPr>
              <a:t>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64408" y="2331720"/>
            <a:ext cx="2542032" cy="2286000"/>
          </a:xfrm>
          <a:prstGeom prst="roundRect">
            <a:avLst>
              <a:gd name="adj" fmla="val 6000"/>
            </a:avLst>
          </a:prstGeom>
          <a:solidFill>
            <a:srgbClr val="E6EFF3"/>
          </a:solidFill>
          <a:ln w="1270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264408" y="2331720"/>
            <a:ext cx="2542032" cy="594360"/>
          </a:xfrm>
          <a:prstGeom prst="roundRect">
            <a:avLst>
              <a:gd name="adj" fmla="val 12000"/>
            </a:avLst>
          </a:prstGeom>
          <a:solidFill>
            <a:srgbClr val="2F6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64408" y="2331720"/>
            <a:ext cx="2542032" cy="5943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②  AIで読む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5576" y="3108960"/>
            <a:ext cx="2176272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2A2F34"/>
                </a:solidFill>
                <a:latin typeface="Meiryo"/>
                <a:ea typeface="Meiryo"/>
                <a:cs typeface="Meiryo"/>
              </a:rPr>
              <a:t>AI-OCR＋抽出で、図面メタ情報と個人情報をテキスト化・項目化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88152" y="3200400"/>
            <a:ext cx="365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B9852E"/>
                </a:solidFill>
                <a:latin typeface="Meiryo"/>
                <a:ea typeface="Meiryo"/>
                <a:cs typeface="Meiryo"/>
              </a:rPr>
              <a:t>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61888" y="2331720"/>
            <a:ext cx="2542032" cy="2286000"/>
          </a:xfrm>
          <a:prstGeom prst="roundRect">
            <a:avLst>
              <a:gd name="adj" fmla="val 6000"/>
            </a:avLst>
          </a:prstGeom>
          <a:solidFill>
            <a:srgbClr val="F3E7E6"/>
          </a:solidFill>
          <a:ln w="1270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961888" y="2331720"/>
            <a:ext cx="2542032" cy="594360"/>
          </a:xfrm>
          <a:prstGeom prst="roundRect">
            <a:avLst>
              <a:gd name="adj" fmla="val 12000"/>
            </a:avLst>
          </a:prstGeom>
          <a:solidFill>
            <a:srgbClr val="C04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61888" y="2331720"/>
            <a:ext cx="2542032" cy="5943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③  個人情報を守る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63055" y="3108960"/>
            <a:ext cx="2176272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2A2F34"/>
                </a:solidFill>
                <a:latin typeface="Meiryo"/>
                <a:ea typeface="Meiryo"/>
                <a:cs typeface="Meiryo"/>
              </a:rPr>
              <a:t>氏名・住所等を自動検出し、マスキング／アクセス権限を付与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85632" y="3200400"/>
            <a:ext cx="365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B9852E"/>
                </a:solidFill>
                <a:latin typeface="Meiryo"/>
                <a:ea typeface="Meiryo"/>
                <a:cs typeface="Meiryo"/>
              </a:rPr>
              <a:t>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59368" y="2331720"/>
            <a:ext cx="2542032" cy="2286000"/>
          </a:xfrm>
          <a:prstGeom prst="roundRect">
            <a:avLst>
              <a:gd name="adj" fmla="val 6000"/>
            </a:avLst>
          </a:prstGeom>
          <a:solidFill>
            <a:srgbClr val="E7F0E9"/>
          </a:solidFill>
          <a:ln w="1270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59368" y="2331720"/>
            <a:ext cx="2542032" cy="594360"/>
          </a:xfrm>
          <a:prstGeom prst="roundRect">
            <a:avLst>
              <a:gd name="adj" fmla="val 12000"/>
            </a:avLst>
          </a:prstGeom>
          <a:solidFill>
            <a:srgbClr val="4F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59368" y="2331720"/>
            <a:ext cx="2542032" cy="5943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④  DBへ紐付け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0536" y="3108960"/>
            <a:ext cx="2176272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2A2F34"/>
                </a:solidFill>
                <a:latin typeface="Meiryo"/>
                <a:ea typeface="Meiryo"/>
                <a:cs typeface="Meiryo"/>
              </a:rPr>
              <a:t>物件 × 設計 × 顧客 を関連づけ、検索可能なデータベースへ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937760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084064"/>
            <a:ext cx="103327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出口イメージ：</a:t>
            </a:r>
            <a:r>
              <a:rPr sz="1250" b="0">
                <a:solidFill>
                  <a:srgbClr val="2A2F34"/>
                </a:solidFill>
                <a:latin typeface="Meiryo"/>
                <a:ea typeface="Meiryo"/>
                <a:cs typeface="Meiryo"/>
              </a:rPr>
              <a:t>「○○町の過去設計を見せて」「この顧客の取引履歴は？」に、社員の誰もが数秒で答えられる状態。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48640"/>
            <a:ext cx="146304" cy="457200"/>
          </a:xfrm>
          <a:prstGeom prst="rect">
            <a:avLst/>
          </a:prstGeom>
          <a:solidFill>
            <a:srgbClr val="B98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84632"/>
            <a:ext cx="100584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B9852E"/>
                </a:solidFill>
                <a:latin typeface="Meiryo"/>
                <a:ea typeface="Meiryo"/>
                <a:cs typeface="Meiryo"/>
              </a:rPr>
              <a:t>SECURITY ｜ ここが肝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68096"/>
            <a:ext cx="106984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個人情報を“守りながら”使う設計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1335024"/>
            <a:ext cx="1828800" cy="32004"/>
          </a:xfrm>
          <a:prstGeom prst="rect">
            <a:avLst/>
          </a:prstGeom>
          <a:solidFill>
            <a:srgbClr val="2F6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6437376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高城株式会社／株式会社デザインワークス様 ご提案（叩き台）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55648"/>
            <a:ext cx="109728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建設・不動産は契約書・図面に個人情報が詰まっています。AI活用の可否は、ここの設計で決まります。先に固めます。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95728"/>
            <a:ext cx="3456432" cy="148132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395728"/>
            <a:ext cx="109728" cy="1481328"/>
          </a:xfrm>
          <a:prstGeom prst="roundRect">
            <a:avLst>
              <a:gd name="adj" fmla="val 40000"/>
            </a:avLst>
          </a:prstGeom>
          <a:solidFill>
            <a:srgbClr val="C04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560320"/>
            <a:ext cx="914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2A2F34"/>
                </a:solidFill>
                <a:latin typeface="Meiryo"/>
                <a:ea typeface="Meiryo"/>
                <a:cs typeface="Meiryo"/>
              </a:rPr>
              <a:t>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596896"/>
            <a:ext cx="2450591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学習されないAIを選定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127248"/>
            <a:ext cx="2999232" cy="685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8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入力データをモデル学習に使わない商用APIを採用。情報が外部学習に流れない契約形態で運用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2395728"/>
            <a:ext cx="3456432" cy="148132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43400" y="2395728"/>
            <a:ext cx="109728" cy="1481328"/>
          </a:xfrm>
          <a:prstGeom prst="roundRect">
            <a:avLst>
              <a:gd name="adj" fmla="val 40000"/>
            </a:avLst>
          </a:prstGeom>
          <a:solidFill>
            <a:srgbClr val="C04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9432" y="2560320"/>
            <a:ext cx="914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2A2F34"/>
                </a:solidFill>
                <a:latin typeface="Meiryo"/>
                <a:ea typeface="Meiryo"/>
                <a:cs typeface="Meiryo"/>
              </a:rPr>
              <a:t>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596896"/>
            <a:ext cx="2450591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送信前にマスキング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9432" y="3127248"/>
            <a:ext cx="2999232" cy="685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8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氏名・住所・連絡先など個人情報を自動検出し、必要に応じ伏せてから処理。最小限の情報だけ扱う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19" y="2395728"/>
            <a:ext cx="3456432" cy="148132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46719" y="2395728"/>
            <a:ext cx="109728" cy="1481328"/>
          </a:xfrm>
          <a:prstGeom prst="roundRect">
            <a:avLst>
              <a:gd name="adj" fmla="val 40000"/>
            </a:avLst>
          </a:prstGeom>
          <a:solidFill>
            <a:srgbClr val="C04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0" y="2560320"/>
            <a:ext cx="914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2A2F34"/>
                </a:solidFill>
                <a:latin typeface="Meiryo"/>
                <a:ea typeface="Meiryo"/>
                <a:cs typeface="Meiryo"/>
              </a:rPr>
              <a:t>🗝️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398" y="2596896"/>
            <a:ext cx="2450591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アクセス権限・監査ログ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0" y="3127248"/>
            <a:ext cx="2999232" cy="685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8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誰がどの情報を見たか記録。役職・部門単位で閲覧範囲を制御し、内部統制を担保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059936"/>
            <a:ext cx="3456432" cy="148132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080" y="4059936"/>
            <a:ext cx="109728" cy="1481328"/>
          </a:xfrm>
          <a:prstGeom prst="roundRect">
            <a:avLst>
              <a:gd name="adj" fmla="val 40000"/>
            </a:avLst>
          </a:prstGeom>
          <a:solidFill>
            <a:srgbClr val="C04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4224528"/>
            <a:ext cx="914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2A2F34"/>
                </a:solidFill>
                <a:latin typeface="Meiryo"/>
                <a:ea typeface="Meiryo"/>
                <a:cs typeface="Meiryo"/>
              </a:rPr>
              <a:t>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4261104"/>
            <a:ext cx="2450591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保管場所の選択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" y="4791456"/>
            <a:ext cx="2999232" cy="685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8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社内・閉域・国内クラウドなど、御社のポリシーに合わせて保管先と経路を設計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43400" y="4059936"/>
            <a:ext cx="3456432" cy="148132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343400" y="4059936"/>
            <a:ext cx="109728" cy="1481328"/>
          </a:xfrm>
          <a:prstGeom prst="roundRect">
            <a:avLst>
              <a:gd name="adj" fmla="val 40000"/>
            </a:avLst>
          </a:prstGeom>
          <a:solidFill>
            <a:srgbClr val="C04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99432" y="4224528"/>
            <a:ext cx="914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2A2F34"/>
                </a:solidFill>
                <a:latin typeface="Meiryo"/>
                <a:ea typeface="Meiryo"/>
                <a:cs typeface="Meiryo"/>
              </a:rPr>
              <a:t>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4261104"/>
            <a:ext cx="2450591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法令順守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99432" y="4791456"/>
            <a:ext cx="2999232" cy="685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8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個人情報保護法・宅建業法の要件に沿った取得・利用・保管・廃棄のルール整備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46719" y="4059936"/>
            <a:ext cx="3456432" cy="148132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046719" y="4059936"/>
            <a:ext cx="109728" cy="1481328"/>
          </a:xfrm>
          <a:prstGeom prst="roundRect">
            <a:avLst>
              <a:gd name="adj" fmla="val 40000"/>
            </a:avLst>
          </a:prstGeom>
          <a:solidFill>
            <a:srgbClr val="C04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02750" y="4224528"/>
            <a:ext cx="914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2A2F34"/>
                </a:solidFill>
                <a:latin typeface="Meiryo"/>
                <a:ea typeface="Meiryo"/>
                <a:cs typeface="Meiryo"/>
              </a:rPr>
              <a:t>🧪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15398" y="4261104"/>
            <a:ext cx="2450591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小さく検証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02750" y="4791456"/>
            <a:ext cx="2999232" cy="685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8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まず限定データでPoC。安全性を確認しながら段階的に範囲を広げる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48640"/>
            <a:ext cx="146304" cy="457200"/>
          </a:xfrm>
          <a:prstGeom prst="rect">
            <a:avLst/>
          </a:prstGeom>
          <a:solidFill>
            <a:srgbClr val="B98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84632"/>
            <a:ext cx="100584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B9852E"/>
                </a:solidFill>
                <a:latin typeface="Meiryo"/>
                <a:ea typeface="Meiryo"/>
                <a:cs typeface="Meiryo"/>
              </a:rPr>
              <a:t>ROADMAP ｜ 進め方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68096"/>
            <a:ext cx="106984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小さく試して、確実に広げる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1335024"/>
            <a:ext cx="1828800" cy="32004"/>
          </a:xfrm>
          <a:prstGeom prst="rect">
            <a:avLst/>
          </a:prstGeom>
          <a:solidFill>
            <a:srgbClr val="2F6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6437376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高城株式会社／株式会社デザインワークス様 ご提案（叩き台）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011680"/>
            <a:ext cx="34747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3474720" cy="868680"/>
          </a:xfrm>
          <a:prstGeom prst="roundRect">
            <a:avLst>
              <a:gd name="adj" fmla="val 12000"/>
            </a:avLst>
          </a:prstGeom>
          <a:solidFill>
            <a:srgbClr val="2F6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30552"/>
            <a:ext cx="34747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PHASE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496312"/>
            <a:ext cx="34747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ECECEC"/>
                </a:solidFill>
                <a:latin typeface="Meiryo"/>
                <a:ea typeface="Meiryo"/>
                <a:cs typeface="Meiryo"/>
              </a:rPr>
              <a:t>〜1〜2ヶ月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29260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PoC（実証）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03320"/>
            <a:ext cx="292608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対象を1種類の書類・一部物件に絞り、抽出精度と安全性を検証。効果と勘所を掴む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41648" y="3291840"/>
            <a:ext cx="365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B9852E"/>
                </a:solidFill>
                <a:latin typeface="Meiryo"/>
                <a:ea typeface="Meiryo"/>
                <a:cs typeface="Meiryo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2011680"/>
            <a:ext cx="34747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43400" y="2011680"/>
            <a:ext cx="3474720" cy="868680"/>
          </a:xfrm>
          <a:prstGeom prst="roundRect">
            <a:avLst>
              <a:gd name="adj" fmla="val 12000"/>
            </a:avLst>
          </a:prstGeom>
          <a:solidFill>
            <a:srgbClr val="283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2130552"/>
            <a:ext cx="34747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PHASE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2496312"/>
            <a:ext cx="34747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ECECEC"/>
                </a:solidFill>
                <a:latin typeface="Meiryo"/>
                <a:ea typeface="Meiryo"/>
                <a:cs typeface="Meiryo"/>
              </a:rPr>
              <a:t>〜3〜6ヶ月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3108960"/>
            <a:ext cx="29260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本格移行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3703320"/>
            <a:ext cx="292608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精度の出た書類から順に電子化・DB化。個人情報の運用ルールを確立し定着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44968" y="3291840"/>
            <a:ext cx="365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B9852E"/>
                </a:solidFill>
                <a:latin typeface="Meiryo"/>
                <a:ea typeface="Meiryo"/>
                <a:cs typeface="Meiryo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19" y="2011680"/>
            <a:ext cx="34747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46719" y="2011680"/>
            <a:ext cx="3474720" cy="868680"/>
          </a:xfrm>
          <a:prstGeom prst="roundRect">
            <a:avLst>
              <a:gd name="adj" fmla="val 12000"/>
            </a:avLst>
          </a:prstGeom>
          <a:solidFill>
            <a:srgbClr val="B98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19" y="2130552"/>
            <a:ext cx="34747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PHASE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19" y="2496312"/>
            <a:ext cx="34747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ECECEC"/>
                </a:solidFill>
                <a:latin typeface="Meiryo"/>
                <a:ea typeface="Meiryo"/>
                <a:cs typeface="Meiryo"/>
              </a:rPr>
              <a:t>継続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39" y="3108960"/>
            <a:ext cx="29260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活用・横展開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39" y="3703320"/>
            <a:ext cx="292608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検索・再提案・営業活用へ。デザインワークスの設計ノウハウ活用、グループ全体へ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いきなり全部はやりません。PHASE 1で“効くと分かってから”投資判断ができる進め方です。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48640"/>
            <a:ext cx="146304" cy="457200"/>
          </a:xfrm>
          <a:prstGeom prst="rect">
            <a:avLst/>
          </a:prstGeom>
          <a:solidFill>
            <a:srgbClr val="B98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84632"/>
            <a:ext cx="100584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B9852E"/>
                </a:solidFill>
                <a:latin typeface="Meiryo"/>
                <a:ea typeface="Meiryo"/>
                <a:cs typeface="Meiryo"/>
              </a:rPr>
              <a:t>EXPANSION ｜ 広がり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68096"/>
            <a:ext cx="106984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同じ仕組みが、他業務にも効く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1335024"/>
            <a:ext cx="1828800" cy="32004"/>
          </a:xfrm>
          <a:prstGeom prst="rect">
            <a:avLst/>
          </a:prstGeom>
          <a:solidFill>
            <a:srgbClr val="2F6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6437376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高城株式会社／株式会社デザインワークス様 ご提案（叩き台）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20240"/>
            <a:ext cx="3456432" cy="148132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03120"/>
            <a:ext cx="914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0">
                <a:solidFill>
                  <a:srgbClr val="2A2F34"/>
                </a:solidFill>
                <a:latin typeface="Meiryo"/>
                <a:ea typeface="Meiryo"/>
                <a:cs typeface="Meiryo"/>
              </a:rPr>
              <a:t>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60320"/>
            <a:ext cx="3044951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物件紹介文の自動生成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944368"/>
            <a:ext cx="3044951" cy="14813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物件データから広告・ポータル掲載文を自動作成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920240"/>
            <a:ext cx="3456432" cy="148132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103120"/>
            <a:ext cx="914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0">
                <a:solidFill>
                  <a:srgbClr val="2A2F34"/>
                </a:solidFill>
                <a:latin typeface="Meiryo"/>
                <a:ea typeface="Meiryo"/>
                <a:cs typeface="Meiryo"/>
              </a:rPr>
              <a:t>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560320"/>
            <a:ext cx="3044951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重要事項説明書・契約書ドラフト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944368"/>
            <a:ext cx="3044951" cy="14813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ひな型＋物件情報から下書きを自動生成、確認は人が行う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19" y="1920240"/>
            <a:ext cx="3456432" cy="148132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19" y="2103120"/>
            <a:ext cx="914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0">
                <a:solidFill>
                  <a:srgbClr val="2A2F34"/>
                </a:solidFill>
                <a:latin typeface="Meiryo"/>
                <a:ea typeface="Meiryo"/>
                <a:cs typeface="Meiryo"/>
              </a:rPr>
              <a:t>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19" y="2560320"/>
            <a:ext cx="3044951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図面からの情報抽出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19" y="2944368"/>
            <a:ext cx="3044951" cy="14813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図面から面積・部屋数・仕様を読み取り、台帳へ自動入力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611880"/>
            <a:ext cx="3456432" cy="148132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794760"/>
            <a:ext cx="914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0">
                <a:solidFill>
                  <a:srgbClr val="2A2F34"/>
                </a:solidFill>
                <a:latin typeface="Meiryo"/>
                <a:ea typeface="Meiryo"/>
                <a:cs typeface="Meiryo"/>
              </a:rPr>
              <a:t>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251960"/>
            <a:ext cx="3044951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顧客問い合わせ一次対応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636008"/>
            <a:ext cx="3044951" cy="14813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過去物件・FAQをもとに、問い合わせへ即時ドラフト回答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3611880"/>
            <a:ext cx="3456432" cy="148132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3794760"/>
            <a:ext cx="914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0">
                <a:solidFill>
                  <a:srgbClr val="2A2F34"/>
                </a:solidFill>
                <a:latin typeface="Meiryo"/>
                <a:ea typeface="Meiryo"/>
                <a:cs typeface="Meiryo"/>
              </a:rPr>
              <a:t>🏗️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251960"/>
            <a:ext cx="3044951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設計ナレッジの再利用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4636008"/>
            <a:ext cx="3044951" cy="14813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過去設計を検索し、新規提案・見積のたたき台に活用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19" y="3611880"/>
            <a:ext cx="3456432" cy="148132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75319" y="3794760"/>
            <a:ext cx="914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0">
                <a:solidFill>
                  <a:srgbClr val="2A2F34"/>
                </a:solidFill>
                <a:latin typeface="Meiryo"/>
                <a:ea typeface="Meiryo"/>
                <a:cs typeface="Meiryo"/>
              </a:rPr>
              <a:t>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9" y="4251960"/>
            <a:ext cx="3044951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社内ナレッジ横断検索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9" y="4636008"/>
            <a:ext cx="3044951" cy="14813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設計×顧客×物件を横断して“聞けば返ってくる”状態に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44068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④のデータ基盤ができると、これらは“その上のアプリ”として次々に載せられます。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83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83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B9852E"/>
                </a:solidFill>
                <a:latin typeface="Meiryo"/>
                <a:ea typeface="Meiryo"/>
                <a:cs typeface="Meiryo"/>
              </a:rPr>
              <a:t>DISCUSSION ｜ 本日、一緒に決めたいこと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109728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この5つが決まれば、次回は“動くもの”を持ってこられます。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3143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276856"/>
            <a:ext cx="1554480" cy="475488"/>
          </a:xfrm>
          <a:prstGeom prst="roundRect">
            <a:avLst>
              <a:gd name="adj" fmla="val 30000"/>
            </a:avLst>
          </a:prstGeom>
          <a:solidFill>
            <a:srgbClr val="B98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76856"/>
            <a:ext cx="1554480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対象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148840"/>
            <a:ext cx="822960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まず何の書類・どの物件群から始めるか？（一番困っている / 一番数が多い）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90088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3143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3118104"/>
            <a:ext cx="1554480" cy="475488"/>
          </a:xfrm>
          <a:prstGeom prst="roundRect">
            <a:avLst>
              <a:gd name="adj" fmla="val 30000"/>
            </a:avLst>
          </a:prstGeom>
          <a:solidFill>
            <a:srgbClr val="B98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118104"/>
            <a:ext cx="1554480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現状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990088"/>
            <a:ext cx="822960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図面・顧客情報は今どんな形式か？（紙・PDF・既存システム・Excel）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831336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3143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3959352"/>
            <a:ext cx="1554480" cy="475488"/>
          </a:xfrm>
          <a:prstGeom prst="roundRect">
            <a:avLst>
              <a:gd name="adj" fmla="val 30000"/>
            </a:avLst>
          </a:prstGeom>
          <a:solidFill>
            <a:srgbClr val="B98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959352"/>
            <a:ext cx="1554480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個人情報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3831336"/>
            <a:ext cx="822960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社内の取扱いルール・NGライン・保管ポリシーは？クラウド利用の可否は？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72584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3143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" y="4800600"/>
            <a:ext cx="1554480" cy="475488"/>
          </a:xfrm>
          <a:prstGeom prst="roundRect">
            <a:avLst>
              <a:gd name="adj" fmla="val 30000"/>
            </a:avLst>
          </a:prstGeom>
          <a:solidFill>
            <a:srgbClr val="B98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800600"/>
            <a:ext cx="1554480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ゴール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0320" y="4672584"/>
            <a:ext cx="822960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“移行”の先に何をしたいか？（検索・再提案・営業・相続対応…優先順位）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513832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3143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" y="5641848"/>
            <a:ext cx="1554480" cy="475488"/>
          </a:xfrm>
          <a:prstGeom prst="roundRect">
            <a:avLst>
              <a:gd name="adj" fmla="val 30000"/>
            </a:avLst>
          </a:prstGeom>
          <a:solidFill>
            <a:srgbClr val="B98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641848"/>
            <a:ext cx="1554480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体制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0320" y="5513832"/>
            <a:ext cx="822960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推進担当は誰か？デザインワークスと高城のどちらから着手するか？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48640"/>
            <a:ext cx="146304" cy="457200"/>
          </a:xfrm>
          <a:prstGeom prst="rect">
            <a:avLst/>
          </a:prstGeom>
          <a:solidFill>
            <a:srgbClr val="B98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84632"/>
            <a:ext cx="100584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B9852E"/>
                </a:solidFill>
                <a:latin typeface="Meiryo"/>
                <a:ea typeface="Meiryo"/>
                <a:cs typeface="Meiryo"/>
              </a:rPr>
              <a:t>VALUE ｜ 体制と効果イメージ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68096"/>
            <a:ext cx="106984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“作って終わり”にしない伴走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1335024"/>
            <a:ext cx="1828800" cy="32004"/>
          </a:xfrm>
          <a:prstGeom prst="rect">
            <a:avLst/>
          </a:prstGeom>
          <a:solidFill>
            <a:srgbClr val="2F6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6437376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高城株式会社／株式会社デザインワークス様 ご提案（叩き台）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20240"/>
            <a:ext cx="5349240" cy="1188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920240"/>
            <a:ext cx="128016" cy="1188720"/>
          </a:xfrm>
          <a:prstGeom prst="roundRect">
            <a:avLst>
              <a:gd name="adj" fmla="val 40000"/>
            </a:avLst>
          </a:prstGeom>
          <a:solidFill>
            <a:srgbClr val="2F6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19" y="2103120"/>
            <a:ext cx="48463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属人化 → 資産化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19" y="2578608"/>
            <a:ext cx="48463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個人の頭の中の情報を、会社の検索可能な資産へ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20240"/>
            <a:ext cx="5349240" cy="1188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72200" y="1920240"/>
            <a:ext cx="128016" cy="1188720"/>
          </a:xfrm>
          <a:prstGeom prst="roundRect">
            <a:avLst>
              <a:gd name="adj" fmla="val 40000"/>
            </a:avLst>
          </a:prstGeom>
          <a:solidFill>
            <a:srgbClr val="4F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2103120"/>
            <a:ext cx="48463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探す時間 → ゼロ近く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578608"/>
            <a:ext cx="48463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過去物件・図面・顧客履歴に即アクセス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291840"/>
            <a:ext cx="5349240" cy="1188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3291840"/>
            <a:ext cx="128016" cy="1188720"/>
          </a:xfrm>
          <a:prstGeom prst="roundRect">
            <a:avLst>
              <a:gd name="adj" fmla="val 40000"/>
            </a:avLst>
          </a:prstGeom>
          <a:solidFill>
            <a:srgbClr val="C04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19" y="3474720"/>
            <a:ext cx="48463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守りながら活用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19" y="3950208"/>
            <a:ext cx="48463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個人情報を保護しつつAIで使う体制を確立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291840"/>
            <a:ext cx="5349240" cy="1188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72200" y="3291840"/>
            <a:ext cx="128016" cy="1188720"/>
          </a:xfrm>
          <a:prstGeom prst="roundRect">
            <a:avLst>
              <a:gd name="adj" fmla="val 40000"/>
            </a:avLst>
          </a:prstGeom>
          <a:solidFill>
            <a:srgbClr val="B98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74720"/>
            <a:ext cx="48463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内製でコスト最適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950208"/>
            <a:ext cx="48463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研修で社内に運用力を残し、外注依存を避ける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80060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983480"/>
            <a:ext cx="1033272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私たちの関わり方：</a:t>
            </a:r>
            <a:r>
              <a:rPr sz="1250" b="0">
                <a:solidFill>
                  <a:srgbClr val="2A2F34"/>
                </a:solidFill>
                <a:latin typeface="Meiryo"/>
                <a:ea typeface="Meiryo"/>
                <a:cs typeface="Meiryo"/>
              </a:rPr>
              <a:t>構想設計／PoC伴走／個人情報・セキュリティ設計／社員向けAI研修。御社の“使える組織”の土台に、武器を載せます。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48640"/>
            <a:ext cx="146304" cy="457200"/>
          </a:xfrm>
          <a:prstGeom prst="rect">
            <a:avLst/>
          </a:prstGeom>
          <a:solidFill>
            <a:srgbClr val="B98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84632"/>
            <a:ext cx="100584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B9852E"/>
                </a:solidFill>
                <a:latin typeface="Meiryo"/>
                <a:ea typeface="Meiryo"/>
                <a:cs typeface="Meiryo"/>
              </a:rPr>
              <a:t>NEXT ｜ 次のアクション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68096"/>
            <a:ext cx="106984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まずは“1種類の書類”から、一緒に。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1335024"/>
            <a:ext cx="1828800" cy="32004"/>
          </a:xfrm>
          <a:prstGeom prst="rect">
            <a:avLst/>
          </a:prstGeom>
          <a:solidFill>
            <a:srgbClr val="2F6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0" y="6437376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高城株式会社／株式会社デザインワークス様 ご提案（叩き台）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20240"/>
            <a:ext cx="777240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① 対象を1つ決める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77440"/>
            <a:ext cx="73152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本日の議論で、PoC対象の書類・物件群を1つ選定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834640"/>
            <a:ext cx="777240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② サンプルで実証（PoC）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291840"/>
            <a:ext cx="73152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実データ一部で抽出精度と安全性を検証。効果を数字で確認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49039"/>
            <a:ext cx="777240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858767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③ 移行＋研修を並走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206239"/>
            <a:ext cx="73152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6A7178"/>
                </a:solidFill>
                <a:latin typeface="Meiryo"/>
                <a:ea typeface="Meiryo"/>
                <a:cs typeface="Meiryo"/>
              </a:rPr>
              <a:t>DB化を進めつつ、社員が自分で使える研修を実施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1920240"/>
            <a:ext cx="2834640" cy="2514600"/>
          </a:xfrm>
          <a:prstGeom prst="roundRect">
            <a:avLst>
              <a:gd name="adj" fmla="val 6000"/>
            </a:avLst>
          </a:prstGeom>
          <a:solidFill>
            <a:srgbClr val="283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2286000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B9852E"/>
                </a:solidFill>
                <a:latin typeface="Meiryo"/>
                <a:ea typeface="Meiryo"/>
                <a:cs typeface="Meiryo"/>
              </a:rPr>
              <a:t>ご一緒できること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87968" y="2834640"/>
            <a:ext cx="2468880" cy="1463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✓ 構想・要件の整理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✓ PoC設計・実証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✓ 個人情報・安全設計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✓ 社員向けAI研修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937760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120640"/>
            <a:ext cx="1033272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283845"/>
                </a:solidFill>
                <a:latin typeface="Meiryo"/>
                <a:ea typeface="Meiryo"/>
                <a:cs typeface="Meiryo"/>
              </a:rPr>
              <a:t>“設計と個人情報をAIで移行したい”——その第一歩を、リスクの小さいPoCから一緒に踏み出しましょう。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