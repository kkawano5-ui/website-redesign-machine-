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324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777240"/>
            <a:ext cx="2377440" cy="45720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B98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77724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AI活用 構想ご提案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103120"/>
            <a:ext cx="1115568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眠っている“設計と顧客の情報”を、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AIで使える資産に変える。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C9D3DA"/>
                </a:solidFill>
                <a:latin typeface="Meiryo"/>
                <a:ea typeface="Meiryo"/>
                <a:cs typeface="Meiryo"/>
              </a:rPr>
              <a:t>図面・書類の電子化 ＋ 個人情報のAI移行・活用 ／ ご提案の叩き台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高城株式会社 ／ 株式会社デザインワークス　社長・部長　小早川 和廉 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AA8B2"/>
                </a:solidFill>
                <a:latin typeface="Meiryo"/>
                <a:ea typeface="Meiryo"/>
                <a:cs typeface="Meiryo"/>
              </a:rPr>
              <a:t>2026年 ／ 方向性を一緒に固めるためのディスカッション資料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GOAL ｜ 本日のゴール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“正解を持ってくる”のではなく、一緒に決める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本資料は完成提案ではなく</a:t>
            </a:r>
            <a:r>
              <a:rPr sz="135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叩き台</a:t>
            </a:r>
            <a:r>
              <a:rPr sz="13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です。私たちの仮説をぶつけて、御社の実態に合う方向を本日その場で固めるのがゴールです。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679192"/>
            <a:ext cx="502920" cy="502920"/>
          </a:xfrm>
          <a:prstGeom prst="ellipse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24328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御社グループの理解をすり合わせる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7180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建設・不動産＋設計、110-120名、すでにAI活用中という現在地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593592"/>
            <a:ext cx="502920" cy="502920"/>
          </a:xfrm>
          <a:prstGeom prst="ellipse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935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38728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社長の構想（④）を翻訳して確認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8620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「設計と個人情報をAIで移行」を具体像に落とし、認識を合わせる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07992"/>
            <a:ext cx="502920" cy="502920"/>
          </a:xfrm>
          <a:prstGeom prst="ellipse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079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53128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進め方と“肝”を共有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060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データ移行の全体像と、個人情報・セキュリティの設計を提示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5422392"/>
            <a:ext cx="502920" cy="502920"/>
          </a:xfrm>
          <a:prstGeom prst="ellipse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22392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67528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本日決めたい論点を一緒に詰める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1500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対象範囲・優先順位・PoCの第一歩をその場で合意したい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UNDERSTANDING ｜ 御社グループの理解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私たちが理解している、御社の現在地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64922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高城株式会社は神奈川県平塚市を拠点に、建築塗装・防水・改修工事を手がける会社（許可：神奈川県知事 第85139号、代表 小早川和廉様、「NO PAINT, NO LIFE.」）。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株式会社デザインワークス（設計・デザイン）と連携し、塗装・改修から設計まで一気通貫で対応するグループ、と理解しています。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従業員110〜120名・AI活用も着手済み——</a:t>
            </a: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“使える組織”の土台はすでにある</a:t>
            </a: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。次の一手は、過去の施工・設計・顧客情報という会社の資産をAIで活かすことです。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99339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>110-120</a:t>
            </a:r>
            <a:r>
              <a:rPr sz="13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>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グループ従業員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59" y="182880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59" y="199339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>塗装×設計</a:t>
            </a:r>
            <a:r>
              <a:rPr sz="13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606040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2社グループ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20040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36499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>活用中</a:t>
            </a:r>
            <a:r>
              <a:rPr sz="13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977639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公開APIも導入済み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320040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9" y="336499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>施工×個人情報</a:t>
            </a:r>
            <a:r>
              <a:rPr sz="13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3977639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次の主戦場（④）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※ 公開情報からの推定を含みます。事実と異なる点は本日その場で修正させてください。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VISION ｜ 社長の構想を翻訳する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「設計と個人情報をAIで移行」を、具体像に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149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社長の言葉：</a:t>
            </a: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「最終的には設計と個人情報の関係も、AIを使って移行したい」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A7178"/>
                </a:solidFill>
                <a:latin typeface="Meiryo"/>
                <a:ea typeface="Meiryo"/>
                <a:cs typeface="Meiryo"/>
              </a:rPr>
              <a:t>私たちはこう受け止めました ▼（認識が違えば修正します）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ECE6DA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📂  いま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30632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紙・PDFの図面、見積書、施工写真、顧客台帳に、施工・設計情報と個人情報が“バラバラ・属人的”に眠っている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4480560"/>
            <a:ext cx="457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6118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E6EFF3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767328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F6F8F"/>
                </a:solidFill>
                <a:latin typeface="Meiryo"/>
                <a:ea typeface="Meiryo"/>
                <a:cs typeface="Meiryo"/>
              </a:rPr>
              <a:t>🤖  AIで移行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30632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AI-OCR＋情報抽出で、図面・施工のメタ情報と顧客の個人情報を読み取り、構造化データに変換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4480560"/>
            <a:ext cx="457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6118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E7F0E9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767328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F7A5F"/>
                </a:solidFill>
                <a:latin typeface="Meiryo"/>
                <a:ea typeface="Meiryo"/>
                <a:cs typeface="Meiryo"/>
              </a:rPr>
              <a:t>🗄️  これから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343400"/>
            <a:ext cx="30632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現場・設計・顧客が紐づいた検索可能なDBへ。「あの現場の前回施工は？」に即答できる資産に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WHY NOW ｜ なぜ今やる価値があるか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“眠った資産”は、年々取り出しにくくなる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建設・不動産の情報は、年月とともに紙・担当者の頭の中に固定化します。デジタル資産化を先送りするほどコストが上がります。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9689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探せない・即答できない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過去の現場・図面・顧客履歴が探せず、問い合わせや再提案に時間がかかる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37744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9689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塗り替え再提案の機会損失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27248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塗装・防水は約10年周期の塗り替え需要。施工履歴がDB化されていれば“次の塗り替え”を先回り提案できる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37744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56032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398" y="259689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属人化・退職リスク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127248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“あの人しか知らない”状態。ベテラン退職で情報ごと失われる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2336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0624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24281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紙・劣化リスク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73168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図面・見積・施工写真の紙/個別保存は劣化・紛失・災害に弱い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02336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0624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24281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個人情報の管理不安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73168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個人宅オーナーの情報がどこに散在するか把握しきれず、漏えい・コンプラのリスク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402336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420624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⏱️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8" y="424281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対応スピード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773168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塗り替え・メンテ・改修相談での即応力が、そのまま受注力になる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SOLUTION ｜ 構想の全体像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図面・書類 → AI抽出 → 使えるDB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レガシー資料を“読み取り→構造化→紐付け”する4ステップ。AIが人手の入力・転記を肩代わりします。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3172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ECE6DA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331720"/>
            <a:ext cx="2542032" cy="594360"/>
          </a:xfrm>
          <a:prstGeom prst="roundRect">
            <a:avLst>
              <a:gd name="adj" fmla="val 12000"/>
            </a:avLst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31720"/>
            <a:ext cx="2542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  取り込む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08960"/>
            <a:ext cx="217627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紙図面・PDF・見積書・施工写真・顧客台帳をスキャン／集約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20040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233172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E6EFF3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64408" y="2331720"/>
            <a:ext cx="2542032" cy="594360"/>
          </a:xfrm>
          <a:prstGeom prst="roundRect">
            <a:avLst>
              <a:gd name="adj" fmla="val 12000"/>
            </a:avLst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2331720"/>
            <a:ext cx="2542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  AIで読む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108960"/>
            <a:ext cx="217627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AI-OCR＋抽出で、図面・施工メタ情報と個人情報をテキスト化・項目化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320040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61888" y="233172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3E7E6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61888" y="2331720"/>
            <a:ext cx="2542032" cy="594360"/>
          </a:xfrm>
          <a:prstGeom prst="roundRect">
            <a:avLst>
              <a:gd name="adj" fmla="val 12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2331720"/>
            <a:ext cx="2542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  個人情報を守る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3108960"/>
            <a:ext cx="217627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氏名・住所等を自動検出し、マスキング／アクセス権限を付与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20040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59368" y="233172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E7F0E9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59368" y="2331720"/>
            <a:ext cx="2542032" cy="594360"/>
          </a:xfrm>
          <a:prstGeom prst="roundRect">
            <a:avLst>
              <a:gd name="adj" fmla="val 12000"/>
            </a:avLst>
          </a:prstGeom>
          <a:solidFill>
            <a:srgbClr val="4F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8" y="2331720"/>
            <a:ext cx="2542032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  DBへ紐付け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3108960"/>
            <a:ext cx="2176272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現場 × 設計 × 顧客 を関連づけ、検索可能なデータベースへ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3776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84064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出口イメージ：</a:t>
            </a:r>
            <a:r>
              <a:rPr sz="12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「あの現場の前回塗装は？」「この顧客の施工履歴は？」に、社員の誰もが数秒で答えられる状態。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SECURITY ｜ ここが肝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個人情報を“守りながら”使う設計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建設・不動産は契約書・図面に個人情報が詰まっています。AI活用の可否は、ここの設計で決まります。先に固めます。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95728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95728"/>
            <a:ext cx="109728" cy="1481328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6032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9689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学習されないAIを選定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127248"/>
            <a:ext cx="2999232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入力データをモデル学習に使わない商用APIを採用。情報が外部学習に流れない契約形態で運用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395728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95728"/>
            <a:ext cx="109728" cy="1481328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9689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送信前にマスキング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127248"/>
            <a:ext cx="2999232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氏名・住所・連絡先など個人情報を自動検出し、必要に応じ伏せてから処理。最小限の情報だけ扱う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395728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2395728"/>
            <a:ext cx="109728" cy="1481328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0" y="2560320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🗝️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398" y="2596896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アクセス権限・監査ログ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0" y="3127248"/>
            <a:ext cx="2999232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誰がどの情報を見たか記録。役職・部門単位で閲覧範囲を制御し、内部統制を担保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59936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059936"/>
            <a:ext cx="109728" cy="1481328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22452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61104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保管場所の選択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791456"/>
            <a:ext cx="2999232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社内・閉域・国内クラウドなど、御社のポリシーに合わせて保管先と経路を設計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059936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3400" y="4059936"/>
            <a:ext cx="109728" cy="1481328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422452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261104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法令順守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791456"/>
            <a:ext cx="2999232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個人情報保護法・建設業法等の要件に沿った取得・利用・保管・廃棄のルール整備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4059936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19" y="4059936"/>
            <a:ext cx="109728" cy="1481328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0" y="422452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398" y="4261104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小さく検証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0" y="4791456"/>
            <a:ext cx="2999232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まず限定データでPoC。安全性を確認しながら段階的に範囲を広げる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ROADMAP ｜ 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小さく試して、確実に広げる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74720" cy="868680"/>
          </a:xfrm>
          <a:prstGeom prst="roundRect">
            <a:avLst>
              <a:gd name="adj" fmla="val 12000"/>
            </a:avLst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CECEC"/>
                </a:solidFill>
                <a:latin typeface="Meiryo"/>
                <a:ea typeface="Meiryo"/>
                <a:cs typeface="Meiryo"/>
              </a:rPr>
              <a:t>〜1〜2ヶ月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PoC（実証）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29260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対象を1種類の書類・一部物件に絞り、抽出精度と安全性を検証。効果と勘所を掴む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2918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011680"/>
            <a:ext cx="3474720" cy="868680"/>
          </a:xfrm>
          <a:prstGeom prst="roundRect">
            <a:avLst>
              <a:gd name="adj" fmla="val 12000"/>
            </a:avLst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130552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96312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CECEC"/>
                </a:solidFill>
                <a:latin typeface="Meiryo"/>
                <a:ea typeface="Meiryo"/>
                <a:cs typeface="Meiryo"/>
              </a:rPr>
              <a:t>〜3〜6ヶ月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0896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本格移行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03320"/>
            <a:ext cx="29260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精度の出た書類から順に電子化・DB化。個人情報の運用ルールを確立し定着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32918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011680"/>
            <a:ext cx="3474720" cy="868680"/>
          </a:xfrm>
          <a:prstGeom prst="roundRect">
            <a:avLst>
              <a:gd name="adj" fmla="val 12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2130552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496312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CECEC"/>
                </a:solidFill>
                <a:latin typeface="Meiryo"/>
                <a:ea typeface="Meiryo"/>
                <a:cs typeface="Meiryo"/>
              </a:rPr>
              <a:t>継続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10896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活用・横展開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3703320"/>
            <a:ext cx="29260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検索・再提案・営業活用へ。デザインワークスの設計ノウハウ活用、グループ全体へ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いきなり全部はやりません。PHASE 1で“効くと分かってから”投資判断ができる進め方です。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EXPANSION ｜ 広がり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同じ仕組みが、他業務にも効く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塗り替え再提案リストの自動生成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3044951" cy="1481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施工履歴から“そろそろ塗り替え時期”の顧客を抽出し、案内文を自動作成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見積書・施工計画書ドラフト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44368"/>
            <a:ext cx="3044951" cy="1481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ひな型＋現場情報から下書きを自動生成、確認は人が行う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20240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10312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6032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図面・現調からの情報抽出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44368"/>
            <a:ext cx="3044951" cy="1481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図面や現地調査メモから数量・仕様を読み取り、積算・台帳へ自動入力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9476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顧客問い合わせ一次対応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36008"/>
            <a:ext cx="3044951" cy="1481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過去施工・FAQをもとに、問い合わせへ即時ドラフト回答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611880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9476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🖼️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施工事例・提案資料の自動生成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36008"/>
            <a:ext cx="3044951" cy="1481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施工写真とビフォーアフターから事例・提案資料を自動作成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611880"/>
            <a:ext cx="345643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79476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社内ナレッジ横断検索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636008"/>
            <a:ext cx="3044951" cy="1481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設計×顧客×現場を横断して“聞けば返ってくる”状態に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④のデータ基盤ができると、これらは“その上のアプリ”として次々に載せられます。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DISCUSSION ｜ 本日、一緒に決めたいこと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この5つが決まれば、次回は“動くもの”を持ってこられます。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31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76856"/>
            <a:ext cx="1554480" cy="475488"/>
          </a:xfrm>
          <a:prstGeom prst="roundRect">
            <a:avLst>
              <a:gd name="adj" fmla="val 30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76856"/>
            <a:ext cx="15544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対象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48840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まず何の書類・どの案件群から始めるか？（一番困っている / 一番数が多い）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008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31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118104"/>
            <a:ext cx="1554480" cy="475488"/>
          </a:xfrm>
          <a:prstGeom prst="roundRect">
            <a:avLst>
              <a:gd name="adj" fmla="val 30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18104"/>
            <a:ext cx="15544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現状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90088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図面・見積・顧客情報は今どんな形式か？（紙・PDF・既存システム・Excel）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3133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31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959352"/>
            <a:ext cx="1554480" cy="475488"/>
          </a:xfrm>
          <a:prstGeom prst="roundRect">
            <a:avLst>
              <a:gd name="adj" fmla="val 30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59352"/>
            <a:ext cx="15544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個人情報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831336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社内の取扱いルール・NGライン・保管ポリシーは？クラウド利用の可否は？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7258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31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1554480" cy="475488"/>
          </a:xfrm>
          <a:prstGeom prst="roundRect">
            <a:avLst>
              <a:gd name="adj" fmla="val 30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5544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ゴール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72584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“移行”の先に何をしたいか？（検索・塗り替え再提案・営業活用…優先順位）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1383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31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641848"/>
            <a:ext cx="1554480" cy="475488"/>
          </a:xfrm>
          <a:prstGeom prst="roundRect">
            <a:avLst>
              <a:gd name="adj" fmla="val 30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41848"/>
            <a:ext cx="15544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体制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513832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推進担当は誰か？デザインワークスと高城のどちらから着手するか？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VALUE ｜ 体制と効果イメージ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“作って終わり”にしない伴走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492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28016" cy="1188720"/>
          </a:xfrm>
          <a:prstGeom prst="roundRect">
            <a:avLst>
              <a:gd name="adj" fmla="val 40000"/>
            </a:avLst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1031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属人化 → 資産化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257860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個人の頭の中の情報を、会社の検索可能な資産へ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20240"/>
            <a:ext cx="53492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128016" cy="1188720"/>
          </a:xfrm>
          <a:prstGeom prst="roundRect">
            <a:avLst>
              <a:gd name="adj" fmla="val 40000"/>
            </a:avLst>
          </a:prstGeom>
          <a:solidFill>
            <a:srgbClr val="4F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探す時間 → ゼロ近く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7860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過去物件・図面・顧客履歴に即アクセス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53492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91840"/>
            <a:ext cx="128016" cy="1188720"/>
          </a:xfrm>
          <a:prstGeom prst="roundRect">
            <a:avLst>
              <a:gd name="adj" fmla="val 40000"/>
            </a:avLst>
          </a:prstGeom>
          <a:solidFill>
            <a:srgbClr val="C0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34747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守りながら活用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395020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個人情報を保護しつつAIで使う体制を確立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91840"/>
            <a:ext cx="53492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291840"/>
            <a:ext cx="128016" cy="1188720"/>
          </a:xfrm>
          <a:prstGeom prst="roundRect">
            <a:avLst>
              <a:gd name="adj" fmla="val 40000"/>
            </a:avLst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内製でコスト最適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5020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研修で社内に運用力を残し、外注依存を避ける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私たちの関わり方：</a:t>
            </a:r>
            <a:r>
              <a:rPr sz="1250" b="0">
                <a:solidFill>
                  <a:srgbClr val="2A2F34"/>
                </a:solidFill>
                <a:latin typeface="Meiryo"/>
                <a:ea typeface="Meiryo"/>
                <a:cs typeface="Meiryo"/>
              </a:rPr>
              <a:t>構想設計／PoC伴走／個人情報・セキュリティ設計／社員向けAI研修。御社の“使える組織”の土台に、武器を載せます。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B98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NEXT ｜ 次のアクション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まずは“1種類の書類”から、一緒に。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35024"/>
            <a:ext cx="1828800" cy="32004"/>
          </a:xfrm>
          <a:prstGeom prst="rect">
            <a:avLst/>
          </a:prstGeom>
          <a:solidFill>
            <a:srgbClr val="2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高城株式会社／株式会社デザインワークス様 ご提案（叩き台）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7772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① 対象を1つ決める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本日の議論で、PoC対象の書類・物件群を1つ選定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7772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② サンプルで実証（PoC）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実データ一部で抽出精度と安全性を検証。効果を数字で確認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7772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7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③ 移行＋研修を並走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39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A7178"/>
                </a:solidFill>
                <a:latin typeface="Meiryo"/>
                <a:ea typeface="Meiryo"/>
                <a:cs typeface="Meiryo"/>
              </a:rPr>
              <a:t>DB化を進めつつ、社員が自分で使える研修を実施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920240"/>
            <a:ext cx="2834640" cy="2514600"/>
          </a:xfrm>
          <a:prstGeom prst="roundRect">
            <a:avLst>
              <a:gd name="adj" fmla="val 6000"/>
            </a:avLst>
          </a:prstGeom>
          <a:solidFill>
            <a:srgbClr val="283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9852E"/>
                </a:solidFill>
                <a:latin typeface="Meiryo"/>
                <a:ea typeface="Meiryo"/>
                <a:cs typeface="Meiryo"/>
              </a:rPr>
              <a:t>ご一緒できること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834640"/>
            <a:ext cx="24688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構想・要件の整理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PoC設計・実証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個人情報・安全設計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社員向けAI研修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83845"/>
                </a:solidFill>
                <a:latin typeface="Meiryo"/>
                <a:ea typeface="Meiryo"/>
                <a:cs typeface="Meiryo"/>
              </a:rPr>
              <a:t>“設計と個人情報をAIで移行したい”——その第一歩を、リスクの小さいPoCから一緒に踏み出しましょう。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