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91440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731520"/>
            <a:ext cx="1371600" cy="457200"/>
          </a:xfrm>
          <a:prstGeom prst="roundRect">
            <a:avLst>
              <a:gd name="adj" fmla="val 30000"/>
            </a:avLst>
          </a:prstGeom>
          <a:noFill/>
          <a:ln w="19050">
            <a:solidFill>
              <a:srgbClr val="1A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3716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AA3A3"/>
                </a:solidFill>
                <a:latin typeface="Meiryo"/>
                <a:ea typeface="Meiryo"/>
                <a:cs typeface="Meiryo"/>
              </a:rPr>
              <a:t>AI × 自動化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AIで“全業務の自動化”を、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現場の標準装備に。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B8C6D9"/>
                </a:solidFill>
                <a:latin typeface="Meiryo"/>
                <a:ea typeface="Meiryo"/>
                <a:cs typeface="Meiryo"/>
              </a:rPr>
              <a:t>業務自動化・AI活用 ご提案 ／ AI研修のご案内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株式会社エヌエフエー　代表取締役　大崎 玄長 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FB0C6"/>
                </a:solidFill>
                <a:latin typeface="Meiryo"/>
                <a:ea typeface="Meiryo"/>
                <a:cs typeface="Meiryo"/>
              </a:rPr>
              <a:t>2026年 ／ ご提案・デモ資料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AGENDA ｜ 本日お話しすること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本日のゴールと進め方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65960"/>
            <a:ext cx="9144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御社オペレーションの想定整理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359152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30名で1,000名を支える体制を、業務マップで可視化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017520"/>
            <a:ext cx="9144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自動化できる業務の棚卸し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10712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“どこから手をつけるか”を効果×難易度で優先度づけ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69080"/>
            <a:ext cx="9144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動くデモを2つご覧いただく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462272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① 請求・給与ダブルチェック　② 求人原稿の自動生成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83479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166359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66359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120639"/>
            <a:ext cx="9144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AI研修での内製化プラン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513831"/>
            <a:ext cx="9144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外注ではなく、社員30名が“自分で作れる”状態へ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UNDERSTANDING ｜ 御社の理解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私たちが理解している、御社の現在地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64008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御社は大田区・蒲田を拠点に、人材派遣・紹介・教育に加え、研修センターや物流センターの直営運営まで手がける</a:t>
            </a:r>
            <a:r>
              <a:rPr sz="13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PEO型の総合人材サービス</a:t>
            </a:r>
            <a:r>
              <a:rPr sz="13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3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正社員30名というコンパクトな本部で、派遣社員約1,000名を支えています。すでに“全業務を自動化できないか”を社員に問い、請求書のダブルチェックなど具体的な取り組みも進行中——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3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AIを「一部の人の特技」から「30名全員の標準装備」へ広げるのが次の一手です。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28800"/>
            <a:ext cx="21488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0116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30</a:t>
            </a:r>
            <a:r>
              <a:rPr sz="14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60604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正社員（本部）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59" y="1828800"/>
            <a:ext cx="21488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59" y="20116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1,000</a:t>
            </a:r>
            <a:r>
              <a:rPr sz="14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59" y="2606040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派遣社員 規模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246120"/>
            <a:ext cx="21488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42900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33</a:t>
            </a:r>
            <a:r>
              <a:rPr sz="14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023359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1人が支える人数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59" y="3246120"/>
            <a:ext cx="21488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59" y="342900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PEO</a:t>
            </a:r>
            <a:r>
              <a:rPr sz="14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59" y="4023359"/>
            <a:ext cx="2148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総合人材サービス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617720"/>
            <a:ext cx="10881360" cy="1280160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73168"/>
            <a:ext cx="1033272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ポイント：</a:t>
            </a:r>
            <a:r>
              <a:rPr sz="125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少人数の本部が大人数の派遣を支える構造では、1人あたりの管理業務量が多く、</a:t>
            </a:r>
            <a:r>
              <a:rPr sz="12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“正確さ”と“スピード”の両立</a:t>
            </a:r>
            <a:r>
              <a:rPr sz="125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が常に求められます。ここが自動化の効果が最も大きい領域です。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ISSUE ｜ 派遣ビジネスの構造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“30名で1,000名”を支えるバックオフィスの負荷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派遣ビジネスは、派遣社員1人ごとに毎月くり返す定型業務が積み上がります。人数 × 毎月 × 正確性 が負荷の正体です。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勤怠の収集・正規化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3044951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拠点・媒体ごとにバラバラな様式を毎月集約・転記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33472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670048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勤怠の収集・正規化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82112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拠点・媒体ごとにバラバラな様式を毎月集約・転記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46888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請求・給与計算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3044951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単価×時間×手当を1,000名分。ミスが許されない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33472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70048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請求・給与計算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182112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単価×時間×手当を1,000名分。ミスが許されない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46888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26517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ダブルチェック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108960"/>
            <a:ext cx="3044951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請求書・給与の突合を人手で二重確認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633472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398" y="2670048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ダブルチェック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182112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請求書・給与の突合を人手で二重確認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06908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2519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求人原稿・スカウト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709160"/>
            <a:ext cx="3044951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媒体ごとに原稿作成、応募対応、面接調整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233672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270248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求人原稿・スカウト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782312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媒体ごとに原稿作成、応募対応、面接調整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06908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2519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契約・コンプラ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709160"/>
            <a:ext cx="3044951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派遣契約書、抵触日、36協定、社保手続き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33672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270248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契約・コンプラ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782312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派遣契約書、抵触日、36協定、社保手続き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19" y="4069080"/>
            <a:ext cx="3456432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19" y="42519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問い合わせ対応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19" y="4709160"/>
            <a:ext cx="3044951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派遣社員からの給料日・有休・シフト等の質問対応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9" y="4233672"/>
            <a:ext cx="914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398" y="4270248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問い合わせ対応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9" y="4782312"/>
            <a:ext cx="3044951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派遣社員からの給料日・有休・シフト等の質問対応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OPERATION MAP ｜ 業務全体像（想定）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御社オペレーションを5つの流れで想定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2084831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2084831" cy="640080"/>
          </a:xfrm>
          <a:prstGeom prst="roundRect">
            <a:avLst>
              <a:gd name="adj" fmla="val 18000"/>
            </a:avLst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03120"/>
            <a:ext cx="2084831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  求人・採用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71800"/>
            <a:ext cx="1719071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求人作成→応募対応→面接→登録・スキル管理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3017520"/>
            <a:ext cx="411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9776" y="2103120"/>
            <a:ext cx="2084831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79776" y="2103120"/>
            <a:ext cx="2084831" cy="640080"/>
          </a:xfrm>
          <a:prstGeom prst="roundRect">
            <a:avLst>
              <a:gd name="adj" fmla="val 1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9776" y="2103120"/>
            <a:ext cx="2084831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  マッチング・契約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2971800"/>
            <a:ext cx="1719071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ニーズと人材のマッチング→契約・抵触日管理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7" y="3017520"/>
            <a:ext cx="411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92624" y="2103120"/>
            <a:ext cx="2084831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92624" y="2103120"/>
            <a:ext cx="2084831" cy="640080"/>
          </a:xfrm>
          <a:prstGeom prst="roundRect">
            <a:avLst>
              <a:gd name="adj" fmla="val 18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92624" y="2103120"/>
            <a:ext cx="2084831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③  勤怠・労務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971800"/>
            <a:ext cx="1719071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勤怠収集→正規化→社保・36協定など労務管理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5" y="3017520"/>
            <a:ext cx="411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5472" y="2103120"/>
            <a:ext cx="2084831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05472" y="2103120"/>
            <a:ext cx="2084831" cy="640080"/>
          </a:xfrm>
          <a:prstGeom prst="roundRect">
            <a:avLst>
              <a:gd name="adj" fmla="val 1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5472" y="2103120"/>
            <a:ext cx="2084831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④  請求・給与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2971800"/>
            <a:ext cx="1719071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勤怠×単価→請求/給与計算→ダブルチェック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2" y="3017520"/>
            <a:ext cx="411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18319" y="2103120"/>
            <a:ext cx="2084831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18319" y="2103120"/>
            <a:ext cx="2084831" cy="640080"/>
          </a:xfrm>
          <a:prstGeom prst="roundRect">
            <a:avLst>
              <a:gd name="adj" fmla="val 18000"/>
            </a:avLst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19" y="2103120"/>
            <a:ext cx="2084831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⑤  定着・教育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198" y="2971800"/>
            <a:ext cx="1719071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フォロー→問い合わせ対応→研修センター育成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47488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この5つの流れすべてに、AI・自動化で効く“すき間”があります。</a:t>
            </a:r>
            <a:r>
              <a:rPr sz="125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次ページで「効果 × 導入のしやすさ」で優先順位をつけます。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PRIORITY ｜ 自動化の機会マップ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“どこから始めるか” を一枚で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874519"/>
            <a:ext cx="7863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74519"/>
            <a:ext cx="3931920" cy="2103120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3968495"/>
            <a:ext cx="7863840" cy="18288"/>
          </a:xfrm>
          <a:prstGeom prst="rect">
            <a:avLst/>
          </a:prstGeom>
          <a:solidFill>
            <a:srgbClr val="E2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874519"/>
            <a:ext cx="18288" cy="4206240"/>
          </a:xfrm>
          <a:prstGeom prst="rect">
            <a:avLst/>
          </a:prstGeom>
          <a:solidFill>
            <a:srgbClr val="E2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74519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効果：大 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19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効果：小 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6126478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eiryo"/>
                <a:ea typeface="Meiryo"/>
                <a:cs typeface="Meiryo"/>
              </a:rPr>
              <a:t>◀ 導入：難しい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6126478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導入：やさしい 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47671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F9E54"/>
                </a:solidFill>
                <a:latin typeface="Meiryo"/>
                <a:ea typeface="Meiryo"/>
                <a:cs typeface="Meiryo"/>
              </a:rPr>
              <a:t>★ 最優先ゾーン（すぐ着手）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395728"/>
            <a:ext cx="2103120" cy="51206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395728"/>
            <a:ext cx="210312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請求・給与チェック①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12724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3127248"/>
            <a:ext cx="182880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求人原稿生成②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2715768"/>
            <a:ext cx="1645920" cy="512064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2715768"/>
            <a:ext cx="164592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問い合わせFAQ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2350008"/>
            <a:ext cx="1920240" cy="512064"/>
          </a:xfrm>
          <a:prstGeom prst="roundRect">
            <a:avLst>
              <a:gd name="adj" fmla="val 50000"/>
            </a:avLst>
          </a:prstGeom>
          <a:solidFill>
            <a:srgbClr val="D99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2350008"/>
            <a:ext cx="19202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勤怠データ正規化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97480" y="3172968"/>
            <a:ext cx="1920240" cy="512064"/>
          </a:xfrm>
          <a:prstGeom prst="roundRect">
            <a:avLst>
              <a:gd name="adj" fmla="val 50000"/>
            </a:avLst>
          </a:prstGeom>
          <a:solidFill>
            <a:srgbClr val="D99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3172968"/>
            <a:ext cx="19202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マッチング高度化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773168"/>
            <a:ext cx="1828800" cy="512064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4773168"/>
            <a:ext cx="182880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議事録・日報要約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5230368"/>
            <a:ext cx="1554480" cy="512064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5230368"/>
            <a:ext cx="155448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メール下書き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4956048"/>
            <a:ext cx="1920240" cy="512064"/>
          </a:xfrm>
          <a:prstGeom prst="roundRect">
            <a:avLst>
              <a:gd name="adj" fmla="val 50000"/>
            </a:avLst>
          </a:prstGeom>
          <a:solidFill>
            <a:srgbClr val="5B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956048"/>
            <a:ext cx="1920240" cy="5120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契約・抵触日管理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1874519"/>
            <a:ext cx="1554480" cy="4206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64545"/>
                </a:solidFill>
                <a:latin typeface="Meiryo"/>
                <a:ea typeface="Meiryo"/>
                <a:cs typeface="Meiryo"/>
              </a:rPr>
              <a:t>①②は本日デモ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THEME 01 ｜ 本日デモ①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請求・給与のダブルチェックを自動化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6126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社長が挙げられた“請求書のダブルチェック”そのものを自動化。勤怠×契約単価から正しい金額を自動計算し、人の確認が要る差異だけを浮かび上がらせます。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8288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やること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743200"/>
            <a:ext cx="41605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743200"/>
            <a:ext cx="38404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勤怠データと契約マスタを照合し、請求額・給与額・粗利を自動算出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84448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84448"/>
            <a:ext cx="18288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自動で検出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40" y="3584448"/>
            <a:ext cx="41605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3584448"/>
            <a:ext cx="38404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単価マスタ欠落／残業計算ミス／既存請求との差異／重複入力／労務リスク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25696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25696"/>
            <a:ext cx="18288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人がやること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4425696"/>
            <a:ext cx="41605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425696"/>
            <a:ext cx="38404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🔴と🟡で出た例外だけを確認。全件目視チェックが不要に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66944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66944"/>
            <a:ext cx="18288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効果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5266944"/>
            <a:ext cx="416052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5266944"/>
            <a:ext cx="384048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チェック時間を大幅圧縮＋ヒューマンエラー由来の請求差異を防止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1828800"/>
            <a:ext cx="43891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2320" y="1828800"/>
            <a:ext cx="4389120" cy="54864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1828800"/>
            <a:ext cx="43891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自動チェックレポート（イメージ）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2560320"/>
            <a:ext cx="4023360" cy="54864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7" y="2560320"/>
            <a:ext cx="365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F9E54"/>
                </a:solidFill>
                <a:latin typeface="Meiryo"/>
                <a:ea typeface="Meiryo"/>
                <a:cs typeface="Meiryo"/>
              </a:rPr>
              <a:t>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2560320"/>
            <a:ext cx="11887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佐藤 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2560320"/>
            <a:ext cx="914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¥385,000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560320"/>
            <a:ext cx="1508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F9E54"/>
                </a:solidFill>
                <a:latin typeface="Meiryo"/>
                <a:ea typeface="Meiryo"/>
                <a:cs typeface="Meiryo"/>
              </a:rPr>
              <a:t>指摘なし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3200400"/>
            <a:ext cx="4023360" cy="54864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24927" y="3200400"/>
            <a:ext cx="365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D64545"/>
                </a:solidFill>
                <a:latin typeface="Meiryo"/>
                <a:ea typeface="Meiryo"/>
                <a:cs typeface="Meiryo"/>
              </a:rPr>
              <a:t>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8" y="3200400"/>
            <a:ext cx="11887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鈴木 一郎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200400"/>
            <a:ext cx="914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¥462,800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508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D64545"/>
                </a:solidFill>
                <a:latin typeface="Meiryo"/>
                <a:ea typeface="Meiryo"/>
                <a:cs typeface="Meiryo"/>
              </a:rPr>
              <a:t>既存請求と+¥17,200差異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3840479"/>
            <a:ext cx="4023360" cy="54864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4927" y="3840479"/>
            <a:ext cx="365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D99211"/>
                </a:solidFill>
                <a:latin typeface="Meiryo"/>
                <a:ea typeface="Meiryo"/>
                <a:cs typeface="Meiryo"/>
              </a:rPr>
              <a:t>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0688" y="3840479"/>
            <a:ext cx="11887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田中 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3840479"/>
            <a:ext cx="914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¥540,000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840479"/>
            <a:ext cx="1508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D99211"/>
                </a:solidFill>
                <a:latin typeface="Meiryo"/>
                <a:ea typeface="Meiryo"/>
                <a:cs typeface="Meiryo"/>
              </a:rPr>
              <a:t>残業52h：労務リスク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4480559"/>
            <a:ext cx="4023360" cy="54864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24927" y="4480559"/>
            <a:ext cx="365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D64545"/>
                </a:solidFill>
                <a:latin typeface="Meiryo"/>
                <a:ea typeface="Meiryo"/>
                <a:cs typeface="Meiryo"/>
              </a:rPr>
              <a:t>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90688" y="4480559"/>
            <a:ext cx="11887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伊藤 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4480559"/>
            <a:ext cx="914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480559"/>
            <a:ext cx="1508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D64545"/>
                </a:solidFill>
                <a:latin typeface="Meiryo"/>
                <a:ea typeface="Meiryo"/>
                <a:cs typeface="Meiryo"/>
              </a:rPr>
              <a:t>契約マスタに単価なし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5120640"/>
            <a:ext cx="4023360" cy="54864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24927" y="5120640"/>
            <a:ext cx="365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D99211"/>
                </a:solidFill>
                <a:latin typeface="Meiryo"/>
                <a:ea typeface="Meiryo"/>
                <a:cs typeface="Meiryo"/>
              </a:rPr>
              <a:t>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0688" y="5120640"/>
            <a:ext cx="118872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高橋 美咲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5120640"/>
            <a:ext cx="9144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¥319,000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5120640"/>
            <a:ext cx="15087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D99211"/>
                </a:solidFill>
                <a:latin typeface="Meiryo"/>
                <a:ea typeface="Meiryo"/>
                <a:cs typeface="Meiryo"/>
              </a:rPr>
              <a:t>勤怠の重複入力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THEME 02 ｜ 本日デモ②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求人原稿・スカウトをAIで一括生成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職種・時給・特徴を入れるだけで、媒体原稿・スカウトメール・SNS投稿を同時生成。採用スピードと応募数の両方に効きます。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2606040" cy="109728"/>
          </a:xfrm>
          <a:prstGeom prst="roundRect">
            <a:avLst>
              <a:gd name="adj" fmla="val 40000"/>
            </a:avLst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21945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入力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219456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職種／勤務地／時給／ターゲット／特徴を選ぶだけ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51460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2514600"/>
            <a:ext cx="2606040" cy="109728"/>
          </a:xfrm>
          <a:prstGeom prst="roundRect">
            <a:avLst>
              <a:gd name="adj" fmla="val 4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21945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出力①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54680"/>
            <a:ext cx="219456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求人媒体の原稿（構成・キャッチ込み）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1460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514600"/>
            <a:ext cx="2606040" cy="109728"/>
          </a:xfrm>
          <a:prstGeom prst="roundRect">
            <a:avLst>
              <a:gd name="adj" fmla="val 4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697480"/>
            <a:ext cx="21945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出力②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54680"/>
            <a:ext cx="219456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候補者向けスカウトメール文面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39" y="251460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06839" y="2514600"/>
            <a:ext cx="2606040" cy="109728"/>
          </a:xfrm>
          <a:prstGeom prst="roundRect">
            <a:avLst>
              <a:gd name="adj" fmla="val 4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39" y="2697480"/>
            <a:ext cx="21945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出力③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39" y="3154680"/>
            <a:ext cx="219456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SNS投稿（ハッシュタグ付き）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88036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66344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18888"/>
            <a:ext cx="1033272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効果：</a:t>
            </a:r>
            <a:r>
              <a:rPr sz="125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1媒体30分→数分に短縮。応募実績の高い表現を学習させれば“勝ちパターン”を全担当で再現できます。担当者ごとの原稿品質のバラつきも解消。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※ 本番はClaude API連携で自然文を生成。デモはテンプレート方式で挙動をご覧いただきます。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MORE ｜ その他の自動化候補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まだまだ自動化できる業務があります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456432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派遣社員 問い合わせ一次対応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52928"/>
            <a:ext cx="3044951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給料日・有休・シフト等のFAQをチャットで自動回答。本部の電話/チャット対応を削減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456432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勤怠データの正規化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52928"/>
            <a:ext cx="3044951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拠点・媒体ごとにバラバラな勤怠様式を、統一フォーマットへ自動変換・転記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828800"/>
            <a:ext cx="3456432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01168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46888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契約書・抵触日チェック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52928"/>
            <a:ext cx="3044951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派遣契約書の不備や抵触日の接近を自動アラート。コンプラ事故を未然防止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11880"/>
            <a:ext cx="3456432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9476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519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研修教材・テスト生成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36008"/>
            <a:ext cx="3044951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研修センター向けの教材・確認テスト・進捗レポートをAIで作成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611880"/>
            <a:ext cx="3456432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9476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519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議事録・日報の要約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636008"/>
            <a:ext cx="3044951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商談メモや日報を自動要約。共有・引き継ぎの手間を削減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611880"/>
            <a:ext cx="3456432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794760"/>
            <a:ext cx="914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251960"/>
            <a:ext cx="3044951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定型メール下書き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4636008"/>
            <a:ext cx="3044951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派遣先・候補者への連絡メールを状況に応じて自動下書き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IMPACT ｜ 想定効果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“塵も積もれば”を、数字で見る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以下は議論用のラフ試算です。実際の業務量を伺って精緻化します。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286000"/>
            <a:ext cx="2606040" cy="109728"/>
          </a:xfrm>
          <a:prstGeom prst="roundRect">
            <a:avLst>
              <a:gd name="adj" fmla="val 4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606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月100h+</a:t>
            </a:r>
            <a:r>
              <a:rPr sz="13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38328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削減できる定型業務の目安*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28600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2286000"/>
            <a:ext cx="2606040" cy="109728"/>
          </a:xfrm>
          <a:prstGeom prst="roundRect">
            <a:avLst>
              <a:gd name="adj" fmla="val 40000"/>
            </a:avLst>
          </a:prstGeom>
          <a:solidFill>
            <a:srgbClr val="2F9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697480"/>
            <a:ext cx="2606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2F9E54"/>
                </a:solidFill>
                <a:latin typeface="Meiryo"/>
                <a:ea typeface="Meiryo"/>
                <a:cs typeface="Meiryo"/>
              </a:rPr>
              <a:t>0件</a:t>
            </a:r>
            <a:r>
              <a:rPr sz="1300" b="1">
                <a:solidFill>
                  <a:srgbClr val="2F9E54"/>
                </a:solidFill>
                <a:latin typeface="Meiryo"/>
                <a:ea typeface="Meiryo"/>
                <a:cs typeface="Meiryo"/>
              </a:rPr>
              <a:t>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8328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請求の計算ミス・差異を抑制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2286000"/>
            <a:ext cx="2606040" cy="109728"/>
          </a:xfrm>
          <a:prstGeom prst="roundRect">
            <a:avLst>
              <a:gd name="adj" fmla="val 40000"/>
            </a:avLst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697480"/>
            <a:ext cx="2606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A3A3"/>
                </a:solidFill>
                <a:latin typeface="Meiryo"/>
                <a:ea typeface="Meiryo"/>
                <a:cs typeface="Meiryo"/>
              </a:rPr>
              <a:t>数時間→数分</a:t>
            </a:r>
            <a:r>
              <a:rPr sz="1300" b="1">
                <a:solidFill>
                  <a:srgbClr val="1AA3A3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求人原稿1本あたりの作成時間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39" y="2286000"/>
            <a:ext cx="26060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06839" y="2286000"/>
            <a:ext cx="2606040" cy="109728"/>
          </a:xfrm>
          <a:prstGeom prst="roundRect">
            <a:avLst>
              <a:gd name="adj" fmla="val 40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39" y="2697480"/>
            <a:ext cx="26060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30名</a:t>
            </a:r>
            <a:r>
              <a:rPr sz="13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全員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383280"/>
            <a:ext cx="2240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“作れる人”を限定しない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45152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本質的な効果：</a:t>
            </a:r>
            <a:r>
              <a:rPr sz="1250" b="0">
                <a:solidFill>
                  <a:srgbClr val="1F2733"/>
                </a:solidFill>
                <a:latin typeface="Meiryo"/>
                <a:ea typeface="Meiryo"/>
                <a:cs typeface="Meiryo"/>
              </a:rPr>
              <a:t>削減した時間を“人にしかできない仕事”——派遣社員のフォロー、派遣先との関係構築、定着支援——に再投資できます。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自動化はコスト削減ではなく、御社の強み（人の手厚さ）を伸ばすための投資です。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* 1件6分×件数などの仮定に基づく目安。正式には御社実数で試算します。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ROADMAP ｜ 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AI研修 × 内製化｜90日の立ち上げ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474720" cy="822960"/>
          </a:xfrm>
          <a:prstGeom prst="roundRect">
            <a:avLst>
              <a:gd name="adj" fmla="val 12000"/>
            </a:avLst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87168"/>
            <a:ext cx="3474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DDE8F2"/>
                </a:solidFill>
                <a:latin typeface="Meiryo"/>
                <a:ea typeface="Meiryo"/>
                <a:cs typeface="Meiryo"/>
              </a:rPr>
              <a:t>〜30日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現状把握 &amp; クイックウィン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292608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業務の棚卸しワークショップ＋全社員AI基礎研修。すぐ効く1〜2業務を選定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29184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011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2011680"/>
            <a:ext cx="3474720" cy="822960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121408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487168"/>
            <a:ext cx="3474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DDE8F2"/>
                </a:solidFill>
                <a:latin typeface="Meiryo"/>
                <a:ea typeface="Meiryo"/>
                <a:cs typeface="Meiryo"/>
              </a:rPr>
              <a:t>〜60日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06324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デモ業務を実装・定着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749039"/>
            <a:ext cx="292608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請求チェック/求人生成を実運用へ。“作れる社員”を数名育成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329184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011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19" y="2011680"/>
            <a:ext cx="3474720" cy="822960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2121408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487168"/>
            <a:ext cx="34747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DDE8F2"/>
                </a:solidFill>
                <a:latin typeface="Meiryo"/>
                <a:ea typeface="Meiryo"/>
                <a:cs typeface="Meiryo"/>
              </a:rPr>
              <a:t>〜90日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306324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横展開 &amp; 内製文化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3749039"/>
            <a:ext cx="292608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成功事例を全社共有。社員が自分で次の自動化を企画・作成できる状態へ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ゴールは“ツール導入”ではなく、社員が自走してAIを使いこなす組織。だから外注ではなく研修なのです。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WHY TRAINING ｜ なぜ内製・研修なのか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“外注で1個作る”より“30名が作れる”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2468880" cy="594359"/>
          </a:xfrm>
          <a:prstGeom prst="rect">
            <a:avLst/>
          </a:prstGeom>
          <a:solidFill>
            <a:srgbClr val="13294B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1828800"/>
            <a:ext cx="3657600" cy="594359"/>
          </a:xfrm>
          <a:prstGeom prst="rect">
            <a:avLst/>
          </a:prstGeom>
          <a:solidFill>
            <a:srgbClr val="13294B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1828800"/>
            <a:ext cx="4754880" cy="594359"/>
          </a:xfrm>
          <a:prstGeom prst="rect">
            <a:avLst/>
          </a:prstGeom>
          <a:solidFill>
            <a:srgbClr val="13294B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22860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28800"/>
            <a:ext cx="33832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外注・受託開発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28800"/>
            <a:ext cx="44805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AI研修で内製化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487168"/>
            <a:ext cx="2468880" cy="594359"/>
          </a:xfrm>
          <a:prstGeom prst="rect">
            <a:avLst/>
          </a:prstGeom>
          <a:solidFill>
            <a:srgbClr val="E9F1FA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0" y="2487168"/>
            <a:ext cx="3657600" cy="5943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2487168"/>
            <a:ext cx="4754880" cy="594359"/>
          </a:xfrm>
          <a:prstGeom prst="rect">
            <a:avLst/>
          </a:prstGeom>
          <a:solidFill>
            <a:srgbClr val="EAF6E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487168"/>
            <a:ext cx="22860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作れる範囲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487168"/>
            <a:ext cx="33832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頼んだ1業務だけ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487168"/>
            <a:ext cx="44805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社員が気づいた業務すべて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145536"/>
            <a:ext cx="2468880" cy="594359"/>
          </a:xfrm>
          <a:prstGeom prst="rect">
            <a:avLst/>
          </a:prstGeom>
          <a:solidFill>
            <a:srgbClr val="E9F1FA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3145536"/>
            <a:ext cx="3657600" cy="5943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0" y="3145536"/>
            <a:ext cx="4754880" cy="594359"/>
          </a:xfrm>
          <a:prstGeom prst="rect">
            <a:avLst/>
          </a:prstGeom>
          <a:solidFill>
            <a:srgbClr val="EAF6E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45536"/>
            <a:ext cx="22860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スピード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145536"/>
            <a:ext cx="33832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要件定義→納品で数ヶ月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145536"/>
            <a:ext cx="44805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その日のうちに試作・改善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803904"/>
            <a:ext cx="2468880" cy="594359"/>
          </a:xfrm>
          <a:prstGeom prst="rect">
            <a:avLst/>
          </a:prstGeom>
          <a:solidFill>
            <a:srgbClr val="E9F1FA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08960" y="3803904"/>
            <a:ext cx="3657600" cy="5943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3803904"/>
            <a:ext cx="4754880" cy="594359"/>
          </a:xfrm>
          <a:prstGeom prst="rect">
            <a:avLst/>
          </a:prstGeom>
          <a:solidFill>
            <a:srgbClr val="EAF6E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803904"/>
            <a:ext cx="22860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コスト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3803904"/>
            <a:ext cx="33832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業務ごとに費用が発生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803904"/>
            <a:ext cx="44805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研修後は社内で内製＝低コスト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462272"/>
            <a:ext cx="2468880" cy="594359"/>
          </a:xfrm>
          <a:prstGeom prst="rect">
            <a:avLst/>
          </a:prstGeom>
          <a:solidFill>
            <a:srgbClr val="E9F1FA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08960" y="4462272"/>
            <a:ext cx="3657600" cy="5943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6560" y="4462272"/>
            <a:ext cx="4754880" cy="594359"/>
          </a:xfrm>
          <a:prstGeom prst="rect">
            <a:avLst/>
          </a:prstGeom>
          <a:solidFill>
            <a:srgbClr val="EAF6E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462272"/>
            <a:ext cx="22860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定着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462272"/>
            <a:ext cx="33832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作った人がいないと変えられない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462272"/>
            <a:ext cx="44805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現場が自分で運用・改良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120640"/>
            <a:ext cx="2468880" cy="594359"/>
          </a:xfrm>
          <a:prstGeom prst="rect">
            <a:avLst/>
          </a:prstGeom>
          <a:solidFill>
            <a:srgbClr val="E9F1FA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08960" y="5120640"/>
            <a:ext cx="3657600" cy="59435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6560" y="5120640"/>
            <a:ext cx="4754880" cy="594359"/>
          </a:xfrm>
          <a:prstGeom prst="rect">
            <a:avLst/>
          </a:prstGeom>
          <a:solidFill>
            <a:srgbClr val="EAF6E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120640"/>
            <a:ext cx="228600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御社らしさ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5120640"/>
            <a:ext cx="33832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汎用的な仕組み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120640"/>
            <a:ext cx="448056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733"/>
                </a:solidFill>
                <a:latin typeface="Meiryo"/>
                <a:ea typeface="Meiryo"/>
                <a:cs typeface="Meiryo"/>
              </a:rPr>
              <a:t>御社の業務・言葉に最適化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AA3A3"/>
                </a:solidFill>
                <a:latin typeface="Meiryo"/>
                <a:ea typeface="Meiryo"/>
                <a:cs typeface="Meiryo"/>
              </a:rPr>
              <a:t>LIVE DEMO ｜ 本日ご覧いただくもの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実際に、動かします。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697480"/>
            <a:ext cx="822960" cy="822960"/>
          </a:xfrm>
          <a:prstGeom prst="ellipse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060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請求・給与 ダブルチェック自動化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090672"/>
            <a:ext cx="8778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6D5E6"/>
                </a:solidFill>
                <a:latin typeface="Meiryo"/>
                <a:ea typeface="Meiryo"/>
                <a:cs typeface="Meiryo"/>
              </a:rPr>
              <a:t>勤怠×契約マスタ→請求/給与/粗利を自動計算し、差異・労務リスク・重複を自動検出。社長の“請求書のダブルチェック”そのものを自動化。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1480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4434840"/>
            <a:ext cx="822960" cy="8229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82296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34340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求人原稿 自動生成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28032"/>
            <a:ext cx="8778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C6D5E6"/>
                </a:solidFill>
                <a:latin typeface="Meiryo"/>
                <a:ea typeface="Meiryo"/>
                <a:cs typeface="Meiryo"/>
              </a:rPr>
              <a:t>条件を選ぶだけで、媒体原稿・スカウト・SNS投稿を一括生成。採用のスピードと品質を底上げ。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AA3A3"/>
                </a:solidFill>
                <a:latin typeface="Meiryo"/>
                <a:ea typeface="Meiryo"/>
                <a:cs typeface="Meiryo"/>
              </a:rPr>
              <a:t>どちらもブラウザだけで動作。御社のデータ・職種に置き換えてその場で試せます。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46304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5FA8"/>
                </a:solidFill>
                <a:latin typeface="Meiryo"/>
                <a:ea typeface="Meiryo"/>
                <a:cs typeface="Meiryo"/>
              </a:rPr>
              <a:t>NEXT ｜ 次のアクション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68096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まずは“1業務”から、一緒に。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1353312"/>
            <a:ext cx="1828800" cy="32004"/>
          </a:xfrm>
          <a:prstGeom prst="rect">
            <a:avLst/>
          </a:prstGeom>
          <a:solidFill>
            <a:srgbClr val="1A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株式会社エヌエフエー様 ご提案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7772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996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① 業務の棚卸しワークショップ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現場の声を集め、効果の大きい業務を一緒に特定（半日〜1日）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40"/>
            <a:ext cx="7772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② クイックウィンを1つ実装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請求チェック等、すぐ効く業務をパイロット導入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7772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58767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③ 全社員向けAI研修をスタート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39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675"/>
                </a:solidFill>
                <a:latin typeface="Meiryo"/>
                <a:ea typeface="Meiryo"/>
                <a:cs typeface="Meiryo"/>
              </a:rPr>
              <a:t>30名が“自分で作れる”状態へ。社内に推進役を育成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920240"/>
            <a:ext cx="2834640" cy="25146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286000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AA3A3"/>
                </a:solidFill>
                <a:latin typeface="Meiryo"/>
                <a:ea typeface="Meiryo"/>
                <a:cs typeface="Meiryo"/>
              </a:rPr>
              <a:t>ご一緒できること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834640"/>
            <a:ext cx="24688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 業務棚卸し支援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 AI研修の設計・実施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✓ 自動化ツールの内製伴走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1005840"/>
          </a:xfrm>
          <a:prstGeom prst="roundRect">
            <a:avLst>
              <a:gd name="adj" fmla="val 5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38928"/>
            <a:ext cx="1033272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3294B"/>
                </a:solidFill>
                <a:latin typeface="Meiryo"/>
                <a:ea typeface="Meiryo"/>
                <a:cs typeface="Meiryo"/>
              </a:rPr>
              <a:t>“全業務を自動化できないか常に意識する”という御社の文化に、AIという武器を。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